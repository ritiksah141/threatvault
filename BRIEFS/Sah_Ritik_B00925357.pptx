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72" r:id="rId9"/>
    <p:sldId id="264" r:id="rId10"/>
    <p:sldId id="265" r:id="rId11"/>
    <p:sldId id="266" r:id="rId12"/>
    <p:sldId id="267" r:id="rId13"/>
    <p:sldId id="268" r:id="rId14"/>
    <p:sldId id="269" r:id="rId15"/>
    <p:sldId id="273" r:id="rId16"/>
    <p:sldId id="270" r:id="rId17"/>
  </p:sldIdLst>
  <p:sldSz cx="18288000" cy="10287000"/>
  <p:notesSz cx="6858000" cy="9144000"/>
  <p:embeddedFontLst>
    <p:embeddedFont>
      <p:font typeface="Cambria" panose="02040503050406030204" pitchFamily="18"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94521" autoAdjust="0"/>
  </p:normalViewPr>
  <p:slideViewPr>
    <p:cSldViewPr>
      <p:cViewPr varScale="1">
        <p:scale>
          <a:sx n="79" d="100"/>
          <a:sy n="79" d="100"/>
        </p:scale>
        <p:origin x="61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k Sah" userId="ea6e99f1-41fa-4e06-a22b-d41cda7052b3" providerId="ADAL" clId="{73269863-1F34-59BB-8577-8439F0F22901}"/>
    <pc:docChg chg="undo redo custSel modSld sldOrd">
      <pc:chgData name="Ritik Sah" userId="ea6e99f1-41fa-4e06-a22b-d41cda7052b3" providerId="ADAL" clId="{73269863-1F34-59BB-8577-8439F0F22901}" dt="2026-04-17T17:19:45.619" v="2033" actId="14734"/>
      <pc:docMkLst>
        <pc:docMk/>
      </pc:docMkLst>
      <pc:sldChg chg="modSp mod modNotesTx">
        <pc:chgData name="Ritik Sah" userId="ea6e99f1-41fa-4e06-a22b-d41cda7052b3" providerId="ADAL" clId="{73269863-1F34-59BB-8577-8439F0F22901}" dt="2026-04-17T17:19:45.619" v="2033" actId="14734"/>
        <pc:sldMkLst>
          <pc:docMk/>
          <pc:sldMk cId="0" sldId="265"/>
        </pc:sldMkLst>
        <pc:graphicFrameChg chg="mod modGraphic">
          <ac:chgData name="Ritik Sah" userId="ea6e99f1-41fa-4e06-a22b-d41cda7052b3" providerId="ADAL" clId="{73269863-1F34-59BB-8577-8439F0F22901}" dt="2026-04-17T17:19:45.619" v="2033" actId="14734"/>
          <ac:graphicFrameMkLst>
            <pc:docMk/>
            <pc:sldMk cId="0" sldId="265"/>
            <ac:graphicFrameMk id="69" creationId="{F514F079-6816-29D6-90FD-AD3FBD430B9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hyperlink" Target="https://docs.microsoft.com/en-us/azure/azure-sql/" TargetMode="External"/><Relationship Id="rId13" Type="http://schemas.openxmlformats.org/officeDocument/2006/relationships/hyperlink" Target="https://www.first.org/cvss/specification-document" TargetMode="External"/><Relationship Id="rId18" Type="http://schemas.openxmlformats.org/officeDocument/2006/relationships/hyperlink" Target="https://docs.microsoft.com/en-us/azure/cognitive-services/anomaly-detector/" TargetMode="External"/><Relationship Id="rId3" Type="http://schemas.openxmlformats.org/officeDocument/2006/relationships/hyperlink" Target="https://docs.microsoft.com/en-us/azure/logic-apps/" TargetMode="External"/><Relationship Id="rId7" Type="http://schemas.openxmlformats.org/officeDocument/2006/relationships/hyperlink" Target="https://docs.github.com/en/actions" TargetMode="External"/><Relationship Id="rId12" Type="http://schemas.openxmlformats.org/officeDocument/2006/relationships/hyperlink" Target="https://docs.microsoft.com/en-us/azure/storage/common/storage-sas-overview" TargetMode="External"/><Relationship Id="rId17" Type="http://schemas.openxmlformats.org/officeDocument/2006/relationships/hyperlink" Target="https://learn.microsoft.com/en-us/azure/ai-services/content-moderator/" TargetMode="External"/><Relationship Id="rId2" Type="http://schemas.openxmlformats.org/officeDocument/2006/relationships/hyperlink" Target="https://docs.microsoft.com/en-us/azure/cosmos-db/" TargetMode="External"/><Relationship Id="rId16" Type="http://schemas.openxmlformats.org/officeDocument/2006/relationships/hyperlink" Target="https://docs.microsoft.com/en-us/azure/key-vault/" TargetMode="External"/><Relationship Id="rId1" Type="http://schemas.openxmlformats.org/officeDocument/2006/relationships/slideLayout" Target="../slideLayouts/slideLayout7.xml"/><Relationship Id="rId6" Type="http://schemas.openxmlformats.org/officeDocument/2006/relationships/hyperlink" Target="https://docs.microsoft.com/en-us/azure/azure-monitor/app/app-insights-overview" TargetMode="External"/><Relationship Id="rId11" Type="http://schemas.openxmlformats.org/officeDocument/2006/relationships/hyperlink" Target="https://docs.microsoft.com/en-us/azure/architecture/guide/architecture-styles/n-tier" TargetMode="External"/><Relationship Id="rId5" Type="http://schemas.openxmlformats.org/officeDocument/2006/relationships/hyperlink" Target="https://docs.microsoft.com/en-us/azure/frontdoor/" TargetMode="External"/><Relationship Id="rId15" Type="http://schemas.openxmlformats.org/officeDocument/2006/relationships/hyperlink" Target="https://martinfowler.com/articles/microservices.html" TargetMode="External"/><Relationship Id="rId10" Type="http://schemas.openxmlformats.org/officeDocument/2006/relationships/hyperlink" Target="https://docs.microsoft.com/en-us/azure/architecture/guide/architecture-styles/web-queue-worker" TargetMode="External"/><Relationship Id="rId19" Type="http://schemas.openxmlformats.org/officeDocument/2006/relationships/hyperlink" Target="https://docs.microsoft.com/en-us/azure/active-directory/" TargetMode="External"/><Relationship Id="rId4" Type="http://schemas.openxmlformats.org/officeDocument/2006/relationships/hyperlink" Target="https://docs.microsoft.com/en-us/azure/app-service/" TargetMode="External"/><Relationship Id="rId9" Type="http://schemas.openxmlformats.org/officeDocument/2006/relationships/hyperlink" Target="https://docs.microsoft.com/en-us/azure/governance/policy/" TargetMode="External"/><Relationship Id="rId14" Type="http://schemas.openxmlformats.org/officeDocument/2006/relationships/hyperlink" Target="https://ics.uci.edu/~fielding/pubs/dissertation/rest_arch_style.htm"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dirty="0">
                <a:latin typeface="Cambria" panose="02040503050406030204" pitchFamily="18" charset="0"/>
              </a:endParaRPr>
            </a:p>
          </p:txBody>
        </p:sp>
      </p:grpSp>
      <p:sp>
        <p:nvSpPr>
          <p:cNvPr id="6" name="TextBox 6"/>
          <p:cNvSpPr txBox="1"/>
          <p:nvPr/>
        </p:nvSpPr>
        <p:spPr>
          <a:xfrm>
            <a:off x="2667819" y="3162300"/>
            <a:ext cx="4341764" cy="884858"/>
          </a:xfrm>
          <a:prstGeom prst="rect">
            <a:avLst/>
          </a:prstGeom>
        </p:spPr>
        <p:txBody>
          <a:bodyPr wrap="square" lIns="0" tIns="0" rIns="0" bIns="0" rtlCol="0" anchor="t">
            <a:spAutoFit/>
          </a:bodyPr>
          <a:lstStyle/>
          <a:p>
            <a:pPr algn="l">
              <a:lnSpc>
                <a:spcPts val="6937"/>
              </a:lnSpc>
            </a:pPr>
            <a:r>
              <a:rPr lang="en-US" sz="6000" b="1" dirty="0">
                <a:solidFill>
                  <a:srgbClr val="152D47"/>
                </a:solidFill>
                <a:latin typeface="Cambria" panose="02040503050406030204" pitchFamily="18" charset="0"/>
                <a:ea typeface="Crimson Pro Bold"/>
                <a:cs typeface="Crimson Pro Bold"/>
                <a:sym typeface="Crimson Pro Bold"/>
              </a:rPr>
              <a:t>ThreatVault</a:t>
            </a:r>
          </a:p>
        </p:txBody>
      </p:sp>
      <p:sp>
        <p:nvSpPr>
          <p:cNvPr id="7" name="TextBox 7"/>
          <p:cNvSpPr txBox="1"/>
          <p:nvPr/>
        </p:nvSpPr>
        <p:spPr>
          <a:xfrm>
            <a:off x="2777527" y="4444800"/>
            <a:ext cx="4004273" cy="1795043"/>
          </a:xfrm>
          <a:prstGeom prst="rect">
            <a:avLst/>
          </a:prstGeom>
        </p:spPr>
        <p:txBody>
          <a:bodyPr wrap="square" lIns="0" tIns="0" rIns="0" bIns="0" rtlCol="0" anchor="t">
            <a:spAutoFit/>
          </a:bodyPr>
          <a:lstStyle/>
          <a:p>
            <a:pPr algn="l">
              <a:lnSpc>
                <a:spcPts val="3562"/>
              </a:lnSpc>
            </a:pPr>
            <a:r>
              <a:rPr lang="en-US" sz="2187" b="1" dirty="0">
                <a:solidFill>
                  <a:srgbClr val="4C4C4D"/>
                </a:solidFill>
                <a:latin typeface="Cambria" panose="02040503050406030204" pitchFamily="18" charset="0"/>
                <a:ea typeface="Heebo"/>
                <a:cs typeface="Heebo"/>
                <a:sym typeface="Heebo"/>
              </a:rPr>
              <a:t>A scalable, </a:t>
            </a:r>
            <a:r>
              <a:rPr lang="en-US" sz="2400" b="1" dirty="0">
                <a:solidFill>
                  <a:srgbClr val="4C4C4D"/>
                </a:solidFill>
                <a:latin typeface="Cambria" panose="02040503050406030204" pitchFamily="18" charset="0"/>
                <a:ea typeface="Heebo"/>
                <a:cs typeface="Heebo"/>
                <a:sym typeface="Heebo"/>
              </a:rPr>
              <a:t>cloud-native</a:t>
            </a:r>
            <a:r>
              <a:rPr lang="en-US" sz="2187" b="1" dirty="0">
                <a:solidFill>
                  <a:srgbClr val="4C4C4D"/>
                </a:solidFill>
                <a:latin typeface="Cambria" panose="02040503050406030204" pitchFamily="18" charset="0"/>
                <a:ea typeface="Heebo"/>
                <a:cs typeface="Heebo"/>
                <a:sym typeface="Heebo"/>
              </a:rPr>
              <a:t> cyber evidence &amp; multimedia sharing platform for security professionals.</a:t>
            </a:r>
          </a:p>
        </p:txBody>
      </p:sp>
      <p:grpSp>
        <p:nvGrpSpPr>
          <p:cNvPr id="14" name="Group 14"/>
          <p:cNvGrpSpPr/>
          <p:nvPr/>
        </p:nvGrpSpPr>
        <p:grpSpPr>
          <a:xfrm>
            <a:off x="4611500" y="8364146"/>
            <a:ext cx="3900575" cy="530631"/>
            <a:chOff x="0" y="0"/>
            <a:chExt cx="6993890" cy="2795779"/>
          </a:xfrm>
          <a:solidFill>
            <a:schemeClr val="bg1">
              <a:lumMod val="85000"/>
            </a:schemeClr>
          </a:solidFill>
        </p:grpSpPr>
        <p:sp>
          <p:nvSpPr>
            <p:cNvPr id="15" name="Freeform 15"/>
            <p:cNvSpPr/>
            <p:nvPr/>
          </p:nvSpPr>
          <p:spPr>
            <a:xfrm>
              <a:off x="0" y="0"/>
              <a:ext cx="6993890" cy="2795779"/>
            </a:xfrm>
            <a:custGeom>
              <a:avLst/>
              <a:gdLst/>
              <a:ahLst/>
              <a:cxnLst/>
              <a:rect l="l" t="t" r="r" b="b"/>
              <a:pathLst>
                <a:path w="6993890" h="2795778">
                  <a:moveTo>
                    <a:pt x="0" y="56642"/>
                  </a:moveTo>
                  <a:cubicBezTo>
                    <a:pt x="0" y="25400"/>
                    <a:pt x="25400" y="0"/>
                    <a:pt x="56642" y="0"/>
                  </a:cubicBezTo>
                  <a:lnTo>
                    <a:pt x="6937248" y="0"/>
                  </a:lnTo>
                  <a:cubicBezTo>
                    <a:pt x="6968617" y="0"/>
                    <a:pt x="6993890" y="25400"/>
                    <a:pt x="6993890" y="56642"/>
                  </a:cubicBezTo>
                  <a:lnTo>
                    <a:pt x="6993890" y="2739136"/>
                  </a:lnTo>
                  <a:cubicBezTo>
                    <a:pt x="6993890" y="2770505"/>
                    <a:pt x="6968490" y="2795778"/>
                    <a:pt x="6937248" y="2795778"/>
                  </a:cubicBezTo>
                  <a:lnTo>
                    <a:pt x="56642" y="2795778"/>
                  </a:lnTo>
                  <a:cubicBezTo>
                    <a:pt x="25273" y="2795778"/>
                    <a:pt x="0" y="2770378"/>
                    <a:pt x="0" y="2739136"/>
                  </a:cubicBezTo>
                  <a:close/>
                </a:path>
              </a:pathLst>
            </a:custGeom>
            <a:grpFill/>
          </p:spPr>
          <p:txBody>
            <a:bodyPr/>
            <a:lstStyle/>
            <a:p>
              <a:endParaRPr lang="en-US" dirty="0">
                <a:latin typeface="Cambria" panose="02040503050406030204" pitchFamily="18" charset="0"/>
              </a:endParaRPr>
            </a:p>
          </p:txBody>
        </p:sp>
      </p:grpSp>
      <p:grpSp>
        <p:nvGrpSpPr>
          <p:cNvPr id="18" name="Group 18"/>
          <p:cNvGrpSpPr/>
          <p:nvPr/>
        </p:nvGrpSpPr>
        <p:grpSpPr>
          <a:xfrm>
            <a:off x="992237" y="8369579"/>
            <a:ext cx="3351164" cy="525198"/>
            <a:chOff x="-1" y="-3587763"/>
            <a:chExt cx="6993890" cy="2795780"/>
          </a:xfrm>
          <a:solidFill>
            <a:schemeClr val="bg1">
              <a:lumMod val="85000"/>
            </a:schemeClr>
          </a:solidFill>
        </p:grpSpPr>
        <p:sp>
          <p:nvSpPr>
            <p:cNvPr id="19" name="Freeform 19"/>
            <p:cNvSpPr/>
            <p:nvPr/>
          </p:nvSpPr>
          <p:spPr>
            <a:xfrm>
              <a:off x="-1" y="-3587763"/>
              <a:ext cx="6993890" cy="2795780"/>
            </a:xfrm>
            <a:custGeom>
              <a:avLst/>
              <a:gdLst/>
              <a:ahLst/>
              <a:cxnLst/>
              <a:rect l="l" t="t" r="r" b="b"/>
              <a:pathLst>
                <a:path w="6993890" h="2795778">
                  <a:moveTo>
                    <a:pt x="0" y="56642"/>
                  </a:moveTo>
                  <a:cubicBezTo>
                    <a:pt x="0" y="25400"/>
                    <a:pt x="25400" y="0"/>
                    <a:pt x="56642" y="0"/>
                  </a:cubicBezTo>
                  <a:lnTo>
                    <a:pt x="6937248" y="0"/>
                  </a:lnTo>
                  <a:cubicBezTo>
                    <a:pt x="6968617" y="0"/>
                    <a:pt x="6993890" y="25400"/>
                    <a:pt x="6993890" y="56642"/>
                  </a:cubicBezTo>
                  <a:lnTo>
                    <a:pt x="6993890" y="2739136"/>
                  </a:lnTo>
                  <a:cubicBezTo>
                    <a:pt x="6993890" y="2770505"/>
                    <a:pt x="6968490" y="2795778"/>
                    <a:pt x="6937248" y="2795778"/>
                  </a:cubicBezTo>
                  <a:lnTo>
                    <a:pt x="56642" y="2795778"/>
                  </a:lnTo>
                  <a:cubicBezTo>
                    <a:pt x="25273" y="2795778"/>
                    <a:pt x="0" y="2770378"/>
                    <a:pt x="0" y="2739136"/>
                  </a:cubicBezTo>
                  <a:close/>
                </a:path>
              </a:pathLst>
            </a:custGeom>
            <a:grpFill/>
          </p:spPr>
          <p:txBody>
            <a:bodyPr/>
            <a:lstStyle/>
            <a:p>
              <a:endParaRPr lang="en-US" dirty="0">
                <a:latin typeface="Cambria" panose="02040503050406030204" pitchFamily="18" charset="0"/>
              </a:endParaRPr>
            </a:p>
          </p:txBody>
        </p:sp>
      </p:grpSp>
      <p:grpSp>
        <p:nvGrpSpPr>
          <p:cNvPr id="35" name="Group 6">
            <a:extLst>
              <a:ext uri="{FF2B5EF4-FFF2-40B4-BE49-F238E27FC236}">
                <a16:creationId xmlns:a16="http://schemas.microsoft.com/office/drawing/2014/main" id="{59AD7A55-9EF5-25AE-5CFE-597A9D6E741E}"/>
              </a:ext>
            </a:extLst>
          </p:cNvPr>
          <p:cNvGrpSpPr/>
          <p:nvPr/>
        </p:nvGrpSpPr>
        <p:grpSpPr>
          <a:xfrm>
            <a:off x="9943862" y="450495"/>
            <a:ext cx="7923164" cy="9386009"/>
            <a:chOff x="0" y="0"/>
            <a:chExt cx="9144000" cy="13716000"/>
          </a:xfrm>
        </p:grpSpPr>
        <p:sp>
          <p:nvSpPr>
            <p:cNvPr id="36" name="Freeform 7" descr="preencoded.png">
              <a:extLst>
                <a:ext uri="{FF2B5EF4-FFF2-40B4-BE49-F238E27FC236}">
                  <a16:creationId xmlns:a16="http://schemas.microsoft.com/office/drawing/2014/main" id="{550A76F8-9A1D-7F7D-FC8B-57024AAB1773}"/>
                </a:ext>
              </a:extLst>
            </p:cNvPr>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txBody>
            <a:bodyPr/>
            <a:lstStyle/>
            <a:p>
              <a:endParaRPr lang="en-US" dirty="0">
                <a:latin typeface="Cambria" panose="02040503050406030204" pitchFamily="18" charset="0"/>
              </a:endParaRPr>
            </a:p>
          </p:txBody>
        </p:sp>
      </p:grpSp>
      <p:sp>
        <p:nvSpPr>
          <p:cNvPr id="8" name="TextBox 16">
            <a:extLst>
              <a:ext uri="{FF2B5EF4-FFF2-40B4-BE49-F238E27FC236}">
                <a16:creationId xmlns:a16="http://schemas.microsoft.com/office/drawing/2014/main" id="{C4607F73-D454-7D8B-5960-FBA3D4ACA887}"/>
              </a:ext>
            </a:extLst>
          </p:cNvPr>
          <p:cNvSpPr txBox="1"/>
          <p:nvPr/>
        </p:nvSpPr>
        <p:spPr>
          <a:xfrm>
            <a:off x="4832093" y="8368142"/>
            <a:ext cx="3900575" cy="396968"/>
          </a:xfrm>
          <a:prstGeom prst="rect">
            <a:avLst/>
          </a:prstGeom>
        </p:spPr>
        <p:txBody>
          <a:bodyPr wrap="square" lIns="0" tIns="0" rIns="0" bIns="0" rtlCol="0" anchor="t">
            <a:spAutoFit/>
          </a:bodyPr>
          <a:lstStyle/>
          <a:p>
            <a:pPr algn="l">
              <a:lnSpc>
                <a:spcPts val="3437"/>
              </a:lnSpc>
            </a:pPr>
            <a:r>
              <a:rPr lang="en-US" sz="2000" b="1" dirty="0">
                <a:solidFill>
                  <a:srgbClr val="4C4C4D"/>
                </a:solidFill>
                <a:latin typeface="Cambria" panose="02040503050406030204" pitchFamily="18" charset="0"/>
                <a:ea typeface="Crimson Pro Bold"/>
                <a:cs typeface="Crimson Pro Bold"/>
                <a:sym typeface="Crimson Pro Bold"/>
              </a:rPr>
              <a:t>Student Number – B00925356</a:t>
            </a:r>
          </a:p>
        </p:txBody>
      </p:sp>
      <p:sp>
        <p:nvSpPr>
          <p:cNvPr id="9" name="TextBox 16">
            <a:extLst>
              <a:ext uri="{FF2B5EF4-FFF2-40B4-BE49-F238E27FC236}">
                <a16:creationId xmlns:a16="http://schemas.microsoft.com/office/drawing/2014/main" id="{607A66C4-4AEC-A929-6FA6-82F0C118C692}"/>
              </a:ext>
            </a:extLst>
          </p:cNvPr>
          <p:cNvSpPr txBox="1"/>
          <p:nvPr/>
        </p:nvSpPr>
        <p:spPr>
          <a:xfrm>
            <a:off x="1204825" y="8369579"/>
            <a:ext cx="3900575" cy="396968"/>
          </a:xfrm>
          <a:prstGeom prst="rect">
            <a:avLst/>
          </a:prstGeom>
        </p:spPr>
        <p:txBody>
          <a:bodyPr wrap="square" lIns="0" tIns="0" rIns="0" bIns="0" rtlCol="0" anchor="t">
            <a:spAutoFit/>
          </a:bodyPr>
          <a:lstStyle/>
          <a:p>
            <a:pPr algn="l">
              <a:lnSpc>
                <a:spcPts val="3437"/>
              </a:lnSpc>
            </a:pPr>
            <a:r>
              <a:rPr lang="en-US" sz="2000" b="1" dirty="0">
                <a:solidFill>
                  <a:srgbClr val="4C4C4D"/>
                </a:solidFill>
                <a:latin typeface="Cambria" panose="02040503050406030204" pitchFamily="18" charset="0"/>
                <a:ea typeface="Crimson Pro Bold"/>
                <a:cs typeface="Crimson Pro Bold"/>
                <a:sym typeface="Crimson Pro Bold"/>
              </a:rPr>
              <a:t>Student Name – Ritik Sah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880517" y="1575050"/>
            <a:ext cx="16443417" cy="645626"/>
          </a:xfrm>
          <a:prstGeom prst="rect">
            <a:avLst/>
          </a:prstGeom>
        </p:spPr>
        <p:txBody>
          <a:bodyPr wrap="square" lIns="0" tIns="0" rIns="0" bIns="0" rtlCol="0" anchor="t">
            <a:spAutoFit/>
          </a:bodyPr>
          <a:lstStyle/>
          <a:p>
            <a:pPr algn="l">
              <a:lnSpc>
                <a:spcPts val="5500"/>
              </a:lnSpc>
            </a:pPr>
            <a:r>
              <a:rPr lang="en-US" sz="4200" b="1" dirty="0">
                <a:solidFill>
                  <a:srgbClr val="152D47"/>
                </a:solidFill>
                <a:latin typeface="Cambria" panose="02040503050406030204" pitchFamily="18" charset="0"/>
                <a:ea typeface="Crimson Pro Bold"/>
                <a:cs typeface="Crimson Pro Bold"/>
                <a:sym typeface="Crimson Pro Bold"/>
              </a:rPr>
              <a:t>The Problem: Why Traditional Infrastructure Fails Security Teams</a:t>
            </a:r>
          </a:p>
        </p:txBody>
      </p:sp>
      <p:sp>
        <p:nvSpPr>
          <p:cNvPr id="7" name="TextBox 7"/>
          <p:cNvSpPr txBox="1"/>
          <p:nvPr/>
        </p:nvSpPr>
        <p:spPr>
          <a:xfrm>
            <a:off x="922287" y="2537517"/>
            <a:ext cx="16443427" cy="620234"/>
          </a:xfrm>
          <a:prstGeom prst="rect">
            <a:avLst/>
          </a:prstGeom>
        </p:spPr>
        <p:txBody>
          <a:bodyPr lIns="0" tIns="0" rIns="0" bIns="0" rtlCol="0" anchor="t">
            <a:spAutoFit/>
          </a:bodyPr>
          <a:lstStyle/>
          <a:p>
            <a:pPr algn="l">
              <a:lnSpc>
                <a:spcPts val="2499"/>
              </a:lnSpc>
            </a:pPr>
            <a:r>
              <a:rPr lang="en-US" sz="1750" dirty="0">
                <a:solidFill>
                  <a:srgbClr val="4C4C4D"/>
                </a:solidFill>
                <a:latin typeface="Cambria" panose="02040503050406030204" pitchFamily="18" charset="0"/>
                <a:ea typeface="Heebo"/>
                <a:cs typeface="Heebo"/>
                <a:sym typeface="Heebo"/>
              </a:rPr>
              <a:t>Traditional on-premise and IaaS systems fundamentally cannot meet the demands of modern cybersecurity evidence management. Four critical technical failures drive the need for a cloud-native solution.</a:t>
            </a:r>
          </a:p>
        </p:txBody>
      </p:sp>
      <p:grpSp>
        <p:nvGrpSpPr>
          <p:cNvPr id="8" name="Group 8"/>
          <p:cNvGrpSpPr/>
          <p:nvPr/>
        </p:nvGrpSpPr>
        <p:grpSpPr>
          <a:xfrm>
            <a:off x="907999" y="3392243"/>
            <a:ext cx="8161734" cy="1951882"/>
            <a:chOff x="0" y="0"/>
            <a:chExt cx="10882312" cy="2602509"/>
          </a:xfrm>
        </p:grpSpPr>
        <p:sp>
          <p:nvSpPr>
            <p:cNvPr id="9" name="Freeform 9"/>
            <p:cNvSpPr/>
            <p:nvPr/>
          </p:nvSpPr>
          <p:spPr>
            <a:xfrm>
              <a:off x="19050" y="19050"/>
              <a:ext cx="10844149" cy="2564384"/>
            </a:xfrm>
            <a:custGeom>
              <a:avLst/>
              <a:gdLst/>
              <a:ahLst/>
              <a:cxnLst/>
              <a:rect l="l" t="t" r="r" b="b"/>
              <a:pathLst>
                <a:path w="10844149" h="2564384">
                  <a:moveTo>
                    <a:pt x="0" y="182880"/>
                  </a:moveTo>
                  <a:cubicBezTo>
                    <a:pt x="0" y="81915"/>
                    <a:pt x="82804" y="0"/>
                    <a:pt x="184912" y="0"/>
                  </a:cubicBezTo>
                  <a:lnTo>
                    <a:pt x="10659237" y="0"/>
                  </a:lnTo>
                  <a:cubicBezTo>
                    <a:pt x="10761345" y="0"/>
                    <a:pt x="10844149" y="81915"/>
                    <a:pt x="10844149" y="182880"/>
                  </a:cubicBezTo>
                  <a:lnTo>
                    <a:pt x="10844149" y="2381504"/>
                  </a:lnTo>
                  <a:cubicBezTo>
                    <a:pt x="10844149" y="2482469"/>
                    <a:pt x="10761345" y="2564384"/>
                    <a:pt x="10659237" y="2564384"/>
                  </a:cubicBezTo>
                  <a:lnTo>
                    <a:pt x="184912" y="2564384"/>
                  </a:lnTo>
                  <a:cubicBezTo>
                    <a:pt x="82804" y="2564384"/>
                    <a:pt x="0" y="2482469"/>
                    <a:pt x="0" y="2381504"/>
                  </a:cubicBezTo>
                  <a:close/>
                </a:path>
              </a:pathLst>
            </a:custGeom>
            <a:solidFill>
              <a:srgbClr val="FFFFFF"/>
            </a:solidFill>
          </p:spPr>
          <p:txBody>
            <a:bodyPr/>
            <a:lstStyle/>
            <a:p>
              <a:endParaRPr lang="en-US">
                <a:latin typeface="Cambria" panose="02040503050406030204" pitchFamily="18" charset="0"/>
              </a:endParaRPr>
            </a:p>
          </p:txBody>
        </p:sp>
        <p:sp>
          <p:nvSpPr>
            <p:cNvPr id="10" name="Freeform 10"/>
            <p:cNvSpPr/>
            <p:nvPr/>
          </p:nvSpPr>
          <p:spPr>
            <a:xfrm>
              <a:off x="0" y="0"/>
              <a:ext cx="10882249" cy="2602484"/>
            </a:xfrm>
            <a:custGeom>
              <a:avLst/>
              <a:gdLst/>
              <a:ahLst/>
              <a:cxnLst/>
              <a:rect l="l" t="t" r="r" b="b"/>
              <a:pathLst>
                <a:path w="10882249" h="2602484">
                  <a:moveTo>
                    <a:pt x="0" y="201930"/>
                  </a:moveTo>
                  <a:cubicBezTo>
                    <a:pt x="0" y="90170"/>
                    <a:pt x="91567" y="0"/>
                    <a:pt x="203962" y="0"/>
                  </a:cubicBezTo>
                  <a:lnTo>
                    <a:pt x="10678287" y="0"/>
                  </a:lnTo>
                  <a:lnTo>
                    <a:pt x="10678287" y="19050"/>
                  </a:lnTo>
                  <a:lnTo>
                    <a:pt x="10678287" y="0"/>
                  </a:lnTo>
                  <a:cubicBezTo>
                    <a:pt x="10790682" y="0"/>
                    <a:pt x="10882249" y="90170"/>
                    <a:pt x="10882249" y="201930"/>
                  </a:cubicBezTo>
                  <a:lnTo>
                    <a:pt x="10863199" y="201930"/>
                  </a:lnTo>
                  <a:lnTo>
                    <a:pt x="10882249" y="201930"/>
                  </a:lnTo>
                  <a:lnTo>
                    <a:pt x="10882249" y="2400554"/>
                  </a:lnTo>
                  <a:lnTo>
                    <a:pt x="10863199" y="2400554"/>
                  </a:lnTo>
                  <a:lnTo>
                    <a:pt x="10882249" y="2400554"/>
                  </a:lnTo>
                  <a:cubicBezTo>
                    <a:pt x="10882249" y="2512314"/>
                    <a:pt x="10790682" y="2602484"/>
                    <a:pt x="10678287" y="2602484"/>
                  </a:cubicBezTo>
                  <a:lnTo>
                    <a:pt x="10678287" y="2583434"/>
                  </a:lnTo>
                  <a:lnTo>
                    <a:pt x="10678287" y="2602484"/>
                  </a:lnTo>
                  <a:lnTo>
                    <a:pt x="203962" y="2602484"/>
                  </a:lnTo>
                  <a:lnTo>
                    <a:pt x="203962" y="2583434"/>
                  </a:lnTo>
                  <a:lnTo>
                    <a:pt x="203962" y="2602484"/>
                  </a:lnTo>
                  <a:cubicBezTo>
                    <a:pt x="91567" y="2602484"/>
                    <a:pt x="0" y="2512314"/>
                    <a:pt x="0" y="2400554"/>
                  </a:cubicBezTo>
                  <a:lnTo>
                    <a:pt x="0" y="201930"/>
                  </a:lnTo>
                  <a:lnTo>
                    <a:pt x="19050" y="201930"/>
                  </a:lnTo>
                  <a:lnTo>
                    <a:pt x="0" y="201930"/>
                  </a:lnTo>
                  <a:moveTo>
                    <a:pt x="38100" y="201930"/>
                  </a:moveTo>
                  <a:lnTo>
                    <a:pt x="38100" y="2400554"/>
                  </a:lnTo>
                  <a:lnTo>
                    <a:pt x="19050" y="2400554"/>
                  </a:lnTo>
                  <a:lnTo>
                    <a:pt x="38100" y="2400554"/>
                  </a:lnTo>
                  <a:cubicBezTo>
                    <a:pt x="38100" y="2490851"/>
                    <a:pt x="112141" y="2564384"/>
                    <a:pt x="203962" y="2564384"/>
                  </a:cubicBezTo>
                  <a:lnTo>
                    <a:pt x="10678287" y="2564384"/>
                  </a:lnTo>
                  <a:cubicBezTo>
                    <a:pt x="10770108" y="2564384"/>
                    <a:pt x="10844149" y="2490851"/>
                    <a:pt x="10844149" y="2400554"/>
                  </a:cubicBezTo>
                  <a:lnTo>
                    <a:pt x="10844149" y="201930"/>
                  </a:lnTo>
                  <a:cubicBezTo>
                    <a:pt x="10844149" y="111633"/>
                    <a:pt x="10770108" y="38100"/>
                    <a:pt x="10678287" y="38100"/>
                  </a:cubicBezTo>
                  <a:lnTo>
                    <a:pt x="203962" y="38100"/>
                  </a:lnTo>
                  <a:lnTo>
                    <a:pt x="203962" y="19050"/>
                  </a:lnTo>
                  <a:lnTo>
                    <a:pt x="203962" y="38100"/>
                  </a:lnTo>
                  <a:cubicBezTo>
                    <a:pt x="112141" y="38100"/>
                    <a:pt x="38100" y="111633"/>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11" name="Group 11"/>
          <p:cNvGrpSpPr/>
          <p:nvPr/>
        </p:nvGrpSpPr>
        <p:grpSpPr>
          <a:xfrm>
            <a:off x="893712" y="3406531"/>
            <a:ext cx="114300" cy="1923307"/>
            <a:chOff x="0" y="0"/>
            <a:chExt cx="152400" cy="2564409"/>
          </a:xfrm>
          <a:solidFill>
            <a:schemeClr val="bg1">
              <a:lumMod val="75000"/>
            </a:schemeClr>
          </a:solidFill>
        </p:grpSpPr>
        <p:sp>
          <p:nvSpPr>
            <p:cNvPr id="12" name="Freeform 12"/>
            <p:cNvSpPr/>
            <p:nvPr/>
          </p:nvSpPr>
          <p:spPr>
            <a:xfrm>
              <a:off x="0" y="0"/>
              <a:ext cx="152400" cy="2564384"/>
            </a:xfrm>
            <a:custGeom>
              <a:avLst/>
              <a:gdLst/>
              <a:ahLst/>
              <a:cxnLst/>
              <a:rect l="l" t="t" r="r" b="b"/>
              <a:pathLst>
                <a:path w="152400" h="2564384">
                  <a:moveTo>
                    <a:pt x="0" y="44831"/>
                  </a:moveTo>
                  <a:cubicBezTo>
                    <a:pt x="0" y="20066"/>
                    <a:pt x="20066" y="0"/>
                    <a:pt x="44831" y="0"/>
                  </a:cubicBezTo>
                  <a:lnTo>
                    <a:pt x="107569" y="0"/>
                  </a:lnTo>
                  <a:cubicBezTo>
                    <a:pt x="132334" y="0"/>
                    <a:pt x="152400" y="20066"/>
                    <a:pt x="152400" y="44831"/>
                  </a:cubicBezTo>
                  <a:lnTo>
                    <a:pt x="152400" y="2519553"/>
                  </a:lnTo>
                  <a:cubicBezTo>
                    <a:pt x="152400" y="2544318"/>
                    <a:pt x="132334" y="2564384"/>
                    <a:pt x="107569" y="2564384"/>
                  </a:cubicBezTo>
                  <a:lnTo>
                    <a:pt x="44831" y="2564384"/>
                  </a:lnTo>
                  <a:cubicBezTo>
                    <a:pt x="20066" y="2564384"/>
                    <a:pt x="0" y="2544318"/>
                    <a:pt x="0" y="2519553"/>
                  </a:cubicBezTo>
                  <a:close/>
                </a:path>
              </a:pathLst>
            </a:custGeom>
            <a:grpFill/>
          </p:spPr>
          <p:txBody>
            <a:bodyPr/>
            <a:lstStyle/>
            <a:p>
              <a:endParaRPr lang="en-US">
                <a:latin typeface="Cambria" panose="02040503050406030204" pitchFamily="18" charset="0"/>
              </a:endParaRPr>
            </a:p>
          </p:txBody>
        </p:sp>
      </p:grpSp>
      <p:sp>
        <p:nvSpPr>
          <p:cNvPr id="13" name="TextBox 13"/>
          <p:cNvSpPr txBox="1"/>
          <p:nvPr/>
        </p:nvSpPr>
        <p:spPr>
          <a:xfrm>
            <a:off x="1260577" y="3630511"/>
            <a:ext cx="7428014" cy="345736"/>
          </a:xfrm>
          <a:prstGeom prst="rect">
            <a:avLst/>
          </a:prstGeom>
        </p:spPr>
        <p:txBody>
          <a:bodyPr wrap="square" lIns="0" tIns="0" rIns="0" bIns="0" rtlCol="0" anchor="t">
            <a:spAutoFit/>
          </a:bodyPr>
          <a:lstStyle/>
          <a:p>
            <a:pPr algn="l">
              <a:lnSpc>
                <a:spcPts val="2750"/>
              </a:lnSpc>
            </a:pPr>
            <a:r>
              <a:rPr lang="en-US" sz="2187" b="1" dirty="0">
                <a:solidFill>
                  <a:srgbClr val="000000"/>
                </a:solidFill>
                <a:latin typeface="Cambria" panose="02040503050406030204" pitchFamily="18" charset="0"/>
                <a:ea typeface="Crimson Pro Bold"/>
                <a:cs typeface="Crimson Pro Bold"/>
                <a:sym typeface="Crimson Pro Bold"/>
              </a:rPr>
              <a:t>📈</a:t>
            </a:r>
            <a:r>
              <a:rPr lang="en-US" sz="2187" b="1" dirty="0">
                <a:solidFill>
                  <a:srgbClr val="4C4C4D"/>
                </a:solidFill>
                <a:latin typeface="Cambria" panose="02040503050406030204" pitchFamily="18" charset="0"/>
                <a:ea typeface="Crimson Pro Bold"/>
                <a:cs typeface="Crimson Pro Bold"/>
                <a:sym typeface="Crimson Pro Bold"/>
              </a:rPr>
              <a:t> Scalability Wall</a:t>
            </a:r>
          </a:p>
        </p:txBody>
      </p:sp>
      <p:sp>
        <p:nvSpPr>
          <p:cNvPr id="14" name="TextBox 14"/>
          <p:cNvSpPr txBox="1"/>
          <p:nvPr/>
        </p:nvSpPr>
        <p:spPr>
          <a:xfrm>
            <a:off x="1260577" y="4086520"/>
            <a:ext cx="7542314" cy="948978"/>
          </a:xfrm>
          <a:prstGeom prst="rect">
            <a:avLst/>
          </a:prstGeom>
        </p:spPr>
        <p:txBody>
          <a:bodyPr wrap="square" lIns="0" tIns="0" rIns="0" bIns="0" rtlCol="0" anchor="t">
            <a:spAutoFit/>
          </a:bodyPr>
          <a:lstStyle/>
          <a:p>
            <a:pPr>
              <a:lnSpc>
                <a:spcPts val="2499"/>
              </a:lnSpc>
            </a:pPr>
            <a:r>
              <a:rPr lang="en-US" sz="1750" dirty="0">
                <a:solidFill>
                  <a:srgbClr val="4C4C4D"/>
                </a:solidFill>
                <a:latin typeface="Cambria" panose="02040503050406030204" pitchFamily="18" charset="0"/>
                <a:ea typeface="Heebo"/>
                <a:cs typeface="Heebo"/>
                <a:sym typeface="Heebo"/>
              </a:rPr>
              <a:t>Traditional RDBMS scales reads only. Zero-day disclosure events cause sudden, unpredictable traffic spikes that fixed-capacity servers cannot absorb. Relational databases are </a:t>
            </a:r>
            <a:r>
              <a:rPr lang="en-US" sz="1750" i="1" dirty="0">
                <a:solidFill>
                  <a:srgbClr val="4C4C4D"/>
                </a:solidFill>
                <a:latin typeface="Cambria" panose="02040503050406030204" pitchFamily="18" charset="0"/>
                <a:ea typeface="Heebo"/>
                <a:cs typeface="Heebo"/>
                <a:sym typeface="Heebo"/>
              </a:rPr>
              <a:t>difficult to scale across nodes </a:t>
            </a:r>
            <a:r>
              <a:rPr lang="en-US" sz="1750" dirty="0">
                <a:solidFill>
                  <a:srgbClr val="4C4C4D"/>
                </a:solidFill>
                <a:latin typeface="Cambria" panose="02040503050406030204" pitchFamily="18" charset="0"/>
                <a:ea typeface="Heebo"/>
                <a:cs typeface="Heebo"/>
                <a:sym typeface="Heebo"/>
              </a:rPr>
              <a:t>[17].</a:t>
            </a:r>
          </a:p>
        </p:txBody>
      </p:sp>
      <p:grpSp>
        <p:nvGrpSpPr>
          <p:cNvPr id="15" name="Group 15"/>
          <p:cNvGrpSpPr/>
          <p:nvPr/>
        </p:nvGrpSpPr>
        <p:grpSpPr>
          <a:xfrm>
            <a:off x="9218114" y="3392243"/>
            <a:ext cx="8161887" cy="1951882"/>
            <a:chOff x="0" y="0"/>
            <a:chExt cx="10882516" cy="2602509"/>
          </a:xfrm>
        </p:grpSpPr>
        <p:sp>
          <p:nvSpPr>
            <p:cNvPr id="16" name="Freeform 16"/>
            <p:cNvSpPr/>
            <p:nvPr/>
          </p:nvSpPr>
          <p:spPr>
            <a:xfrm>
              <a:off x="19050" y="19050"/>
              <a:ext cx="10844403" cy="2564384"/>
            </a:xfrm>
            <a:custGeom>
              <a:avLst/>
              <a:gdLst/>
              <a:ahLst/>
              <a:cxnLst/>
              <a:rect l="l" t="t" r="r" b="b"/>
              <a:pathLst>
                <a:path w="10844403" h="2564384">
                  <a:moveTo>
                    <a:pt x="0" y="182880"/>
                  </a:moveTo>
                  <a:cubicBezTo>
                    <a:pt x="0" y="81915"/>
                    <a:pt x="82804" y="0"/>
                    <a:pt x="184912" y="0"/>
                  </a:cubicBezTo>
                  <a:lnTo>
                    <a:pt x="10659491" y="0"/>
                  </a:lnTo>
                  <a:cubicBezTo>
                    <a:pt x="10761599" y="0"/>
                    <a:pt x="10844403" y="81915"/>
                    <a:pt x="10844403" y="182880"/>
                  </a:cubicBezTo>
                  <a:lnTo>
                    <a:pt x="10844403" y="2381504"/>
                  </a:lnTo>
                  <a:cubicBezTo>
                    <a:pt x="10844403" y="2482469"/>
                    <a:pt x="10761599" y="2564384"/>
                    <a:pt x="10659491" y="2564384"/>
                  </a:cubicBezTo>
                  <a:lnTo>
                    <a:pt x="184912" y="2564384"/>
                  </a:lnTo>
                  <a:cubicBezTo>
                    <a:pt x="82804" y="2564384"/>
                    <a:pt x="0" y="2482469"/>
                    <a:pt x="0" y="2381504"/>
                  </a:cubicBezTo>
                  <a:close/>
                </a:path>
              </a:pathLst>
            </a:custGeom>
            <a:solidFill>
              <a:srgbClr val="FFFFFF"/>
            </a:solidFill>
          </p:spPr>
          <p:txBody>
            <a:bodyPr/>
            <a:lstStyle/>
            <a:p>
              <a:endParaRPr lang="en-US">
                <a:latin typeface="Cambria" panose="02040503050406030204" pitchFamily="18" charset="0"/>
              </a:endParaRPr>
            </a:p>
          </p:txBody>
        </p:sp>
        <p:sp>
          <p:nvSpPr>
            <p:cNvPr id="17" name="Freeform 17"/>
            <p:cNvSpPr/>
            <p:nvPr/>
          </p:nvSpPr>
          <p:spPr>
            <a:xfrm>
              <a:off x="0" y="0"/>
              <a:ext cx="10882503" cy="2602484"/>
            </a:xfrm>
            <a:custGeom>
              <a:avLst/>
              <a:gdLst/>
              <a:ahLst/>
              <a:cxnLst/>
              <a:rect l="l" t="t" r="r" b="b"/>
              <a:pathLst>
                <a:path w="10882503" h="2602484">
                  <a:moveTo>
                    <a:pt x="0" y="201930"/>
                  </a:moveTo>
                  <a:cubicBezTo>
                    <a:pt x="0" y="90170"/>
                    <a:pt x="91567" y="0"/>
                    <a:pt x="203962" y="0"/>
                  </a:cubicBezTo>
                  <a:lnTo>
                    <a:pt x="10678541" y="0"/>
                  </a:lnTo>
                  <a:lnTo>
                    <a:pt x="10678541" y="19050"/>
                  </a:lnTo>
                  <a:lnTo>
                    <a:pt x="10678541" y="0"/>
                  </a:lnTo>
                  <a:cubicBezTo>
                    <a:pt x="10790936" y="0"/>
                    <a:pt x="10882503" y="90170"/>
                    <a:pt x="10882503" y="201930"/>
                  </a:cubicBezTo>
                  <a:lnTo>
                    <a:pt x="10863453" y="201930"/>
                  </a:lnTo>
                  <a:lnTo>
                    <a:pt x="10882503" y="201930"/>
                  </a:lnTo>
                  <a:lnTo>
                    <a:pt x="10882503" y="2400554"/>
                  </a:lnTo>
                  <a:lnTo>
                    <a:pt x="10863453" y="2400554"/>
                  </a:lnTo>
                  <a:lnTo>
                    <a:pt x="10882503" y="2400554"/>
                  </a:lnTo>
                  <a:cubicBezTo>
                    <a:pt x="10882503" y="2512314"/>
                    <a:pt x="10790936" y="2602484"/>
                    <a:pt x="10678541" y="2602484"/>
                  </a:cubicBezTo>
                  <a:lnTo>
                    <a:pt x="10678541" y="2583434"/>
                  </a:lnTo>
                  <a:lnTo>
                    <a:pt x="10678541" y="2602484"/>
                  </a:lnTo>
                  <a:lnTo>
                    <a:pt x="203962" y="2602484"/>
                  </a:lnTo>
                  <a:lnTo>
                    <a:pt x="203962" y="2583434"/>
                  </a:lnTo>
                  <a:lnTo>
                    <a:pt x="203962" y="2602484"/>
                  </a:lnTo>
                  <a:cubicBezTo>
                    <a:pt x="91567" y="2602484"/>
                    <a:pt x="0" y="2512314"/>
                    <a:pt x="0" y="2400554"/>
                  </a:cubicBezTo>
                  <a:lnTo>
                    <a:pt x="0" y="201930"/>
                  </a:lnTo>
                  <a:lnTo>
                    <a:pt x="19050" y="201930"/>
                  </a:lnTo>
                  <a:lnTo>
                    <a:pt x="0" y="201930"/>
                  </a:lnTo>
                  <a:moveTo>
                    <a:pt x="38100" y="201930"/>
                  </a:moveTo>
                  <a:lnTo>
                    <a:pt x="38100" y="2400554"/>
                  </a:lnTo>
                  <a:lnTo>
                    <a:pt x="19050" y="2400554"/>
                  </a:lnTo>
                  <a:lnTo>
                    <a:pt x="38100" y="2400554"/>
                  </a:lnTo>
                  <a:cubicBezTo>
                    <a:pt x="38100" y="2490851"/>
                    <a:pt x="112141" y="2564384"/>
                    <a:pt x="203962" y="2564384"/>
                  </a:cubicBezTo>
                  <a:lnTo>
                    <a:pt x="10678541" y="2564384"/>
                  </a:lnTo>
                  <a:cubicBezTo>
                    <a:pt x="10770362" y="2564384"/>
                    <a:pt x="10844403" y="2490851"/>
                    <a:pt x="10844403" y="2400554"/>
                  </a:cubicBezTo>
                  <a:lnTo>
                    <a:pt x="10844403" y="201930"/>
                  </a:lnTo>
                  <a:cubicBezTo>
                    <a:pt x="10844403" y="111633"/>
                    <a:pt x="10770362" y="38100"/>
                    <a:pt x="10678541" y="38100"/>
                  </a:cubicBezTo>
                  <a:lnTo>
                    <a:pt x="203962" y="38100"/>
                  </a:lnTo>
                  <a:lnTo>
                    <a:pt x="203962" y="19050"/>
                  </a:lnTo>
                  <a:lnTo>
                    <a:pt x="203962" y="38100"/>
                  </a:lnTo>
                  <a:cubicBezTo>
                    <a:pt x="112141" y="38100"/>
                    <a:pt x="38100" y="111633"/>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18" name="Group 18"/>
          <p:cNvGrpSpPr/>
          <p:nvPr/>
        </p:nvGrpSpPr>
        <p:grpSpPr>
          <a:xfrm>
            <a:off x="9203827" y="3406531"/>
            <a:ext cx="114300" cy="1923307"/>
            <a:chOff x="0" y="0"/>
            <a:chExt cx="152400" cy="2564409"/>
          </a:xfrm>
          <a:solidFill>
            <a:schemeClr val="bg1">
              <a:lumMod val="75000"/>
            </a:schemeClr>
          </a:solidFill>
        </p:grpSpPr>
        <p:sp>
          <p:nvSpPr>
            <p:cNvPr id="19" name="Freeform 19"/>
            <p:cNvSpPr/>
            <p:nvPr/>
          </p:nvSpPr>
          <p:spPr>
            <a:xfrm>
              <a:off x="0" y="0"/>
              <a:ext cx="152400" cy="2564384"/>
            </a:xfrm>
            <a:custGeom>
              <a:avLst/>
              <a:gdLst/>
              <a:ahLst/>
              <a:cxnLst/>
              <a:rect l="l" t="t" r="r" b="b"/>
              <a:pathLst>
                <a:path w="152400" h="2564384">
                  <a:moveTo>
                    <a:pt x="0" y="44831"/>
                  </a:moveTo>
                  <a:cubicBezTo>
                    <a:pt x="0" y="20066"/>
                    <a:pt x="20066" y="0"/>
                    <a:pt x="44831" y="0"/>
                  </a:cubicBezTo>
                  <a:lnTo>
                    <a:pt x="107569" y="0"/>
                  </a:lnTo>
                  <a:cubicBezTo>
                    <a:pt x="132334" y="0"/>
                    <a:pt x="152400" y="20066"/>
                    <a:pt x="152400" y="44831"/>
                  </a:cubicBezTo>
                  <a:lnTo>
                    <a:pt x="152400" y="2519553"/>
                  </a:lnTo>
                  <a:cubicBezTo>
                    <a:pt x="152400" y="2544318"/>
                    <a:pt x="132334" y="2564384"/>
                    <a:pt x="107569" y="2564384"/>
                  </a:cubicBezTo>
                  <a:lnTo>
                    <a:pt x="44831" y="2564384"/>
                  </a:lnTo>
                  <a:cubicBezTo>
                    <a:pt x="20066" y="2564384"/>
                    <a:pt x="0" y="2544318"/>
                    <a:pt x="0" y="2519553"/>
                  </a:cubicBezTo>
                  <a:close/>
                </a:path>
              </a:pathLst>
            </a:custGeom>
            <a:grpFill/>
          </p:spPr>
          <p:txBody>
            <a:bodyPr/>
            <a:lstStyle/>
            <a:p>
              <a:endParaRPr lang="en-US">
                <a:latin typeface="Cambria" panose="02040503050406030204" pitchFamily="18" charset="0"/>
              </a:endParaRPr>
            </a:p>
          </p:txBody>
        </p:sp>
      </p:grpSp>
      <p:sp>
        <p:nvSpPr>
          <p:cNvPr id="20" name="TextBox 20"/>
          <p:cNvSpPr txBox="1"/>
          <p:nvPr/>
        </p:nvSpPr>
        <p:spPr>
          <a:xfrm>
            <a:off x="9570691" y="3630511"/>
            <a:ext cx="7456732" cy="345736"/>
          </a:xfrm>
          <a:prstGeom prst="rect">
            <a:avLst/>
          </a:prstGeom>
        </p:spPr>
        <p:txBody>
          <a:bodyPr wrap="square" lIns="0" tIns="0" rIns="0" bIns="0" rtlCol="0" anchor="t">
            <a:spAutoFit/>
          </a:bodyPr>
          <a:lstStyle/>
          <a:p>
            <a:pPr algn="l">
              <a:lnSpc>
                <a:spcPts val="2750"/>
              </a:lnSpc>
            </a:pPr>
            <a:r>
              <a:rPr lang="en-US" sz="2187" b="1" dirty="0">
                <a:solidFill>
                  <a:srgbClr val="000000"/>
                </a:solidFill>
                <a:latin typeface="Cambria" panose="02040503050406030204" pitchFamily="18" charset="0"/>
                <a:ea typeface="Crimson Pro Bold"/>
                <a:cs typeface="Crimson Pro Bold"/>
                <a:sym typeface="Crimson Pro Bold"/>
              </a:rPr>
              <a:t>⚙️</a:t>
            </a:r>
            <a:r>
              <a:rPr lang="en-US" sz="2187" b="1" dirty="0">
                <a:solidFill>
                  <a:srgbClr val="4C4C4D"/>
                </a:solidFill>
                <a:latin typeface="Cambria" panose="02040503050406030204" pitchFamily="18" charset="0"/>
                <a:ea typeface="Crimson Pro Bold"/>
                <a:cs typeface="Crimson Pro Bold"/>
                <a:sym typeface="Crimson Pro Bold"/>
              </a:rPr>
              <a:t> Management Overhead</a:t>
            </a:r>
          </a:p>
        </p:txBody>
      </p:sp>
      <p:sp>
        <p:nvSpPr>
          <p:cNvPr id="21" name="TextBox 21"/>
          <p:cNvSpPr txBox="1"/>
          <p:nvPr/>
        </p:nvSpPr>
        <p:spPr>
          <a:xfrm>
            <a:off x="9570691" y="4086520"/>
            <a:ext cx="7542457" cy="948978"/>
          </a:xfrm>
          <a:prstGeom prst="rect">
            <a:avLst/>
          </a:prstGeom>
        </p:spPr>
        <p:txBody>
          <a:bodyPr lIns="0" tIns="0" rIns="0" bIns="0" rtlCol="0" anchor="t">
            <a:spAutoFit/>
          </a:bodyPr>
          <a:lstStyle/>
          <a:p>
            <a:pPr>
              <a:lnSpc>
                <a:spcPts val="2499"/>
              </a:lnSpc>
            </a:pPr>
            <a:r>
              <a:rPr lang="en-US" sz="1750" dirty="0">
                <a:solidFill>
                  <a:srgbClr val="4C4C4D"/>
                </a:solidFill>
                <a:latin typeface="Cambria" panose="02040503050406030204" pitchFamily="18" charset="0"/>
                <a:ea typeface="Heebo"/>
                <a:cs typeface="Heebo"/>
                <a:sym typeface="Heebo"/>
              </a:rPr>
              <a:t>On-premise deployments require </a:t>
            </a:r>
            <a:r>
              <a:rPr lang="en-US" sz="1750" dirty="0" err="1">
                <a:solidFill>
                  <a:srgbClr val="4C4C4D"/>
                </a:solidFill>
                <a:latin typeface="Cambria" panose="02040503050406030204" pitchFamily="18" charset="0"/>
                <a:ea typeface="Heebo"/>
                <a:cs typeface="Heebo"/>
                <a:sym typeface="Heebo"/>
              </a:rPr>
              <a:t>organisations</a:t>
            </a:r>
            <a:r>
              <a:rPr lang="en-US" sz="1750" dirty="0">
                <a:solidFill>
                  <a:srgbClr val="4C4C4D"/>
                </a:solidFill>
                <a:latin typeface="Cambria" panose="02040503050406030204" pitchFamily="18" charset="0"/>
                <a:ea typeface="Heebo"/>
                <a:cs typeface="Heebo"/>
                <a:sym typeface="Heebo"/>
              </a:rPr>
              <a:t> to </a:t>
            </a:r>
            <a:r>
              <a:rPr lang="en-US" sz="1750" i="1" dirty="0">
                <a:solidFill>
                  <a:srgbClr val="4C4C4D"/>
                </a:solidFill>
                <a:latin typeface="Cambria" panose="02040503050406030204" pitchFamily="18" charset="0"/>
                <a:ea typeface="Heebo"/>
                <a:cs typeface="Heebo"/>
                <a:sym typeface="Heebo"/>
              </a:rPr>
              <a:t>invest additional time and resources to manage the database</a:t>
            </a:r>
            <a:r>
              <a:rPr lang="en-US" sz="1750" dirty="0">
                <a:solidFill>
                  <a:srgbClr val="4C4C4D"/>
                </a:solidFill>
                <a:latin typeface="Cambria" panose="02040503050406030204" pitchFamily="18" charset="0"/>
                <a:ea typeface="Heebo"/>
                <a:cs typeface="Heebo"/>
                <a:sym typeface="Heebo"/>
              </a:rPr>
              <a:t>. Security analysts must investigate threats — not patch servers and manage infrastructure [03].</a:t>
            </a:r>
          </a:p>
        </p:txBody>
      </p:sp>
      <p:grpSp>
        <p:nvGrpSpPr>
          <p:cNvPr id="22" name="Group 22"/>
          <p:cNvGrpSpPr/>
          <p:nvPr/>
        </p:nvGrpSpPr>
        <p:grpSpPr>
          <a:xfrm>
            <a:off x="907999" y="5492506"/>
            <a:ext cx="8161734" cy="1951882"/>
            <a:chOff x="0" y="0"/>
            <a:chExt cx="10882312" cy="2602509"/>
          </a:xfrm>
        </p:grpSpPr>
        <p:sp>
          <p:nvSpPr>
            <p:cNvPr id="23" name="Freeform 23"/>
            <p:cNvSpPr/>
            <p:nvPr/>
          </p:nvSpPr>
          <p:spPr>
            <a:xfrm>
              <a:off x="19050" y="19050"/>
              <a:ext cx="10844149" cy="2564384"/>
            </a:xfrm>
            <a:custGeom>
              <a:avLst/>
              <a:gdLst/>
              <a:ahLst/>
              <a:cxnLst/>
              <a:rect l="l" t="t" r="r" b="b"/>
              <a:pathLst>
                <a:path w="10844149" h="2564384">
                  <a:moveTo>
                    <a:pt x="0" y="182880"/>
                  </a:moveTo>
                  <a:cubicBezTo>
                    <a:pt x="0" y="81915"/>
                    <a:pt x="82804" y="0"/>
                    <a:pt x="184912" y="0"/>
                  </a:cubicBezTo>
                  <a:lnTo>
                    <a:pt x="10659237" y="0"/>
                  </a:lnTo>
                  <a:cubicBezTo>
                    <a:pt x="10761345" y="0"/>
                    <a:pt x="10844149" y="81915"/>
                    <a:pt x="10844149" y="182880"/>
                  </a:cubicBezTo>
                  <a:lnTo>
                    <a:pt x="10844149" y="2381504"/>
                  </a:lnTo>
                  <a:cubicBezTo>
                    <a:pt x="10844149" y="2482469"/>
                    <a:pt x="10761345" y="2564384"/>
                    <a:pt x="10659237" y="2564384"/>
                  </a:cubicBezTo>
                  <a:lnTo>
                    <a:pt x="184912" y="2564384"/>
                  </a:lnTo>
                  <a:cubicBezTo>
                    <a:pt x="82804" y="2564384"/>
                    <a:pt x="0" y="2482469"/>
                    <a:pt x="0" y="2381504"/>
                  </a:cubicBezTo>
                  <a:close/>
                </a:path>
              </a:pathLst>
            </a:custGeom>
            <a:solidFill>
              <a:srgbClr val="FFFFFF"/>
            </a:solidFill>
          </p:spPr>
          <p:txBody>
            <a:bodyPr/>
            <a:lstStyle/>
            <a:p>
              <a:endParaRPr lang="en-US">
                <a:latin typeface="Cambria" panose="02040503050406030204" pitchFamily="18" charset="0"/>
              </a:endParaRPr>
            </a:p>
          </p:txBody>
        </p:sp>
        <p:sp>
          <p:nvSpPr>
            <p:cNvPr id="24" name="Freeform 24"/>
            <p:cNvSpPr/>
            <p:nvPr/>
          </p:nvSpPr>
          <p:spPr>
            <a:xfrm>
              <a:off x="0" y="0"/>
              <a:ext cx="10882249" cy="2602484"/>
            </a:xfrm>
            <a:custGeom>
              <a:avLst/>
              <a:gdLst/>
              <a:ahLst/>
              <a:cxnLst/>
              <a:rect l="l" t="t" r="r" b="b"/>
              <a:pathLst>
                <a:path w="10882249" h="2602484">
                  <a:moveTo>
                    <a:pt x="0" y="201930"/>
                  </a:moveTo>
                  <a:cubicBezTo>
                    <a:pt x="0" y="90170"/>
                    <a:pt x="91567" y="0"/>
                    <a:pt x="203962" y="0"/>
                  </a:cubicBezTo>
                  <a:lnTo>
                    <a:pt x="10678287" y="0"/>
                  </a:lnTo>
                  <a:lnTo>
                    <a:pt x="10678287" y="19050"/>
                  </a:lnTo>
                  <a:lnTo>
                    <a:pt x="10678287" y="0"/>
                  </a:lnTo>
                  <a:cubicBezTo>
                    <a:pt x="10790682" y="0"/>
                    <a:pt x="10882249" y="90170"/>
                    <a:pt x="10882249" y="201930"/>
                  </a:cubicBezTo>
                  <a:lnTo>
                    <a:pt x="10863199" y="201930"/>
                  </a:lnTo>
                  <a:lnTo>
                    <a:pt x="10882249" y="201930"/>
                  </a:lnTo>
                  <a:lnTo>
                    <a:pt x="10882249" y="2400554"/>
                  </a:lnTo>
                  <a:lnTo>
                    <a:pt x="10863199" y="2400554"/>
                  </a:lnTo>
                  <a:lnTo>
                    <a:pt x="10882249" y="2400554"/>
                  </a:lnTo>
                  <a:cubicBezTo>
                    <a:pt x="10882249" y="2512314"/>
                    <a:pt x="10790682" y="2602484"/>
                    <a:pt x="10678287" y="2602484"/>
                  </a:cubicBezTo>
                  <a:lnTo>
                    <a:pt x="10678287" y="2583434"/>
                  </a:lnTo>
                  <a:lnTo>
                    <a:pt x="10678287" y="2602484"/>
                  </a:lnTo>
                  <a:lnTo>
                    <a:pt x="203962" y="2602484"/>
                  </a:lnTo>
                  <a:lnTo>
                    <a:pt x="203962" y="2583434"/>
                  </a:lnTo>
                  <a:lnTo>
                    <a:pt x="203962" y="2602484"/>
                  </a:lnTo>
                  <a:cubicBezTo>
                    <a:pt x="91567" y="2602484"/>
                    <a:pt x="0" y="2512314"/>
                    <a:pt x="0" y="2400554"/>
                  </a:cubicBezTo>
                  <a:lnTo>
                    <a:pt x="0" y="201930"/>
                  </a:lnTo>
                  <a:lnTo>
                    <a:pt x="19050" y="201930"/>
                  </a:lnTo>
                  <a:lnTo>
                    <a:pt x="0" y="201930"/>
                  </a:lnTo>
                  <a:moveTo>
                    <a:pt x="38100" y="201930"/>
                  </a:moveTo>
                  <a:lnTo>
                    <a:pt x="38100" y="2400554"/>
                  </a:lnTo>
                  <a:lnTo>
                    <a:pt x="19050" y="2400554"/>
                  </a:lnTo>
                  <a:lnTo>
                    <a:pt x="38100" y="2400554"/>
                  </a:lnTo>
                  <a:cubicBezTo>
                    <a:pt x="38100" y="2490851"/>
                    <a:pt x="112141" y="2564384"/>
                    <a:pt x="203962" y="2564384"/>
                  </a:cubicBezTo>
                  <a:lnTo>
                    <a:pt x="10678287" y="2564384"/>
                  </a:lnTo>
                  <a:cubicBezTo>
                    <a:pt x="10770108" y="2564384"/>
                    <a:pt x="10844149" y="2490851"/>
                    <a:pt x="10844149" y="2400554"/>
                  </a:cubicBezTo>
                  <a:lnTo>
                    <a:pt x="10844149" y="201930"/>
                  </a:lnTo>
                  <a:cubicBezTo>
                    <a:pt x="10844149" y="111633"/>
                    <a:pt x="10770108" y="38100"/>
                    <a:pt x="10678287" y="38100"/>
                  </a:cubicBezTo>
                  <a:lnTo>
                    <a:pt x="203962" y="38100"/>
                  </a:lnTo>
                  <a:lnTo>
                    <a:pt x="203962" y="19050"/>
                  </a:lnTo>
                  <a:lnTo>
                    <a:pt x="203962" y="38100"/>
                  </a:lnTo>
                  <a:cubicBezTo>
                    <a:pt x="112141" y="38100"/>
                    <a:pt x="38100" y="111633"/>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25" name="Group 25"/>
          <p:cNvGrpSpPr/>
          <p:nvPr/>
        </p:nvGrpSpPr>
        <p:grpSpPr>
          <a:xfrm>
            <a:off x="893712" y="5506793"/>
            <a:ext cx="114300" cy="1923307"/>
            <a:chOff x="0" y="0"/>
            <a:chExt cx="152400" cy="2564409"/>
          </a:xfrm>
          <a:solidFill>
            <a:schemeClr val="bg1">
              <a:lumMod val="75000"/>
            </a:schemeClr>
          </a:solidFill>
        </p:grpSpPr>
        <p:sp>
          <p:nvSpPr>
            <p:cNvPr id="26" name="Freeform 26"/>
            <p:cNvSpPr/>
            <p:nvPr/>
          </p:nvSpPr>
          <p:spPr>
            <a:xfrm>
              <a:off x="0" y="0"/>
              <a:ext cx="152400" cy="2564384"/>
            </a:xfrm>
            <a:custGeom>
              <a:avLst/>
              <a:gdLst/>
              <a:ahLst/>
              <a:cxnLst/>
              <a:rect l="l" t="t" r="r" b="b"/>
              <a:pathLst>
                <a:path w="152400" h="2564384">
                  <a:moveTo>
                    <a:pt x="0" y="44831"/>
                  </a:moveTo>
                  <a:cubicBezTo>
                    <a:pt x="0" y="20066"/>
                    <a:pt x="20066" y="0"/>
                    <a:pt x="44831" y="0"/>
                  </a:cubicBezTo>
                  <a:lnTo>
                    <a:pt x="107569" y="0"/>
                  </a:lnTo>
                  <a:cubicBezTo>
                    <a:pt x="132334" y="0"/>
                    <a:pt x="152400" y="20066"/>
                    <a:pt x="152400" y="44831"/>
                  </a:cubicBezTo>
                  <a:lnTo>
                    <a:pt x="152400" y="2519553"/>
                  </a:lnTo>
                  <a:cubicBezTo>
                    <a:pt x="152400" y="2544318"/>
                    <a:pt x="132334" y="2564384"/>
                    <a:pt x="107569" y="2564384"/>
                  </a:cubicBezTo>
                  <a:lnTo>
                    <a:pt x="44831" y="2564384"/>
                  </a:lnTo>
                  <a:cubicBezTo>
                    <a:pt x="20066" y="2564384"/>
                    <a:pt x="0" y="2544318"/>
                    <a:pt x="0" y="2519553"/>
                  </a:cubicBezTo>
                  <a:close/>
                </a:path>
              </a:pathLst>
            </a:custGeom>
            <a:grpFill/>
          </p:spPr>
          <p:txBody>
            <a:bodyPr/>
            <a:lstStyle/>
            <a:p>
              <a:endParaRPr lang="en-US">
                <a:latin typeface="Cambria" panose="02040503050406030204" pitchFamily="18" charset="0"/>
              </a:endParaRPr>
            </a:p>
          </p:txBody>
        </p:sp>
      </p:grpSp>
      <p:sp>
        <p:nvSpPr>
          <p:cNvPr id="27" name="TextBox 27"/>
          <p:cNvSpPr txBox="1"/>
          <p:nvPr/>
        </p:nvSpPr>
        <p:spPr>
          <a:xfrm>
            <a:off x="1260577" y="5730773"/>
            <a:ext cx="7542314" cy="348044"/>
          </a:xfrm>
          <a:prstGeom prst="rect">
            <a:avLst/>
          </a:prstGeom>
        </p:spPr>
        <p:txBody>
          <a:bodyPr wrap="square" lIns="0" tIns="0" rIns="0" bIns="0" rtlCol="0" anchor="t">
            <a:spAutoFit/>
          </a:bodyPr>
          <a:lstStyle/>
          <a:p>
            <a:pPr algn="l">
              <a:lnSpc>
                <a:spcPts val="2750"/>
              </a:lnSpc>
            </a:pPr>
            <a:r>
              <a:rPr lang="en-US" sz="2187" b="1" dirty="0">
                <a:solidFill>
                  <a:srgbClr val="000000"/>
                </a:solidFill>
                <a:latin typeface="Cambria" panose="02040503050406030204" pitchFamily="18" charset="0"/>
                <a:ea typeface="Crimson Pro Bold"/>
                <a:cs typeface="Crimson Pro Bold"/>
                <a:sym typeface="Crimson Pro Bold"/>
              </a:rPr>
              <a:t>💸</a:t>
            </a:r>
            <a:r>
              <a:rPr lang="en-US" sz="2187" b="1" dirty="0">
                <a:solidFill>
                  <a:srgbClr val="4C4C4D"/>
                </a:solidFill>
                <a:latin typeface="Cambria" panose="02040503050406030204" pitchFamily="18" charset="0"/>
                <a:ea typeface="Crimson Pro Bold"/>
                <a:cs typeface="Crimson Pro Bold"/>
                <a:sym typeface="Crimson Pro Bold"/>
              </a:rPr>
              <a:t> Cost Inefficiency</a:t>
            </a:r>
          </a:p>
        </p:txBody>
      </p:sp>
      <p:sp>
        <p:nvSpPr>
          <p:cNvPr id="28" name="TextBox 28"/>
          <p:cNvSpPr txBox="1"/>
          <p:nvPr/>
        </p:nvSpPr>
        <p:spPr>
          <a:xfrm>
            <a:off x="1260577" y="6186783"/>
            <a:ext cx="7542314" cy="948978"/>
          </a:xfrm>
          <a:prstGeom prst="rect">
            <a:avLst/>
          </a:prstGeom>
        </p:spPr>
        <p:txBody>
          <a:bodyPr lIns="0" tIns="0" rIns="0" bIns="0" rtlCol="0" anchor="t">
            <a:spAutoFit/>
          </a:bodyPr>
          <a:lstStyle/>
          <a:p>
            <a:pPr>
              <a:lnSpc>
                <a:spcPts val="2499"/>
              </a:lnSpc>
            </a:pPr>
            <a:r>
              <a:rPr lang="en-US" sz="1750" dirty="0">
                <a:solidFill>
                  <a:srgbClr val="4C4C4D"/>
                </a:solidFill>
                <a:latin typeface="Cambria" panose="02040503050406030204" pitchFamily="18" charset="0"/>
                <a:ea typeface="Heebo"/>
                <a:cs typeface="Heebo"/>
                <a:sym typeface="Heebo"/>
              </a:rPr>
              <a:t>Traditional N-Tier architectures operate on a </a:t>
            </a:r>
            <a:r>
              <a:rPr lang="en-US" sz="1750" i="1" dirty="0">
                <a:solidFill>
                  <a:srgbClr val="4C4C4D"/>
                </a:solidFill>
                <a:latin typeface="Cambria" panose="02040503050406030204" pitchFamily="18" charset="0"/>
                <a:ea typeface="Heebo"/>
                <a:cs typeface="Heebo"/>
                <a:sym typeface="Heebo"/>
              </a:rPr>
              <a:t>Pay 24/7 </a:t>
            </a:r>
            <a:r>
              <a:rPr lang="en-US" sz="1750" dirty="0">
                <a:solidFill>
                  <a:srgbClr val="4C4C4D"/>
                </a:solidFill>
                <a:latin typeface="Cambria" panose="02040503050406030204" pitchFamily="18" charset="0"/>
                <a:ea typeface="Heebo"/>
                <a:cs typeface="Heebo"/>
                <a:sym typeface="Heebo"/>
              </a:rPr>
              <a:t> billing model. Evidence platforms have highly irregular usage — burst during incidents, idle otherwise. This model is commercially unsustainable [17].</a:t>
            </a:r>
          </a:p>
        </p:txBody>
      </p:sp>
      <p:grpSp>
        <p:nvGrpSpPr>
          <p:cNvPr id="29" name="Group 29"/>
          <p:cNvGrpSpPr/>
          <p:nvPr/>
        </p:nvGrpSpPr>
        <p:grpSpPr>
          <a:xfrm>
            <a:off x="9218114" y="5492506"/>
            <a:ext cx="8161887" cy="1951882"/>
            <a:chOff x="0" y="0"/>
            <a:chExt cx="10882516" cy="2602509"/>
          </a:xfrm>
        </p:grpSpPr>
        <p:sp>
          <p:nvSpPr>
            <p:cNvPr id="30" name="Freeform 30"/>
            <p:cNvSpPr/>
            <p:nvPr/>
          </p:nvSpPr>
          <p:spPr>
            <a:xfrm>
              <a:off x="19050" y="19050"/>
              <a:ext cx="10844403" cy="2564384"/>
            </a:xfrm>
            <a:custGeom>
              <a:avLst/>
              <a:gdLst/>
              <a:ahLst/>
              <a:cxnLst/>
              <a:rect l="l" t="t" r="r" b="b"/>
              <a:pathLst>
                <a:path w="10844403" h="2564384">
                  <a:moveTo>
                    <a:pt x="0" y="182880"/>
                  </a:moveTo>
                  <a:cubicBezTo>
                    <a:pt x="0" y="81915"/>
                    <a:pt x="82804" y="0"/>
                    <a:pt x="184912" y="0"/>
                  </a:cubicBezTo>
                  <a:lnTo>
                    <a:pt x="10659491" y="0"/>
                  </a:lnTo>
                  <a:cubicBezTo>
                    <a:pt x="10761599" y="0"/>
                    <a:pt x="10844403" y="81915"/>
                    <a:pt x="10844403" y="182880"/>
                  </a:cubicBezTo>
                  <a:lnTo>
                    <a:pt x="10844403" y="2381504"/>
                  </a:lnTo>
                  <a:cubicBezTo>
                    <a:pt x="10844403" y="2482469"/>
                    <a:pt x="10761599" y="2564384"/>
                    <a:pt x="10659491" y="2564384"/>
                  </a:cubicBezTo>
                  <a:lnTo>
                    <a:pt x="184912" y="2564384"/>
                  </a:lnTo>
                  <a:cubicBezTo>
                    <a:pt x="82804" y="2564384"/>
                    <a:pt x="0" y="2482469"/>
                    <a:pt x="0" y="2381504"/>
                  </a:cubicBezTo>
                  <a:close/>
                </a:path>
              </a:pathLst>
            </a:custGeom>
            <a:solidFill>
              <a:srgbClr val="FFFFFF"/>
            </a:solidFill>
          </p:spPr>
          <p:txBody>
            <a:bodyPr/>
            <a:lstStyle/>
            <a:p>
              <a:endParaRPr lang="en-US">
                <a:latin typeface="Cambria" panose="02040503050406030204" pitchFamily="18" charset="0"/>
              </a:endParaRPr>
            </a:p>
          </p:txBody>
        </p:sp>
        <p:sp>
          <p:nvSpPr>
            <p:cNvPr id="31" name="Freeform 31"/>
            <p:cNvSpPr/>
            <p:nvPr/>
          </p:nvSpPr>
          <p:spPr>
            <a:xfrm>
              <a:off x="0" y="0"/>
              <a:ext cx="10882503" cy="2602484"/>
            </a:xfrm>
            <a:custGeom>
              <a:avLst/>
              <a:gdLst/>
              <a:ahLst/>
              <a:cxnLst/>
              <a:rect l="l" t="t" r="r" b="b"/>
              <a:pathLst>
                <a:path w="10882503" h="2602484">
                  <a:moveTo>
                    <a:pt x="0" y="201930"/>
                  </a:moveTo>
                  <a:cubicBezTo>
                    <a:pt x="0" y="90170"/>
                    <a:pt x="91567" y="0"/>
                    <a:pt x="203962" y="0"/>
                  </a:cubicBezTo>
                  <a:lnTo>
                    <a:pt x="10678541" y="0"/>
                  </a:lnTo>
                  <a:lnTo>
                    <a:pt x="10678541" y="19050"/>
                  </a:lnTo>
                  <a:lnTo>
                    <a:pt x="10678541" y="0"/>
                  </a:lnTo>
                  <a:cubicBezTo>
                    <a:pt x="10790936" y="0"/>
                    <a:pt x="10882503" y="90170"/>
                    <a:pt x="10882503" y="201930"/>
                  </a:cubicBezTo>
                  <a:lnTo>
                    <a:pt x="10863453" y="201930"/>
                  </a:lnTo>
                  <a:lnTo>
                    <a:pt x="10882503" y="201930"/>
                  </a:lnTo>
                  <a:lnTo>
                    <a:pt x="10882503" y="2400554"/>
                  </a:lnTo>
                  <a:lnTo>
                    <a:pt x="10863453" y="2400554"/>
                  </a:lnTo>
                  <a:lnTo>
                    <a:pt x="10882503" y="2400554"/>
                  </a:lnTo>
                  <a:cubicBezTo>
                    <a:pt x="10882503" y="2512314"/>
                    <a:pt x="10790936" y="2602484"/>
                    <a:pt x="10678541" y="2602484"/>
                  </a:cubicBezTo>
                  <a:lnTo>
                    <a:pt x="10678541" y="2583434"/>
                  </a:lnTo>
                  <a:lnTo>
                    <a:pt x="10678541" y="2602484"/>
                  </a:lnTo>
                  <a:lnTo>
                    <a:pt x="203962" y="2602484"/>
                  </a:lnTo>
                  <a:lnTo>
                    <a:pt x="203962" y="2583434"/>
                  </a:lnTo>
                  <a:lnTo>
                    <a:pt x="203962" y="2602484"/>
                  </a:lnTo>
                  <a:cubicBezTo>
                    <a:pt x="91567" y="2602484"/>
                    <a:pt x="0" y="2512314"/>
                    <a:pt x="0" y="2400554"/>
                  </a:cubicBezTo>
                  <a:lnTo>
                    <a:pt x="0" y="201930"/>
                  </a:lnTo>
                  <a:lnTo>
                    <a:pt x="19050" y="201930"/>
                  </a:lnTo>
                  <a:lnTo>
                    <a:pt x="0" y="201930"/>
                  </a:lnTo>
                  <a:moveTo>
                    <a:pt x="38100" y="201930"/>
                  </a:moveTo>
                  <a:lnTo>
                    <a:pt x="38100" y="2400554"/>
                  </a:lnTo>
                  <a:lnTo>
                    <a:pt x="19050" y="2400554"/>
                  </a:lnTo>
                  <a:lnTo>
                    <a:pt x="38100" y="2400554"/>
                  </a:lnTo>
                  <a:cubicBezTo>
                    <a:pt x="38100" y="2490851"/>
                    <a:pt x="112141" y="2564384"/>
                    <a:pt x="203962" y="2564384"/>
                  </a:cubicBezTo>
                  <a:lnTo>
                    <a:pt x="10678541" y="2564384"/>
                  </a:lnTo>
                  <a:cubicBezTo>
                    <a:pt x="10770362" y="2564384"/>
                    <a:pt x="10844403" y="2490851"/>
                    <a:pt x="10844403" y="2400554"/>
                  </a:cubicBezTo>
                  <a:lnTo>
                    <a:pt x="10844403" y="201930"/>
                  </a:lnTo>
                  <a:cubicBezTo>
                    <a:pt x="10844403" y="111633"/>
                    <a:pt x="10770362" y="38100"/>
                    <a:pt x="10678541" y="38100"/>
                  </a:cubicBezTo>
                  <a:lnTo>
                    <a:pt x="203962" y="38100"/>
                  </a:lnTo>
                  <a:lnTo>
                    <a:pt x="203962" y="19050"/>
                  </a:lnTo>
                  <a:lnTo>
                    <a:pt x="203962" y="38100"/>
                  </a:lnTo>
                  <a:cubicBezTo>
                    <a:pt x="112141" y="38100"/>
                    <a:pt x="38100" y="111633"/>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32" name="Group 32"/>
          <p:cNvGrpSpPr/>
          <p:nvPr/>
        </p:nvGrpSpPr>
        <p:grpSpPr>
          <a:xfrm>
            <a:off x="9203827" y="5506793"/>
            <a:ext cx="114300" cy="1923307"/>
            <a:chOff x="0" y="0"/>
            <a:chExt cx="152400" cy="2564409"/>
          </a:xfrm>
          <a:solidFill>
            <a:schemeClr val="bg1">
              <a:lumMod val="75000"/>
            </a:schemeClr>
          </a:solidFill>
        </p:grpSpPr>
        <p:sp>
          <p:nvSpPr>
            <p:cNvPr id="33" name="Freeform 33"/>
            <p:cNvSpPr/>
            <p:nvPr/>
          </p:nvSpPr>
          <p:spPr>
            <a:xfrm>
              <a:off x="0" y="0"/>
              <a:ext cx="152400" cy="2564384"/>
            </a:xfrm>
            <a:custGeom>
              <a:avLst/>
              <a:gdLst/>
              <a:ahLst/>
              <a:cxnLst/>
              <a:rect l="l" t="t" r="r" b="b"/>
              <a:pathLst>
                <a:path w="152400" h="2564384">
                  <a:moveTo>
                    <a:pt x="0" y="44831"/>
                  </a:moveTo>
                  <a:cubicBezTo>
                    <a:pt x="0" y="20066"/>
                    <a:pt x="20066" y="0"/>
                    <a:pt x="44831" y="0"/>
                  </a:cubicBezTo>
                  <a:lnTo>
                    <a:pt x="107569" y="0"/>
                  </a:lnTo>
                  <a:cubicBezTo>
                    <a:pt x="132334" y="0"/>
                    <a:pt x="152400" y="20066"/>
                    <a:pt x="152400" y="44831"/>
                  </a:cubicBezTo>
                  <a:lnTo>
                    <a:pt x="152400" y="2519553"/>
                  </a:lnTo>
                  <a:cubicBezTo>
                    <a:pt x="152400" y="2544318"/>
                    <a:pt x="132334" y="2564384"/>
                    <a:pt x="107569" y="2564384"/>
                  </a:cubicBezTo>
                  <a:lnTo>
                    <a:pt x="44831" y="2564384"/>
                  </a:lnTo>
                  <a:cubicBezTo>
                    <a:pt x="20066" y="2564384"/>
                    <a:pt x="0" y="2544318"/>
                    <a:pt x="0" y="2519553"/>
                  </a:cubicBezTo>
                  <a:close/>
                </a:path>
              </a:pathLst>
            </a:custGeom>
            <a:grpFill/>
          </p:spPr>
          <p:txBody>
            <a:bodyPr/>
            <a:lstStyle/>
            <a:p>
              <a:endParaRPr lang="en-US">
                <a:latin typeface="Cambria" panose="02040503050406030204" pitchFamily="18" charset="0"/>
              </a:endParaRPr>
            </a:p>
          </p:txBody>
        </p:sp>
      </p:grpSp>
      <p:sp>
        <p:nvSpPr>
          <p:cNvPr id="34" name="TextBox 34"/>
          <p:cNvSpPr txBox="1"/>
          <p:nvPr/>
        </p:nvSpPr>
        <p:spPr>
          <a:xfrm>
            <a:off x="9570691" y="5730773"/>
            <a:ext cx="7456732" cy="345736"/>
          </a:xfrm>
          <a:prstGeom prst="rect">
            <a:avLst/>
          </a:prstGeom>
        </p:spPr>
        <p:txBody>
          <a:bodyPr wrap="square" lIns="0" tIns="0" rIns="0" bIns="0" rtlCol="0" anchor="t">
            <a:spAutoFit/>
          </a:bodyPr>
          <a:lstStyle/>
          <a:p>
            <a:pPr algn="l">
              <a:lnSpc>
                <a:spcPts val="2750"/>
              </a:lnSpc>
            </a:pPr>
            <a:r>
              <a:rPr lang="en-US" sz="2187" b="1" dirty="0">
                <a:solidFill>
                  <a:srgbClr val="000000"/>
                </a:solidFill>
                <a:latin typeface="Cambria" panose="02040503050406030204" pitchFamily="18" charset="0"/>
                <a:ea typeface="Crimson Pro Bold"/>
                <a:cs typeface="Crimson Pro Bold"/>
                <a:sym typeface="Crimson Pro Bold"/>
              </a:rPr>
              <a:t>⚠️</a:t>
            </a:r>
            <a:r>
              <a:rPr lang="en-US" sz="2187" b="1" dirty="0">
                <a:solidFill>
                  <a:srgbClr val="4C4C4D"/>
                </a:solidFill>
                <a:latin typeface="Cambria" panose="02040503050406030204" pitchFamily="18" charset="0"/>
                <a:ea typeface="Crimson Pro Bold"/>
                <a:cs typeface="Crimson Pro Bold"/>
                <a:sym typeface="Crimson Pro Bold"/>
              </a:rPr>
              <a:t> Availability Risk</a:t>
            </a:r>
          </a:p>
        </p:txBody>
      </p:sp>
      <p:sp>
        <p:nvSpPr>
          <p:cNvPr id="35" name="TextBox 35"/>
          <p:cNvSpPr txBox="1"/>
          <p:nvPr/>
        </p:nvSpPr>
        <p:spPr>
          <a:xfrm>
            <a:off x="9570691" y="6186783"/>
            <a:ext cx="7542457" cy="940835"/>
          </a:xfrm>
          <a:prstGeom prst="rect">
            <a:avLst/>
          </a:prstGeom>
        </p:spPr>
        <p:txBody>
          <a:bodyPr lIns="0" tIns="0" rIns="0" bIns="0" rtlCol="0" anchor="t">
            <a:spAutoFit/>
          </a:bodyPr>
          <a:lstStyle/>
          <a:p>
            <a:pPr algn="l">
              <a:lnSpc>
                <a:spcPts val="2499"/>
              </a:lnSpc>
            </a:pPr>
            <a:r>
              <a:rPr lang="en-US" sz="1750" dirty="0">
                <a:solidFill>
                  <a:srgbClr val="4C4C4D"/>
                </a:solidFill>
                <a:latin typeface="Cambria" panose="02040503050406030204" pitchFamily="18" charset="0"/>
                <a:ea typeface="Heebo"/>
                <a:cs typeface="Heebo"/>
                <a:sym typeface="Heebo"/>
              </a:rPr>
              <a:t>Achieving 99.99% SLA on-premises requires manually implementing additional VMs and availability groups. Cloud PaaS guarantees 99.995% availability automatically, with three data replicas ensuring high durability [03].</a:t>
            </a:r>
          </a:p>
        </p:txBody>
      </p:sp>
      <p:grpSp>
        <p:nvGrpSpPr>
          <p:cNvPr id="36" name="Group 36"/>
          <p:cNvGrpSpPr/>
          <p:nvPr/>
        </p:nvGrpSpPr>
        <p:grpSpPr>
          <a:xfrm>
            <a:off x="922287" y="7954737"/>
            <a:ext cx="16443427" cy="1145534"/>
            <a:chOff x="0" y="0"/>
            <a:chExt cx="21924569" cy="1527378"/>
          </a:xfrm>
          <a:solidFill>
            <a:schemeClr val="bg1">
              <a:lumMod val="95000"/>
            </a:schemeClr>
          </a:solidFill>
        </p:grpSpPr>
        <p:sp>
          <p:nvSpPr>
            <p:cNvPr id="37" name="Freeform 37"/>
            <p:cNvSpPr/>
            <p:nvPr/>
          </p:nvSpPr>
          <p:spPr>
            <a:xfrm>
              <a:off x="0" y="0"/>
              <a:ext cx="21924645" cy="1527429"/>
            </a:xfrm>
            <a:custGeom>
              <a:avLst/>
              <a:gdLst/>
              <a:ahLst/>
              <a:cxnLst/>
              <a:rect l="l" t="t" r="r" b="b"/>
              <a:pathLst>
                <a:path w="21924645" h="1527429">
                  <a:moveTo>
                    <a:pt x="0" y="44831"/>
                  </a:moveTo>
                  <a:cubicBezTo>
                    <a:pt x="0" y="20066"/>
                    <a:pt x="20066" y="0"/>
                    <a:pt x="44831" y="0"/>
                  </a:cubicBezTo>
                  <a:lnTo>
                    <a:pt x="21879813" y="0"/>
                  </a:lnTo>
                  <a:cubicBezTo>
                    <a:pt x="21904578" y="0"/>
                    <a:pt x="21924645" y="20066"/>
                    <a:pt x="21924645" y="44831"/>
                  </a:cubicBezTo>
                  <a:lnTo>
                    <a:pt x="21924645" y="1482598"/>
                  </a:lnTo>
                  <a:cubicBezTo>
                    <a:pt x="21924645" y="1507363"/>
                    <a:pt x="21904578" y="1527429"/>
                    <a:pt x="21879813" y="1527429"/>
                  </a:cubicBezTo>
                  <a:lnTo>
                    <a:pt x="44831" y="1527429"/>
                  </a:lnTo>
                  <a:cubicBezTo>
                    <a:pt x="20066" y="1527429"/>
                    <a:pt x="0" y="1507363"/>
                    <a:pt x="0" y="1482598"/>
                  </a:cubicBezTo>
                  <a:close/>
                </a:path>
              </a:pathLst>
            </a:custGeom>
            <a:grpFill/>
          </p:spPr>
          <p:txBody>
            <a:bodyPr/>
            <a:lstStyle/>
            <a:p>
              <a:endParaRPr lang="en-US">
                <a:latin typeface="Cambria" panose="02040503050406030204" pitchFamily="18" charset="0"/>
              </a:endParaRPr>
            </a:p>
          </p:txBody>
        </p:sp>
      </p:grpSp>
      <p:grpSp>
        <p:nvGrpSpPr>
          <p:cNvPr id="38" name="Group 38"/>
          <p:cNvGrpSpPr/>
          <p:nvPr/>
        </p:nvGrpSpPr>
        <p:grpSpPr>
          <a:xfrm>
            <a:off x="1146272" y="8415528"/>
            <a:ext cx="279949" cy="223990"/>
            <a:chOff x="0" y="0"/>
            <a:chExt cx="373266" cy="298653"/>
          </a:xfrm>
        </p:grpSpPr>
        <p:sp>
          <p:nvSpPr>
            <p:cNvPr id="39" name="Freeform 39" descr="preencoded.png"/>
            <p:cNvSpPr/>
            <p:nvPr/>
          </p:nvSpPr>
          <p:spPr>
            <a:xfrm>
              <a:off x="0" y="0"/>
              <a:ext cx="373253" cy="298704"/>
            </a:xfrm>
            <a:custGeom>
              <a:avLst/>
              <a:gdLst/>
              <a:ahLst/>
              <a:cxnLst/>
              <a:rect l="l" t="t" r="r" b="b"/>
              <a:pathLst>
                <a:path w="373253" h="298704">
                  <a:moveTo>
                    <a:pt x="0" y="0"/>
                  </a:moveTo>
                  <a:lnTo>
                    <a:pt x="373253" y="0"/>
                  </a:lnTo>
                  <a:lnTo>
                    <a:pt x="373253" y="298704"/>
                  </a:lnTo>
                  <a:lnTo>
                    <a:pt x="0" y="298704"/>
                  </a:lnTo>
                  <a:lnTo>
                    <a:pt x="0" y="0"/>
                  </a:lnTo>
                  <a:close/>
                </a:path>
              </a:pathLst>
            </a:custGeom>
            <a:blipFill>
              <a:blip r:embed="rId3"/>
              <a:stretch>
                <a:fillRect t="-1717" r="-3" b="-1696"/>
              </a:stretch>
            </a:blipFill>
          </p:spPr>
          <p:txBody>
            <a:bodyPr/>
            <a:lstStyle/>
            <a:p>
              <a:endParaRPr lang="en-US">
                <a:latin typeface="Cambria" panose="02040503050406030204" pitchFamily="18" charset="0"/>
              </a:endParaRPr>
            </a:p>
          </p:txBody>
        </p:sp>
      </p:grpSp>
      <p:sp>
        <p:nvSpPr>
          <p:cNvPr id="40" name="TextBox 40"/>
          <p:cNvSpPr txBox="1"/>
          <p:nvPr/>
        </p:nvSpPr>
        <p:spPr>
          <a:xfrm>
            <a:off x="1650206" y="8217406"/>
            <a:ext cx="15491517" cy="620234"/>
          </a:xfrm>
          <a:prstGeom prst="rect">
            <a:avLst/>
          </a:prstGeom>
        </p:spPr>
        <p:txBody>
          <a:bodyPr lIns="0" tIns="0" rIns="0" bIns="0" rtlCol="0" anchor="t">
            <a:spAutoFit/>
          </a:bodyPr>
          <a:lstStyle/>
          <a:p>
            <a:pPr algn="l">
              <a:lnSpc>
                <a:spcPts val="2499"/>
              </a:lnSpc>
            </a:pPr>
            <a:r>
              <a:rPr lang="en-US" sz="1750" b="1" dirty="0">
                <a:solidFill>
                  <a:srgbClr val="000000"/>
                </a:solidFill>
                <a:latin typeface="Cambria" panose="02040503050406030204" pitchFamily="18" charset="0"/>
                <a:ea typeface="Heebo Bold"/>
                <a:cs typeface="Heebo Bold"/>
                <a:sym typeface="Heebo Bold"/>
              </a:rPr>
              <a:t>The Need:</a:t>
            </a:r>
            <a:r>
              <a:rPr lang="en-US" sz="1750" dirty="0">
                <a:solidFill>
                  <a:srgbClr val="000000"/>
                </a:solidFill>
                <a:latin typeface="Cambria" panose="02040503050406030204" pitchFamily="18" charset="0"/>
                <a:ea typeface="Heebo"/>
                <a:cs typeface="Heebo"/>
                <a:sym typeface="Heebo"/>
              </a:rPr>
              <a:t> A system that scales elastically, manages itself, costs only what it consumes, and maintains forensic data integrity — properties that only a cloud-native architecture can deliver.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dirty="0">
                <a:latin typeface="Cambria" panose="02040503050406030204" pitchFamily="18" charset="0"/>
              </a:endParaRPr>
            </a:p>
          </p:txBody>
        </p:sp>
      </p:grpSp>
      <p:sp>
        <p:nvSpPr>
          <p:cNvPr id="6" name="TextBox 6"/>
          <p:cNvSpPr txBox="1"/>
          <p:nvPr/>
        </p:nvSpPr>
        <p:spPr>
          <a:xfrm>
            <a:off x="992238" y="774354"/>
            <a:ext cx="15847962" cy="577081"/>
          </a:xfrm>
          <a:prstGeom prst="rect">
            <a:avLst/>
          </a:prstGeom>
        </p:spPr>
        <p:txBody>
          <a:bodyPr wrap="square" lIns="0" tIns="0" rIns="0" bIns="0" rtlCol="0" anchor="t">
            <a:spAutoFit/>
          </a:bodyPr>
          <a:lstStyle/>
          <a:p>
            <a:pPr algn="l">
              <a:lnSpc>
                <a:spcPts val="4499"/>
              </a:lnSpc>
            </a:pPr>
            <a:r>
              <a:rPr lang="en-US" sz="4200" b="1" dirty="0">
                <a:solidFill>
                  <a:srgbClr val="152D47"/>
                </a:solidFill>
                <a:latin typeface="Cambria" panose="02040503050406030204" pitchFamily="18" charset="0"/>
                <a:ea typeface="Crimson Pro Bold"/>
                <a:cs typeface="Calibri Light" panose="020F0302020204030204" pitchFamily="34" charset="0"/>
                <a:sym typeface="Crimson Pro Bold"/>
              </a:rPr>
              <a:t>Why Cloud-Native? Critical Appraisal</a:t>
            </a:r>
          </a:p>
        </p:txBody>
      </p:sp>
      <p:sp>
        <p:nvSpPr>
          <p:cNvPr id="7" name="TextBox 7"/>
          <p:cNvSpPr txBox="1"/>
          <p:nvPr/>
        </p:nvSpPr>
        <p:spPr>
          <a:xfrm>
            <a:off x="992238" y="1608830"/>
            <a:ext cx="16303523"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Cloud-native architecture addresses every traditional limitation and introduces capabilities impossible on-premise.</a:t>
            </a:r>
          </a:p>
        </p:txBody>
      </p:sp>
      <p:sp>
        <p:nvSpPr>
          <p:cNvPr id="8" name="TextBox 8"/>
          <p:cNvSpPr txBox="1"/>
          <p:nvPr/>
        </p:nvSpPr>
        <p:spPr>
          <a:xfrm>
            <a:off x="992237" y="2087317"/>
            <a:ext cx="8003227" cy="264431"/>
          </a:xfrm>
          <a:prstGeom prst="rect">
            <a:avLst/>
          </a:prstGeom>
        </p:spPr>
        <p:txBody>
          <a:bodyPr wrap="square" lIns="0" tIns="0" rIns="0" bIns="0" rtlCol="0" anchor="t">
            <a:spAutoFit/>
          </a:bodyPr>
          <a:lstStyle/>
          <a:p>
            <a:pPr algn="l">
              <a:lnSpc>
                <a:spcPts val="2249"/>
              </a:lnSpc>
            </a:pPr>
            <a:r>
              <a:rPr lang="en-US" sz="1812" b="1" dirty="0">
                <a:solidFill>
                  <a:srgbClr val="152D47"/>
                </a:solidFill>
                <a:latin typeface="Cambria" panose="02040503050406030204" pitchFamily="18" charset="0"/>
                <a:ea typeface="Crimson Pro Bold"/>
                <a:cs typeface="Calibri Light" panose="020F0302020204030204" pitchFamily="34" charset="0"/>
                <a:sym typeface="Crimson Pro Bold"/>
              </a:rPr>
              <a:t>Technical Justifications</a:t>
            </a:r>
          </a:p>
        </p:txBody>
      </p:sp>
      <p:sp>
        <p:nvSpPr>
          <p:cNvPr id="9" name="Freeform 9" descr="preencoded.png"/>
          <p:cNvSpPr/>
          <p:nvPr/>
        </p:nvSpPr>
        <p:spPr>
          <a:xfrm>
            <a:off x="1061295" y="2534688"/>
            <a:ext cx="276377" cy="276377"/>
          </a:xfrm>
          <a:custGeom>
            <a:avLst/>
            <a:gdLst/>
            <a:ahLst/>
            <a:cxnLst/>
            <a:rect l="l" t="t" r="r" b="b"/>
            <a:pathLst>
              <a:path w="276377" h="276377">
                <a:moveTo>
                  <a:pt x="0" y="0"/>
                </a:moveTo>
                <a:lnTo>
                  <a:pt x="276377" y="0"/>
                </a:lnTo>
                <a:lnTo>
                  <a:pt x="276377" y="276378"/>
                </a:lnTo>
                <a:lnTo>
                  <a:pt x="0" y="276378"/>
                </a:lnTo>
                <a:lnTo>
                  <a:pt x="0" y="0"/>
                </a:lnTo>
                <a:close/>
              </a:path>
            </a:pathLst>
          </a:custGeom>
          <a:blipFill>
            <a:blip>
              <a:extLst>
                <a:ext uri="{96DAC541-7B7A-43D3-8B79-37D633B846F1}">
                  <asvg:svgBlip xmlns:asvg="http://schemas.microsoft.com/office/drawing/2016/SVG/main" r:embed="rId3"/>
                </a:ext>
              </a:extLst>
            </a:blip>
            <a:stretch>
              <a:fillRect l="-6665" r="-6665"/>
            </a:stretch>
          </a:blipFill>
        </p:spPr>
        <p:txBody>
          <a:bodyPr/>
          <a:lstStyle/>
          <a:p>
            <a:endParaRPr lang="en-US">
              <a:latin typeface="Cambria" panose="02040503050406030204" pitchFamily="18" charset="0"/>
            </a:endParaRPr>
          </a:p>
        </p:txBody>
      </p:sp>
      <p:sp>
        <p:nvSpPr>
          <p:cNvPr id="10" name="TextBox 10"/>
          <p:cNvSpPr txBox="1"/>
          <p:nvPr/>
        </p:nvSpPr>
        <p:spPr>
          <a:xfrm>
            <a:off x="1591123" y="2509989"/>
            <a:ext cx="7404341" cy="264431"/>
          </a:xfrm>
          <a:prstGeom prst="rect">
            <a:avLst/>
          </a:prstGeom>
        </p:spPr>
        <p:txBody>
          <a:bodyPr wrap="square" lIns="0" tIns="0" rIns="0" bIns="0" rtlCol="0" anchor="t">
            <a:spAutoFit/>
          </a:bodyPr>
          <a:lstStyle/>
          <a:p>
            <a:pPr algn="l">
              <a:lnSpc>
                <a:spcPts val="2249"/>
              </a:lnSpc>
            </a:pPr>
            <a:r>
              <a:rPr lang="en-US" sz="1812" b="1" dirty="0">
                <a:solidFill>
                  <a:srgbClr val="4C4C4D"/>
                </a:solidFill>
                <a:latin typeface="Cambria" panose="02040503050406030204" pitchFamily="18" charset="0"/>
                <a:ea typeface="Crimson Pro Bold"/>
                <a:cs typeface="Calibri Light" panose="020F0302020204030204" pitchFamily="34" charset="0"/>
                <a:sym typeface="Crimson Pro Bold"/>
              </a:rPr>
              <a:t>Geo-Redundancy</a:t>
            </a:r>
          </a:p>
        </p:txBody>
      </p:sp>
      <p:sp>
        <p:nvSpPr>
          <p:cNvPr id="11" name="TextBox 11"/>
          <p:cNvSpPr txBox="1"/>
          <p:nvPr/>
        </p:nvSpPr>
        <p:spPr>
          <a:xfrm>
            <a:off x="1569352" y="2874999"/>
            <a:ext cx="7426114" cy="468270"/>
          </a:xfrm>
          <a:prstGeom prst="rect">
            <a:avLst/>
          </a:prstGeom>
        </p:spPr>
        <p:txBody>
          <a:bodyPr wrap="square" lIns="0" tIns="0" rIns="0" bIns="0" rtlCol="0" anchor="t">
            <a:spAutoFit/>
          </a:bodyPr>
          <a:lstStyle/>
          <a:p>
            <a:pPr>
              <a:lnSpc>
                <a:spcPts val="1874"/>
              </a:lnSpc>
            </a:pPr>
            <a:r>
              <a:rPr lang="en-US" sz="1437" dirty="0">
                <a:solidFill>
                  <a:srgbClr val="4C4C4D"/>
                </a:solidFill>
                <a:latin typeface="Cambria" panose="02040503050406030204" pitchFamily="18" charset="0"/>
                <a:ea typeface="Heebo"/>
                <a:cs typeface="Heebo"/>
                <a:sym typeface="Heebo"/>
              </a:rPr>
              <a:t>Evidence must survive regional disasters. Azure replicates data across data centers and geographical regions. Cosmos DB supports multi-region writes for global analyst teams [1].</a:t>
            </a:r>
          </a:p>
        </p:txBody>
      </p:sp>
      <p:sp>
        <p:nvSpPr>
          <p:cNvPr id="12" name="Freeform 12" descr="preencoded.png"/>
          <p:cNvSpPr/>
          <p:nvPr/>
        </p:nvSpPr>
        <p:spPr>
          <a:xfrm>
            <a:off x="1061295" y="3668163"/>
            <a:ext cx="276377" cy="276377"/>
          </a:xfrm>
          <a:custGeom>
            <a:avLst/>
            <a:gdLst/>
            <a:ahLst/>
            <a:cxnLst/>
            <a:rect l="l" t="t" r="r" b="b"/>
            <a:pathLst>
              <a:path w="276377" h="276377">
                <a:moveTo>
                  <a:pt x="0" y="0"/>
                </a:moveTo>
                <a:lnTo>
                  <a:pt x="276377" y="0"/>
                </a:lnTo>
                <a:lnTo>
                  <a:pt x="276377" y="276378"/>
                </a:lnTo>
                <a:lnTo>
                  <a:pt x="0" y="276378"/>
                </a:lnTo>
                <a:lnTo>
                  <a:pt x="0" y="0"/>
                </a:lnTo>
                <a:close/>
              </a:path>
            </a:pathLst>
          </a:custGeom>
          <a:blipFill>
            <a:blip>
              <a:extLst>
                <a:ext uri="{96DAC541-7B7A-43D3-8B79-37D633B846F1}">
                  <asvg:svgBlip xmlns:asvg="http://schemas.microsoft.com/office/drawing/2016/SVG/main" r:embed="rId3"/>
                </a:ext>
              </a:extLst>
            </a:blip>
            <a:stretch>
              <a:fillRect l="-6665" r="-6665"/>
            </a:stretch>
          </a:blipFill>
        </p:spPr>
        <p:txBody>
          <a:bodyPr/>
          <a:lstStyle/>
          <a:p>
            <a:endParaRPr lang="en-US">
              <a:latin typeface="Cambria" panose="02040503050406030204" pitchFamily="18" charset="0"/>
            </a:endParaRPr>
          </a:p>
        </p:txBody>
      </p:sp>
      <p:sp>
        <p:nvSpPr>
          <p:cNvPr id="13" name="TextBox 13"/>
          <p:cNvSpPr txBox="1"/>
          <p:nvPr/>
        </p:nvSpPr>
        <p:spPr>
          <a:xfrm>
            <a:off x="1591123" y="3643464"/>
            <a:ext cx="7323383" cy="264431"/>
          </a:xfrm>
          <a:prstGeom prst="rect">
            <a:avLst/>
          </a:prstGeom>
        </p:spPr>
        <p:txBody>
          <a:bodyPr wrap="square" lIns="0" tIns="0" rIns="0" bIns="0" rtlCol="0" anchor="t">
            <a:spAutoFit/>
          </a:bodyPr>
          <a:lstStyle/>
          <a:p>
            <a:pPr algn="l">
              <a:lnSpc>
                <a:spcPts val="2249"/>
              </a:lnSpc>
            </a:pPr>
            <a:r>
              <a:rPr lang="en-US" sz="1812" b="1" dirty="0">
                <a:solidFill>
                  <a:srgbClr val="4C4C4D"/>
                </a:solidFill>
                <a:latin typeface="Cambria" panose="02040503050406030204" pitchFamily="18" charset="0"/>
                <a:ea typeface="Crimson Pro Bold"/>
                <a:cs typeface="Calibri Light" panose="020F0302020204030204" pitchFamily="34" charset="0"/>
                <a:sym typeface="Crimson Pro Bold"/>
              </a:rPr>
              <a:t>Elastic Auto-Scaling</a:t>
            </a:r>
          </a:p>
        </p:txBody>
      </p:sp>
      <p:sp>
        <p:nvSpPr>
          <p:cNvPr id="14" name="TextBox 14"/>
          <p:cNvSpPr txBox="1"/>
          <p:nvPr/>
        </p:nvSpPr>
        <p:spPr>
          <a:xfrm>
            <a:off x="1591122" y="4070147"/>
            <a:ext cx="7404343" cy="711926"/>
          </a:xfrm>
          <a:prstGeom prst="rect">
            <a:avLst/>
          </a:prstGeom>
        </p:spPr>
        <p:txBody>
          <a:bodyPr wrap="square" lIns="0" tIns="0" rIns="0" bIns="0" rtlCol="0" anchor="t">
            <a:spAutoFit/>
          </a:bodyPr>
          <a:lstStyle/>
          <a:p>
            <a:pPr>
              <a:lnSpc>
                <a:spcPts val="1874"/>
              </a:lnSpc>
            </a:pPr>
            <a:r>
              <a:rPr lang="en-US" sz="1437" dirty="0">
                <a:solidFill>
                  <a:srgbClr val="4C4C4D"/>
                </a:solidFill>
                <a:latin typeface="Cambria" panose="02040503050406030204" pitchFamily="18" charset="0"/>
                <a:ea typeface="Heebo"/>
                <a:cs typeface="Heebo"/>
                <a:sym typeface="Heebo"/>
              </a:rPr>
              <a:t>Serverless PaaS scales like </a:t>
            </a:r>
            <a:r>
              <a:rPr lang="en-US" sz="1437" i="1" dirty="0">
                <a:solidFill>
                  <a:srgbClr val="4C4C4D"/>
                </a:solidFill>
                <a:latin typeface="Cambria" panose="02040503050406030204" pitchFamily="18" charset="0"/>
                <a:ea typeface="Heebo"/>
                <a:cs typeface="Heebo"/>
                <a:sym typeface="Heebo"/>
              </a:rPr>
              <a:t>an electrical grid — you use what you need [17].</a:t>
            </a:r>
            <a:r>
              <a:rPr lang="en-US" sz="1437" dirty="0">
                <a:solidFill>
                  <a:srgbClr val="4C4C4D"/>
                </a:solidFill>
                <a:latin typeface="Cambria" panose="02040503050406030204" pitchFamily="18" charset="0"/>
                <a:ea typeface="Heebo"/>
                <a:cs typeface="Heebo"/>
                <a:sym typeface="Heebo"/>
              </a:rPr>
              <a:t> Critical for unpredictable incident response workloads. Automatic and instant scalability with no capacity planning.</a:t>
            </a:r>
          </a:p>
        </p:txBody>
      </p:sp>
      <p:sp>
        <p:nvSpPr>
          <p:cNvPr id="15" name="Freeform 15" descr="preencoded.png"/>
          <p:cNvSpPr/>
          <p:nvPr/>
        </p:nvSpPr>
        <p:spPr>
          <a:xfrm>
            <a:off x="1061295" y="5044831"/>
            <a:ext cx="276377" cy="276377"/>
          </a:xfrm>
          <a:custGeom>
            <a:avLst/>
            <a:gdLst/>
            <a:ahLst/>
            <a:cxnLst/>
            <a:rect l="l" t="t" r="r" b="b"/>
            <a:pathLst>
              <a:path w="276377" h="276377">
                <a:moveTo>
                  <a:pt x="0" y="0"/>
                </a:moveTo>
                <a:lnTo>
                  <a:pt x="276377" y="0"/>
                </a:lnTo>
                <a:lnTo>
                  <a:pt x="276377" y="276377"/>
                </a:lnTo>
                <a:lnTo>
                  <a:pt x="0" y="276377"/>
                </a:lnTo>
                <a:lnTo>
                  <a:pt x="0" y="0"/>
                </a:lnTo>
                <a:close/>
              </a:path>
            </a:pathLst>
          </a:custGeom>
          <a:blipFill>
            <a:blip>
              <a:extLst>
                <a:ext uri="{96DAC541-7B7A-43D3-8B79-37D633B846F1}">
                  <asvg:svgBlip xmlns:asvg="http://schemas.microsoft.com/office/drawing/2016/SVG/main" r:embed="rId3"/>
                </a:ext>
              </a:extLst>
            </a:blip>
            <a:stretch>
              <a:fillRect l="-6665" r="-6665"/>
            </a:stretch>
          </a:blipFill>
        </p:spPr>
        <p:txBody>
          <a:bodyPr/>
          <a:lstStyle/>
          <a:p>
            <a:endParaRPr lang="en-US">
              <a:latin typeface="Cambria" panose="02040503050406030204" pitchFamily="18" charset="0"/>
            </a:endParaRPr>
          </a:p>
        </p:txBody>
      </p:sp>
      <p:sp>
        <p:nvSpPr>
          <p:cNvPr id="16" name="TextBox 16"/>
          <p:cNvSpPr txBox="1"/>
          <p:nvPr/>
        </p:nvSpPr>
        <p:spPr>
          <a:xfrm>
            <a:off x="1591123" y="5020122"/>
            <a:ext cx="7318620" cy="264431"/>
          </a:xfrm>
          <a:prstGeom prst="rect">
            <a:avLst/>
          </a:prstGeom>
        </p:spPr>
        <p:txBody>
          <a:bodyPr wrap="square" lIns="0" tIns="0" rIns="0" bIns="0" rtlCol="0" anchor="t">
            <a:spAutoFit/>
          </a:bodyPr>
          <a:lstStyle/>
          <a:p>
            <a:pPr algn="l">
              <a:lnSpc>
                <a:spcPts val="2249"/>
              </a:lnSpc>
            </a:pPr>
            <a:r>
              <a:rPr lang="en-US" sz="1812" b="1" dirty="0">
                <a:solidFill>
                  <a:srgbClr val="4C4C4D"/>
                </a:solidFill>
                <a:latin typeface="Cambria" panose="02040503050406030204" pitchFamily="18" charset="0"/>
                <a:ea typeface="Crimson Pro Bold"/>
                <a:cs typeface="Calibri Light" panose="020F0302020204030204" pitchFamily="34" charset="0"/>
                <a:sym typeface="Crimson Pro Bold"/>
              </a:rPr>
              <a:t>PaaS Zero-Management</a:t>
            </a:r>
          </a:p>
        </p:txBody>
      </p:sp>
      <p:sp>
        <p:nvSpPr>
          <p:cNvPr id="17" name="TextBox 17"/>
          <p:cNvSpPr txBox="1"/>
          <p:nvPr/>
        </p:nvSpPr>
        <p:spPr>
          <a:xfrm>
            <a:off x="1591123" y="5446814"/>
            <a:ext cx="7328144" cy="486366"/>
          </a:xfrm>
          <a:prstGeom prst="rect">
            <a:avLst/>
          </a:prstGeom>
        </p:spPr>
        <p:txBody>
          <a:bodyPr wrap="square"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Azure managed services handle hardware maintenance, security patches, and updates automatically — freeing the security team from all infrastructure concerns.</a:t>
            </a:r>
          </a:p>
        </p:txBody>
      </p:sp>
      <p:sp>
        <p:nvSpPr>
          <p:cNvPr id="18" name="Freeform 18" descr="preencoded.png"/>
          <p:cNvSpPr/>
          <p:nvPr/>
        </p:nvSpPr>
        <p:spPr>
          <a:xfrm>
            <a:off x="1061295" y="6178306"/>
            <a:ext cx="276377" cy="276377"/>
          </a:xfrm>
          <a:custGeom>
            <a:avLst/>
            <a:gdLst/>
            <a:ahLst/>
            <a:cxnLst/>
            <a:rect l="l" t="t" r="r" b="b"/>
            <a:pathLst>
              <a:path w="276377" h="276377">
                <a:moveTo>
                  <a:pt x="0" y="0"/>
                </a:moveTo>
                <a:lnTo>
                  <a:pt x="276377" y="0"/>
                </a:lnTo>
                <a:lnTo>
                  <a:pt x="276377" y="276377"/>
                </a:lnTo>
                <a:lnTo>
                  <a:pt x="0" y="276377"/>
                </a:lnTo>
                <a:lnTo>
                  <a:pt x="0" y="0"/>
                </a:lnTo>
                <a:close/>
              </a:path>
            </a:pathLst>
          </a:custGeom>
          <a:blipFill>
            <a:blip>
              <a:extLst>
                <a:ext uri="{96DAC541-7B7A-43D3-8B79-37D633B846F1}">
                  <asvg:svgBlip xmlns:asvg="http://schemas.microsoft.com/office/drawing/2016/SVG/main" r:embed="rId3"/>
                </a:ext>
              </a:extLst>
            </a:blip>
            <a:stretch>
              <a:fillRect l="-6665" r="-6665"/>
            </a:stretch>
          </a:blipFill>
        </p:spPr>
        <p:txBody>
          <a:bodyPr/>
          <a:lstStyle/>
          <a:p>
            <a:endParaRPr lang="en-US">
              <a:latin typeface="Cambria" panose="02040503050406030204" pitchFamily="18" charset="0"/>
            </a:endParaRPr>
          </a:p>
        </p:txBody>
      </p:sp>
      <p:sp>
        <p:nvSpPr>
          <p:cNvPr id="19" name="TextBox 19"/>
          <p:cNvSpPr txBox="1"/>
          <p:nvPr/>
        </p:nvSpPr>
        <p:spPr>
          <a:xfrm>
            <a:off x="1591123" y="6153598"/>
            <a:ext cx="7328144" cy="264431"/>
          </a:xfrm>
          <a:prstGeom prst="rect">
            <a:avLst/>
          </a:prstGeom>
        </p:spPr>
        <p:txBody>
          <a:bodyPr wrap="square" lIns="0" tIns="0" rIns="0" bIns="0" rtlCol="0" anchor="t">
            <a:spAutoFit/>
          </a:bodyPr>
          <a:lstStyle/>
          <a:p>
            <a:pPr algn="l">
              <a:lnSpc>
                <a:spcPts val="2249"/>
              </a:lnSpc>
            </a:pPr>
            <a:r>
              <a:rPr lang="en-US" sz="1812" b="1" dirty="0">
                <a:solidFill>
                  <a:srgbClr val="4C4C4D"/>
                </a:solidFill>
                <a:latin typeface="Cambria" panose="02040503050406030204" pitchFamily="18" charset="0"/>
                <a:ea typeface="Crimson Pro Bold"/>
                <a:cs typeface="Calibri Light" panose="020F0302020204030204" pitchFamily="34" charset="0"/>
                <a:sym typeface="Crimson Pro Bold"/>
              </a:rPr>
              <a:t>NoSQL Flexibility</a:t>
            </a:r>
          </a:p>
        </p:txBody>
      </p:sp>
      <p:sp>
        <p:nvSpPr>
          <p:cNvPr id="20" name="TextBox 20"/>
          <p:cNvSpPr txBox="1"/>
          <p:nvPr/>
        </p:nvSpPr>
        <p:spPr>
          <a:xfrm>
            <a:off x="1591123" y="6580289"/>
            <a:ext cx="7404342" cy="475066"/>
          </a:xfrm>
          <a:prstGeom prst="rect">
            <a:avLst/>
          </a:prstGeom>
        </p:spPr>
        <p:txBody>
          <a:bodyPr wrap="square" lIns="0" tIns="0" rIns="0" bIns="0" rtlCol="0" anchor="t">
            <a:spAutoFit/>
          </a:bodyPr>
          <a:lstStyle/>
          <a:p>
            <a:pPr>
              <a:lnSpc>
                <a:spcPts val="1874"/>
              </a:lnSpc>
            </a:pPr>
            <a:r>
              <a:rPr lang="en-US" sz="1437" dirty="0">
                <a:solidFill>
                  <a:srgbClr val="4C4C4D"/>
                </a:solidFill>
                <a:latin typeface="Cambria" panose="02040503050406030204" pitchFamily="18" charset="0"/>
                <a:ea typeface="Heebo"/>
                <a:cs typeface="Heebo"/>
                <a:sym typeface="Heebo"/>
              </a:rPr>
              <a:t>Cybersecurity evidence is semi-structured. Document databases provide </a:t>
            </a:r>
            <a:r>
              <a:rPr lang="en-US" sz="1437" i="1" dirty="0">
                <a:solidFill>
                  <a:srgbClr val="4C4C4D"/>
                </a:solidFill>
                <a:latin typeface="Cambria" panose="02040503050406030204" pitchFamily="18" charset="0"/>
                <a:ea typeface="Heebo"/>
                <a:cs typeface="Heebo"/>
                <a:sym typeface="Heebo"/>
              </a:rPr>
              <a:t>flexible schema as defined by document contents</a:t>
            </a:r>
            <a:r>
              <a:rPr lang="en-US" sz="1437" dirty="0">
                <a:solidFill>
                  <a:srgbClr val="4C4C4D"/>
                </a:solidFill>
                <a:latin typeface="Cambria" panose="02040503050406030204" pitchFamily="18" charset="0"/>
                <a:ea typeface="Heebo"/>
                <a:cs typeface="Heebo"/>
                <a:sym typeface="Heebo"/>
              </a:rPr>
              <a:t> — impossible with rigid SQL [17].</a:t>
            </a:r>
          </a:p>
        </p:txBody>
      </p:sp>
      <p:sp>
        <p:nvSpPr>
          <p:cNvPr id="21" name="Freeform 21" descr="preencoded.png"/>
          <p:cNvSpPr/>
          <p:nvPr/>
        </p:nvSpPr>
        <p:spPr>
          <a:xfrm>
            <a:off x="1061295" y="7311781"/>
            <a:ext cx="276377" cy="276377"/>
          </a:xfrm>
          <a:custGeom>
            <a:avLst/>
            <a:gdLst/>
            <a:ahLst/>
            <a:cxnLst/>
            <a:rect l="l" t="t" r="r" b="b"/>
            <a:pathLst>
              <a:path w="276377" h="276377">
                <a:moveTo>
                  <a:pt x="0" y="0"/>
                </a:moveTo>
                <a:lnTo>
                  <a:pt x="276377" y="0"/>
                </a:lnTo>
                <a:lnTo>
                  <a:pt x="276377" y="276377"/>
                </a:lnTo>
                <a:lnTo>
                  <a:pt x="0" y="276377"/>
                </a:lnTo>
                <a:lnTo>
                  <a:pt x="0" y="0"/>
                </a:lnTo>
                <a:close/>
              </a:path>
            </a:pathLst>
          </a:custGeom>
          <a:blipFill>
            <a:blip>
              <a:extLst>
                <a:ext uri="{96DAC541-7B7A-43D3-8B79-37D633B846F1}">
                  <asvg:svgBlip xmlns:asvg="http://schemas.microsoft.com/office/drawing/2016/SVG/main" r:embed="rId3"/>
                </a:ext>
              </a:extLst>
            </a:blip>
            <a:stretch>
              <a:fillRect l="-6665" r="-6665"/>
            </a:stretch>
          </a:blipFill>
        </p:spPr>
        <p:txBody>
          <a:bodyPr/>
          <a:lstStyle/>
          <a:p>
            <a:endParaRPr lang="en-US">
              <a:latin typeface="Cambria" panose="02040503050406030204" pitchFamily="18" charset="0"/>
            </a:endParaRPr>
          </a:p>
        </p:txBody>
      </p:sp>
      <p:sp>
        <p:nvSpPr>
          <p:cNvPr id="22" name="TextBox 22"/>
          <p:cNvSpPr txBox="1"/>
          <p:nvPr/>
        </p:nvSpPr>
        <p:spPr>
          <a:xfrm>
            <a:off x="1591123" y="7287072"/>
            <a:ext cx="7328144" cy="264431"/>
          </a:xfrm>
          <a:prstGeom prst="rect">
            <a:avLst/>
          </a:prstGeom>
        </p:spPr>
        <p:txBody>
          <a:bodyPr wrap="square" lIns="0" tIns="0" rIns="0" bIns="0" rtlCol="0" anchor="t">
            <a:spAutoFit/>
          </a:bodyPr>
          <a:lstStyle/>
          <a:p>
            <a:pPr algn="l">
              <a:lnSpc>
                <a:spcPts val="2249"/>
              </a:lnSpc>
            </a:pPr>
            <a:r>
              <a:rPr lang="en-US" sz="1812" b="1" dirty="0">
                <a:solidFill>
                  <a:srgbClr val="4C4C4D"/>
                </a:solidFill>
                <a:latin typeface="Cambria" panose="02040503050406030204" pitchFamily="18" charset="0"/>
                <a:ea typeface="Crimson Pro Bold"/>
                <a:cs typeface="Calibri Light" panose="020F0302020204030204" pitchFamily="34" charset="0"/>
                <a:sym typeface="Crimson Pro Bold"/>
              </a:rPr>
              <a:t>Fault Isolation</a:t>
            </a:r>
          </a:p>
        </p:txBody>
      </p:sp>
      <p:sp>
        <p:nvSpPr>
          <p:cNvPr id="23" name="TextBox 23"/>
          <p:cNvSpPr txBox="1"/>
          <p:nvPr/>
        </p:nvSpPr>
        <p:spPr>
          <a:xfrm>
            <a:off x="1591123" y="7713764"/>
            <a:ext cx="7404342" cy="231345"/>
          </a:xfrm>
          <a:prstGeom prst="rect">
            <a:avLst/>
          </a:prstGeom>
        </p:spPr>
        <p:txBody>
          <a:bodyPr wrap="square"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Decoupled, stateless architecture prevents single points of failure across all platform services.</a:t>
            </a:r>
          </a:p>
        </p:txBody>
      </p:sp>
      <p:sp>
        <p:nvSpPr>
          <p:cNvPr id="24" name="TextBox 24"/>
          <p:cNvSpPr txBox="1"/>
          <p:nvPr/>
        </p:nvSpPr>
        <p:spPr>
          <a:xfrm>
            <a:off x="9378258" y="2087318"/>
            <a:ext cx="7614376" cy="264431"/>
          </a:xfrm>
          <a:prstGeom prst="rect">
            <a:avLst/>
          </a:prstGeom>
        </p:spPr>
        <p:txBody>
          <a:bodyPr wrap="square" lIns="0" tIns="0" rIns="0" bIns="0" rtlCol="0" anchor="t">
            <a:spAutoFit/>
          </a:bodyPr>
          <a:lstStyle/>
          <a:p>
            <a:pPr algn="l">
              <a:lnSpc>
                <a:spcPts val="2249"/>
              </a:lnSpc>
            </a:pPr>
            <a:r>
              <a:rPr lang="en-US" sz="1812" b="1" dirty="0">
                <a:solidFill>
                  <a:srgbClr val="152D47"/>
                </a:solidFill>
                <a:latin typeface="Cambria" panose="02040503050406030204" pitchFamily="18" charset="0"/>
                <a:ea typeface="Crimson Pro Bold"/>
                <a:cs typeface="Calibri Light" panose="020F0302020204030204" pitchFamily="34" charset="0"/>
                <a:sym typeface="Crimson Pro Bold"/>
              </a:rPr>
              <a:t>Traditional vs Cloud-Native Comparison</a:t>
            </a:r>
          </a:p>
        </p:txBody>
      </p:sp>
      <p:grpSp>
        <p:nvGrpSpPr>
          <p:cNvPr id="25" name="Group 25"/>
          <p:cNvGrpSpPr/>
          <p:nvPr/>
        </p:nvGrpSpPr>
        <p:grpSpPr>
          <a:xfrm>
            <a:off x="9373495" y="2524277"/>
            <a:ext cx="7936554" cy="2462803"/>
            <a:chOff x="0" y="0"/>
            <a:chExt cx="10582072" cy="3283737"/>
          </a:xfrm>
        </p:grpSpPr>
        <p:sp>
          <p:nvSpPr>
            <p:cNvPr id="26" name="Freeform 26"/>
            <p:cNvSpPr/>
            <p:nvPr/>
          </p:nvSpPr>
          <p:spPr>
            <a:xfrm>
              <a:off x="0" y="0"/>
              <a:ext cx="10582021" cy="3283712"/>
            </a:xfrm>
            <a:custGeom>
              <a:avLst/>
              <a:gdLst/>
              <a:ahLst/>
              <a:cxnLst/>
              <a:rect l="l" t="t" r="r" b="b"/>
              <a:pathLst>
                <a:path w="10582021" h="3283712">
                  <a:moveTo>
                    <a:pt x="0" y="43180"/>
                  </a:moveTo>
                  <a:cubicBezTo>
                    <a:pt x="0" y="19304"/>
                    <a:pt x="19431" y="0"/>
                    <a:pt x="43307" y="0"/>
                  </a:cubicBezTo>
                  <a:lnTo>
                    <a:pt x="10538714" y="0"/>
                  </a:lnTo>
                  <a:lnTo>
                    <a:pt x="10538714" y="6350"/>
                  </a:lnTo>
                  <a:lnTo>
                    <a:pt x="10538714" y="0"/>
                  </a:lnTo>
                  <a:cubicBezTo>
                    <a:pt x="10562590" y="0"/>
                    <a:pt x="10582021" y="19304"/>
                    <a:pt x="10582021" y="43180"/>
                  </a:cubicBezTo>
                  <a:lnTo>
                    <a:pt x="10575671" y="43180"/>
                  </a:lnTo>
                  <a:lnTo>
                    <a:pt x="10582021" y="43180"/>
                  </a:lnTo>
                  <a:lnTo>
                    <a:pt x="10582021" y="3240532"/>
                  </a:lnTo>
                  <a:lnTo>
                    <a:pt x="10575671" y="3240532"/>
                  </a:lnTo>
                  <a:lnTo>
                    <a:pt x="10582021" y="3240532"/>
                  </a:lnTo>
                  <a:cubicBezTo>
                    <a:pt x="10582021" y="3264408"/>
                    <a:pt x="10562590" y="3283712"/>
                    <a:pt x="10538714" y="3283712"/>
                  </a:cubicBezTo>
                  <a:lnTo>
                    <a:pt x="10538714" y="3277362"/>
                  </a:lnTo>
                  <a:lnTo>
                    <a:pt x="10538714" y="3283712"/>
                  </a:lnTo>
                  <a:lnTo>
                    <a:pt x="43307" y="3283712"/>
                  </a:lnTo>
                  <a:lnTo>
                    <a:pt x="43307" y="3277362"/>
                  </a:lnTo>
                  <a:lnTo>
                    <a:pt x="43307" y="3283712"/>
                  </a:lnTo>
                  <a:cubicBezTo>
                    <a:pt x="19431" y="3283712"/>
                    <a:pt x="0" y="3264408"/>
                    <a:pt x="0" y="3240532"/>
                  </a:cubicBezTo>
                  <a:lnTo>
                    <a:pt x="0" y="43180"/>
                  </a:lnTo>
                  <a:lnTo>
                    <a:pt x="6350" y="43180"/>
                  </a:lnTo>
                  <a:lnTo>
                    <a:pt x="0" y="43180"/>
                  </a:lnTo>
                  <a:moveTo>
                    <a:pt x="12700" y="43180"/>
                  </a:moveTo>
                  <a:lnTo>
                    <a:pt x="12700" y="3240532"/>
                  </a:lnTo>
                  <a:lnTo>
                    <a:pt x="6350" y="3240532"/>
                  </a:lnTo>
                  <a:lnTo>
                    <a:pt x="12700" y="3240532"/>
                  </a:lnTo>
                  <a:cubicBezTo>
                    <a:pt x="12700" y="3257423"/>
                    <a:pt x="26416" y="3271012"/>
                    <a:pt x="43307" y="3271012"/>
                  </a:cubicBezTo>
                  <a:lnTo>
                    <a:pt x="10538714" y="3271012"/>
                  </a:lnTo>
                  <a:cubicBezTo>
                    <a:pt x="10555605" y="3271012"/>
                    <a:pt x="10569321" y="3257296"/>
                    <a:pt x="10569321" y="3240532"/>
                  </a:cubicBezTo>
                  <a:lnTo>
                    <a:pt x="10569321" y="43180"/>
                  </a:lnTo>
                  <a:cubicBezTo>
                    <a:pt x="10569321" y="26289"/>
                    <a:pt x="10555605" y="12700"/>
                    <a:pt x="10538714" y="12700"/>
                  </a:cubicBezTo>
                  <a:lnTo>
                    <a:pt x="43307" y="12700"/>
                  </a:lnTo>
                  <a:lnTo>
                    <a:pt x="43307" y="6350"/>
                  </a:lnTo>
                  <a:lnTo>
                    <a:pt x="43307" y="12700"/>
                  </a:lnTo>
                  <a:cubicBezTo>
                    <a:pt x="26416" y="12700"/>
                    <a:pt x="12700" y="26416"/>
                    <a:pt x="12700" y="43180"/>
                  </a:cubicBezTo>
                  <a:close/>
                </a:path>
              </a:pathLst>
            </a:custGeom>
            <a:solidFill>
              <a:srgbClr val="000000">
                <a:alpha val="392"/>
              </a:srgbClr>
            </a:solidFill>
          </p:spPr>
          <p:txBody>
            <a:bodyPr/>
            <a:lstStyle/>
            <a:p>
              <a:endParaRPr lang="en-US">
                <a:latin typeface="Cambria" panose="02040503050406030204" pitchFamily="18" charset="0"/>
              </a:endParaRPr>
            </a:p>
          </p:txBody>
        </p:sp>
      </p:grpSp>
      <p:sp>
        <p:nvSpPr>
          <p:cNvPr id="29" name="TextBox 29"/>
          <p:cNvSpPr txBox="1"/>
          <p:nvPr/>
        </p:nvSpPr>
        <p:spPr>
          <a:xfrm>
            <a:off x="9572177" y="2619823"/>
            <a:ext cx="1999059" cy="231410"/>
          </a:xfrm>
          <a:prstGeom prst="rect">
            <a:avLst/>
          </a:prstGeom>
        </p:spPr>
        <p:txBody>
          <a:bodyPr lIns="0" tIns="0" rIns="0" bIns="0" rtlCol="0" anchor="t">
            <a:spAutoFit/>
          </a:bodyPr>
          <a:lstStyle/>
          <a:p>
            <a:pPr algn="l">
              <a:lnSpc>
                <a:spcPts val="1874"/>
              </a:lnSpc>
            </a:pPr>
            <a:r>
              <a:rPr lang="en-US" sz="1437" b="1" dirty="0">
                <a:solidFill>
                  <a:srgbClr val="4C4C4D"/>
                </a:solidFill>
                <a:latin typeface="Cambria" panose="02040503050406030204" pitchFamily="18" charset="0"/>
                <a:ea typeface="Heebo Bold"/>
                <a:cs typeface="Heebo Bold"/>
                <a:sym typeface="Heebo Bold"/>
              </a:rPr>
              <a:t>Concern</a:t>
            </a:r>
          </a:p>
        </p:txBody>
      </p:sp>
      <p:sp>
        <p:nvSpPr>
          <p:cNvPr id="30" name="TextBox 30"/>
          <p:cNvSpPr txBox="1"/>
          <p:nvPr/>
        </p:nvSpPr>
        <p:spPr>
          <a:xfrm>
            <a:off x="11949265" y="2619823"/>
            <a:ext cx="2389737" cy="231410"/>
          </a:xfrm>
          <a:prstGeom prst="rect">
            <a:avLst/>
          </a:prstGeom>
        </p:spPr>
        <p:txBody>
          <a:bodyPr lIns="0" tIns="0" rIns="0" bIns="0" rtlCol="0" anchor="t">
            <a:spAutoFit/>
          </a:bodyPr>
          <a:lstStyle/>
          <a:p>
            <a:pPr algn="l">
              <a:lnSpc>
                <a:spcPts val="1874"/>
              </a:lnSpc>
            </a:pPr>
            <a:r>
              <a:rPr lang="en-US" sz="1437" b="1" dirty="0">
                <a:solidFill>
                  <a:srgbClr val="4C4C4D"/>
                </a:solidFill>
                <a:latin typeface="Cambria" panose="02040503050406030204" pitchFamily="18" charset="0"/>
                <a:ea typeface="Heebo Bold"/>
                <a:cs typeface="Heebo Bold"/>
                <a:sym typeface="Heebo Bold"/>
              </a:rPr>
              <a:t>Traditional On-Premise</a:t>
            </a:r>
          </a:p>
        </p:txBody>
      </p:sp>
      <p:sp>
        <p:nvSpPr>
          <p:cNvPr id="31" name="TextBox 31"/>
          <p:cNvSpPr txBox="1"/>
          <p:nvPr/>
        </p:nvSpPr>
        <p:spPr>
          <a:xfrm>
            <a:off x="14717020" y="2619823"/>
            <a:ext cx="2394499" cy="231410"/>
          </a:xfrm>
          <a:prstGeom prst="rect">
            <a:avLst/>
          </a:prstGeom>
        </p:spPr>
        <p:txBody>
          <a:bodyPr lIns="0" tIns="0" rIns="0" bIns="0" rtlCol="0" anchor="t">
            <a:spAutoFit/>
          </a:bodyPr>
          <a:lstStyle/>
          <a:p>
            <a:pPr algn="l">
              <a:lnSpc>
                <a:spcPts val="1874"/>
              </a:lnSpc>
            </a:pPr>
            <a:r>
              <a:rPr lang="en-US" sz="1437" b="1" dirty="0">
                <a:solidFill>
                  <a:srgbClr val="4C4C4D"/>
                </a:solidFill>
                <a:latin typeface="Cambria" panose="02040503050406030204" pitchFamily="18" charset="0"/>
                <a:ea typeface="Heebo Bold"/>
                <a:cs typeface="Heebo Bold"/>
                <a:sym typeface="Heebo Bold"/>
              </a:rPr>
              <a:t>ThreatVault Cloud-Native</a:t>
            </a:r>
          </a:p>
        </p:txBody>
      </p:sp>
      <p:sp>
        <p:nvSpPr>
          <p:cNvPr id="34" name="TextBox 34"/>
          <p:cNvSpPr txBox="1"/>
          <p:nvPr/>
        </p:nvSpPr>
        <p:spPr>
          <a:xfrm>
            <a:off x="9572177" y="3025531"/>
            <a:ext cx="199905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Scaling</a:t>
            </a:r>
          </a:p>
        </p:txBody>
      </p:sp>
      <p:sp>
        <p:nvSpPr>
          <p:cNvPr id="35" name="TextBox 35"/>
          <p:cNvSpPr txBox="1"/>
          <p:nvPr/>
        </p:nvSpPr>
        <p:spPr>
          <a:xfrm>
            <a:off x="11949265" y="3025531"/>
            <a:ext cx="2389737"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Manual, node-limited</a:t>
            </a:r>
          </a:p>
        </p:txBody>
      </p:sp>
      <p:sp>
        <p:nvSpPr>
          <p:cNvPr id="36" name="TextBox 36"/>
          <p:cNvSpPr txBox="1"/>
          <p:nvPr/>
        </p:nvSpPr>
        <p:spPr>
          <a:xfrm>
            <a:off x="14717020" y="3025531"/>
            <a:ext cx="239449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Auto, granular, serverless</a:t>
            </a:r>
          </a:p>
        </p:txBody>
      </p:sp>
      <p:sp>
        <p:nvSpPr>
          <p:cNvPr id="39" name="TextBox 39"/>
          <p:cNvSpPr txBox="1"/>
          <p:nvPr/>
        </p:nvSpPr>
        <p:spPr>
          <a:xfrm>
            <a:off x="9572177" y="3431229"/>
            <a:ext cx="199905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Cost Model</a:t>
            </a:r>
          </a:p>
        </p:txBody>
      </p:sp>
      <p:sp>
        <p:nvSpPr>
          <p:cNvPr id="40" name="TextBox 40"/>
          <p:cNvSpPr txBox="1"/>
          <p:nvPr/>
        </p:nvSpPr>
        <p:spPr>
          <a:xfrm>
            <a:off x="11949265" y="3431229"/>
            <a:ext cx="2389737" cy="231345"/>
          </a:xfrm>
          <a:prstGeom prst="rect">
            <a:avLst/>
          </a:prstGeom>
        </p:spPr>
        <p:txBody>
          <a:bodyPr lIns="0" tIns="0" rIns="0" bIns="0" rtlCol="0" anchor="t">
            <a:spAutoFit/>
          </a:bodyPr>
          <a:lstStyle/>
          <a:p>
            <a:pPr algn="l">
              <a:lnSpc>
                <a:spcPts val="1874"/>
              </a:lnSpc>
            </a:pPr>
            <a:r>
              <a:rPr lang="en-US" sz="1437">
                <a:solidFill>
                  <a:srgbClr val="4C4C4D"/>
                </a:solidFill>
                <a:latin typeface="Cambria" panose="02040503050406030204" pitchFamily="18" charset="0"/>
                <a:ea typeface="Heebo"/>
                <a:cs typeface="Heebo"/>
                <a:sym typeface="Heebo"/>
              </a:rPr>
              <a:t>Pay 24/7</a:t>
            </a:r>
          </a:p>
        </p:txBody>
      </p:sp>
      <p:sp>
        <p:nvSpPr>
          <p:cNvPr id="41" name="TextBox 41"/>
          <p:cNvSpPr txBox="1"/>
          <p:nvPr/>
        </p:nvSpPr>
        <p:spPr>
          <a:xfrm>
            <a:off x="14717020" y="3431229"/>
            <a:ext cx="2394499" cy="231345"/>
          </a:xfrm>
          <a:prstGeom prst="rect">
            <a:avLst/>
          </a:prstGeom>
        </p:spPr>
        <p:txBody>
          <a:bodyPr lIns="0" tIns="0" rIns="0" bIns="0" rtlCol="0" anchor="t">
            <a:spAutoFit/>
          </a:bodyPr>
          <a:lstStyle/>
          <a:p>
            <a:pPr algn="l">
              <a:lnSpc>
                <a:spcPts val="1874"/>
              </a:lnSpc>
            </a:pPr>
            <a:r>
              <a:rPr lang="en-US" sz="1437">
                <a:solidFill>
                  <a:srgbClr val="4C4C4D"/>
                </a:solidFill>
                <a:latin typeface="Cambria" panose="02040503050406030204" pitchFamily="18" charset="0"/>
                <a:ea typeface="Heebo"/>
                <a:cs typeface="Heebo"/>
                <a:sym typeface="Heebo"/>
              </a:rPr>
              <a:t>Pay-per-execution</a:t>
            </a:r>
          </a:p>
        </p:txBody>
      </p:sp>
      <p:sp>
        <p:nvSpPr>
          <p:cNvPr id="44" name="TextBox 44"/>
          <p:cNvSpPr txBox="1"/>
          <p:nvPr/>
        </p:nvSpPr>
        <p:spPr>
          <a:xfrm>
            <a:off x="9572177" y="3836937"/>
            <a:ext cx="199905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Availability</a:t>
            </a:r>
          </a:p>
        </p:txBody>
      </p:sp>
      <p:sp>
        <p:nvSpPr>
          <p:cNvPr id="45" name="TextBox 45"/>
          <p:cNvSpPr txBox="1"/>
          <p:nvPr/>
        </p:nvSpPr>
        <p:spPr>
          <a:xfrm>
            <a:off x="11949265" y="3836937"/>
            <a:ext cx="2389737"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Manually configured HA</a:t>
            </a:r>
          </a:p>
        </p:txBody>
      </p:sp>
      <p:sp>
        <p:nvSpPr>
          <p:cNvPr id="46" name="TextBox 46"/>
          <p:cNvSpPr txBox="1"/>
          <p:nvPr/>
        </p:nvSpPr>
        <p:spPr>
          <a:xfrm>
            <a:off x="14717020" y="3836937"/>
            <a:ext cx="2394499" cy="231345"/>
          </a:xfrm>
          <a:prstGeom prst="rect">
            <a:avLst/>
          </a:prstGeom>
        </p:spPr>
        <p:txBody>
          <a:bodyPr lIns="0" tIns="0" rIns="0" bIns="0" rtlCol="0" anchor="t">
            <a:spAutoFit/>
          </a:bodyPr>
          <a:lstStyle/>
          <a:p>
            <a:pPr algn="l">
              <a:lnSpc>
                <a:spcPts val="1874"/>
              </a:lnSpc>
            </a:pPr>
            <a:r>
              <a:rPr lang="en-US" sz="1437">
                <a:solidFill>
                  <a:srgbClr val="4C4C4D"/>
                </a:solidFill>
                <a:latin typeface="Cambria" panose="02040503050406030204" pitchFamily="18" charset="0"/>
                <a:ea typeface="Heebo"/>
                <a:cs typeface="Heebo"/>
                <a:sym typeface="Heebo"/>
              </a:rPr>
              <a:t>99.995% SLA guaranteed</a:t>
            </a:r>
          </a:p>
        </p:txBody>
      </p:sp>
      <p:sp>
        <p:nvSpPr>
          <p:cNvPr id="49" name="TextBox 49"/>
          <p:cNvSpPr txBox="1"/>
          <p:nvPr/>
        </p:nvSpPr>
        <p:spPr>
          <a:xfrm>
            <a:off x="9572177" y="4242645"/>
            <a:ext cx="199905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Schema</a:t>
            </a:r>
          </a:p>
        </p:txBody>
      </p:sp>
      <p:sp>
        <p:nvSpPr>
          <p:cNvPr id="50" name="TextBox 50"/>
          <p:cNvSpPr txBox="1"/>
          <p:nvPr/>
        </p:nvSpPr>
        <p:spPr>
          <a:xfrm>
            <a:off x="11949265" y="4242645"/>
            <a:ext cx="2389737"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Rigid, static, pre-defined</a:t>
            </a:r>
          </a:p>
        </p:txBody>
      </p:sp>
      <p:sp>
        <p:nvSpPr>
          <p:cNvPr id="51" name="TextBox 51"/>
          <p:cNvSpPr txBox="1"/>
          <p:nvPr/>
        </p:nvSpPr>
        <p:spPr>
          <a:xfrm>
            <a:off x="14717020" y="4242645"/>
            <a:ext cx="2394499" cy="231345"/>
          </a:xfrm>
          <a:prstGeom prst="rect">
            <a:avLst/>
          </a:prstGeom>
        </p:spPr>
        <p:txBody>
          <a:bodyPr lIns="0" tIns="0" rIns="0" bIns="0" rtlCol="0" anchor="t">
            <a:spAutoFit/>
          </a:bodyPr>
          <a:lstStyle/>
          <a:p>
            <a:pPr algn="l">
              <a:lnSpc>
                <a:spcPts val="1874"/>
              </a:lnSpc>
            </a:pPr>
            <a:r>
              <a:rPr lang="en-US" sz="1437">
                <a:solidFill>
                  <a:srgbClr val="4C4C4D"/>
                </a:solidFill>
                <a:latin typeface="Cambria" panose="02040503050406030204" pitchFamily="18" charset="0"/>
                <a:ea typeface="Heebo"/>
                <a:cs typeface="Heebo"/>
                <a:sym typeface="Heebo"/>
              </a:rPr>
              <a:t>Flexible JSON per document</a:t>
            </a:r>
          </a:p>
        </p:txBody>
      </p:sp>
      <p:sp>
        <p:nvSpPr>
          <p:cNvPr id="54" name="TextBox 54"/>
          <p:cNvSpPr txBox="1"/>
          <p:nvPr/>
        </p:nvSpPr>
        <p:spPr>
          <a:xfrm>
            <a:off x="9572177" y="4648352"/>
            <a:ext cx="1999059"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Management</a:t>
            </a:r>
          </a:p>
        </p:txBody>
      </p:sp>
      <p:sp>
        <p:nvSpPr>
          <p:cNvPr id="55" name="TextBox 55"/>
          <p:cNvSpPr txBox="1"/>
          <p:nvPr/>
        </p:nvSpPr>
        <p:spPr>
          <a:xfrm>
            <a:off x="11949265" y="4648352"/>
            <a:ext cx="2389737" cy="231345"/>
          </a:xfrm>
          <a:prstGeom prst="rect">
            <a:avLst/>
          </a:prstGeom>
        </p:spPr>
        <p:txBody>
          <a:bodyPr lIns="0" tIns="0" rIns="0" bIns="0" rtlCol="0" anchor="t">
            <a:spAutoFit/>
          </a:bodyPr>
          <a:lstStyle/>
          <a:p>
            <a:pPr algn="l">
              <a:lnSpc>
                <a:spcPts val="1874"/>
              </a:lnSpc>
            </a:pPr>
            <a:r>
              <a:rPr lang="en-US" sz="1437" dirty="0">
                <a:solidFill>
                  <a:srgbClr val="4C4C4D"/>
                </a:solidFill>
                <a:latin typeface="Cambria" panose="02040503050406030204" pitchFamily="18" charset="0"/>
                <a:ea typeface="Heebo"/>
                <a:cs typeface="Heebo"/>
                <a:sym typeface="Heebo"/>
              </a:rPr>
              <a:t>Full admin burden</a:t>
            </a:r>
          </a:p>
        </p:txBody>
      </p:sp>
      <p:sp>
        <p:nvSpPr>
          <p:cNvPr id="56" name="TextBox 56"/>
          <p:cNvSpPr txBox="1"/>
          <p:nvPr/>
        </p:nvSpPr>
        <p:spPr>
          <a:xfrm>
            <a:off x="14717020" y="4648352"/>
            <a:ext cx="2394499" cy="231345"/>
          </a:xfrm>
          <a:prstGeom prst="rect">
            <a:avLst/>
          </a:prstGeom>
        </p:spPr>
        <p:txBody>
          <a:bodyPr lIns="0" tIns="0" rIns="0" bIns="0" rtlCol="0" anchor="t">
            <a:spAutoFit/>
          </a:bodyPr>
          <a:lstStyle/>
          <a:p>
            <a:pPr algn="l">
              <a:lnSpc>
                <a:spcPts val="1874"/>
              </a:lnSpc>
            </a:pPr>
            <a:r>
              <a:rPr lang="en-US" sz="1437">
                <a:solidFill>
                  <a:srgbClr val="4C4C4D"/>
                </a:solidFill>
                <a:latin typeface="Cambria" panose="02040503050406030204" pitchFamily="18" charset="0"/>
                <a:ea typeface="Heebo"/>
                <a:cs typeface="Heebo"/>
                <a:sym typeface="Heebo"/>
              </a:rPr>
              <a:t>Fully managed PaaS</a:t>
            </a:r>
          </a:p>
        </p:txBody>
      </p:sp>
      <p:grpSp>
        <p:nvGrpSpPr>
          <p:cNvPr id="57" name="Group 57"/>
          <p:cNvGrpSpPr/>
          <p:nvPr/>
        </p:nvGrpSpPr>
        <p:grpSpPr>
          <a:xfrm>
            <a:off x="9378258" y="5117011"/>
            <a:ext cx="7614342" cy="4241749"/>
            <a:chOff x="0" y="0"/>
            <a:chExt cx="5655666" cy="5655666"/>
          </a:xfrm>
        </p:grpSpPr>
        <p:sp>
          <p:nvSpPr>
            <p:cNvPr id="58" name="Freeform 58" descr="preencoded.png"/>
            <p:cNvSpPr/>
            <p:nvPr/>
          </p:nvSpPr>
          <p:spPr>
            <a:xfrm>
              <a:off x="0" y="0"/>
              <a:ext cx="5655691" cy="5655691"/>
            </a:xfrm>
            <a:custGeom>
              <a:avLst/>
              <a:gdLst/>
              <a:ahLst/>
              <a:cxnLst/>
              <a:rect l="l" t="t" r="r" b="b"/>
              <a:pathLst>
                <a:path w="5655691" h="5655691">
                  <a:moveTo>
                    <a:pt x="0" y="0"/>
                  </a:moveTo>
                  <a:lnTo>
                    <a:pt x="5655691" y="0"/>
                  </a:lnTo>
                  <a:lnTo>
                    <a:pt x="5655691" y="5655691"/>
                  </a:lnTo>
                  <a:lnTo>
                    <a:pt x="0" y="5655691"/>
                  </a:lnTo>
                  <a:lnTo>
                    <a:pt x="0" y="0"/>
                  </a:lnTo>
                  <a:close/>
                </a:path>
              </a:pathLst>
            </a:custGeom>
            <a:blipFill>
              <a:blip r:embed="rId4"/>
              <a:stretch>
                <a:fillRect/>
              </a:stretch>
            </a:blipFill>
          </p:spPr>
          <p:txBody>
            <a:bodyPr/>
            <a:lstStyle/>
            <a:p>
              <a:endParaRPr lang="en-US">
                <a:latin typeface="Cambria" panose="02040503050406030204" pitchFamily="18"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94955" y="-21771"/>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94955" y="-10886"/>
            <a:ext cx="18382955" cy="10308771"/>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dirty="0">
                <a:latin typeface="Cambria" panose="02040503050406030204" pitchFamily="18" charset="0"/>
              </a:endParaRPr>
            </a:p>
          </p:txBody>
        </p:sp>
      </p:grpSp>
      <p:sp>
        <p:nvSpPr>
          <p:cNvPr id="6" name="TextBox 6"/>
          <p:cNvSpPr txBox="1"/>
          <p:nvPr/>
        </p:nvSpPr>
        <p:spPr>
          <a:xfrm>
            <a:off x="897283" y="840379"/>
            <a:ext cx="16303505" cy="670633"/>
          </a:xfrm>
          <a:prstGeom prst="rect">
            <a:avLst/>
          </a:prstGeom>
        </p:spPr>
        <p:txBody>
          <a:bodyPr wrap="square" lIns="0" tIns="0" rIns="0" bIns="0" rtlCol="0" anchor="t">
            <a:spAutoFit/>
          </a:bodyPr>
          <a:lstStyle/>
          <a:p>
            <a:pPr algn="l">
              <a:lnSpc>
                <a:spcPts val="5562"/>
              </a:lnSpc>
            </a:pPr>
            <a:r>
              <a:rPr lang="en-US" sz="4200" b="1" dirty="0">
                <a:solidFill>
                  <a:srgbClr val="152D47"/>
                </a:solidFill>
                <a:latin typeface="Cambria" panose="02040503050406030204" pitchFamily="18" charset="0"/>
                <a:ea typeface="Crimson Pro Bold"/>
                <a:cs typeface="Crimson Pro Bold"/>
                <a:sym typeface="Crimson Pro Bold"/>
              </a:rPr>
              <a:t>Solution Architecture: Five-Tier Cloud-Native Azure Design</a:t>
            </a:r>
          </a:p>
        </p:txBody>
      </p:sp>
      <p:sp>
        <p:nvSpPr>
          <p:cNvPr id="7" name="TextBox 7"/>
          <p:cNvSpPr txBox="1"/>
          <p:nvPr/>
        </p:nvSpPr>
        <p:spPr>
          <a:xfrm>
            <a:off x="953371" y="1907330"/>
            <a:ext cx="16303523" cy="301108"/>
          </a:xfrm>
          <a:prstGeom prst="rect">
            <a:avLst/>
          </a:prstGeom>
        </p:spPr>
        <p:txBody>
          <a:bodyPr lIns="0" tIns="0" rIns="0" bIns="0" rtlCol="0" anchor="t">
            <a:spAutoFit/>
          </a:bodyPr>
          <a:lstStyle/>
          <a:p>
            <a:pPr algn="l">
              <a:lnSpc>
                <a:spcPts val="2562"/>
              </a:lnSpc>
            </a:pPr>
            <a:r>
              <a:rPr lang="en-US" sz="1750" dirty="0">
                <a:solidFill>
                  <a:srgbClr val="4C4C4D"/>
                </a:solidFill>
                <a:latin typeface="Cambria" panose="02040503050406030204" pitchFamily="18" charset="0"/>
                <a:ea typeface="Heebo"/>
                <a:cs typeface="Heebo"/>
                <a:sym typeface="Heebo"/>
              </a:rPr>
              <a:t>ThreatVault uses a five-tier cloud-native Azure architecture with clear separation of concerns at every layer.</a:t>
            </a:r>
          </a:p>
        </p:txBody>
      </p:sp>
      <p:grpSp>
        <p:nvGrpSpPr>
          <p:cNvPr id="8" name="Group 8"/>
          <p:cNvGrpSpPr/>
          <p:nvPr/>
        </p:nvGrpSpPr>
        <p:grpSpPr>
          <a:xfrm>
            <a:off x="975666" y="2444826"/>
            <a:ext cx="6661724" cy="415602"/>
            <a:chOff x="0" y="0"/>
            <a:chExt cx="7084619" cy="3834613"/>
          </a:xfrm>
          <a:solidFill>
            <a:schemeClr val="bg1">
              <a:lumMod val="85000"/>
            </a:schemeClr>
          </a:solidFill>
        </p:grpSpPr>
        <p:sp>
          <p:nvSpPr>
            <p:cNvPr id="9" name="Freeform 9"/>
            <p:cNvSpPr/>
            <p:nvPr/>
          </p:nvSpPr>
          <p:spPr>
            <a:xfrm>
              <a:off x="0" y="0"/>
              <a:ext cx="7084568" cy="3834638"/>
            </a:xfrm>
            <a:custGeom>
              <a:avLst/>
              <a:gdLst/>
              <a:ahLst/>
              <a:cxnLst/>
              <a:rect l="l" t="t" r="r" b="b"/>
              <a:pathLst>
                <a:path w="7084568" h="3834638">
                  <a:moveTo>
                    <a:pt x="0" y="45339"/>
                  </a:moveTo>
                  <a:cubicBezTo>
                    <a:pt x="0" y="20320"/>
                    <a:pt x="20320" y="0"/>
                    <a:pt x="45339" y="0"/>
                  </a:cubicBezTo>
                  <a:lnTo>
                    <a:pt x="7039229" y="0"/>
                  </a:lnTo>
                  <a:cubicBezTo>
                    <a:pt x="7064248" y="0"/>
                    <a:pt x="7084568" y="20320"/>
                    <a:pt x="7084568" y="45339"/>
                  </a:cubicBezTo>
                  <a:lnTo>
                    <a:pt x="7084568" y="3789299"/>
                  </a:lnTo>
                  <a:cubicBezTo>
                    <a:pt x="7084568" y="3814318"/>
                    <a:pt x="7064248" y="3834638"/>
                    <a:pt x="7039229" y="3834638"/>
                  </a:cubicBezTo>
                  <a:lnTo>
                    <a:pt x="45339" y="3834638"/>
                  </a:lnTo>
                  <a:cubicBezTo>
                    <a:pt x="20320" y="3834638"/>
                    <a:pt x="0" y="3814318"/>
                    <a:pt x="0" y="3789299"/>
                  </a:cubicBezTo>
                  <a:close/>
                </a:path>
              </a:pathLst>
            </a:custGeom>
            <a:grpFill/>
          </p:spPr>
          <p:txBody>
            <a:bodyPr/>
            <a:lstStyle/>
            <a:p>
              <a:endParaRPr lang="en-US" dirty="0">
                <a:latin typeface="Cambria" panose="02040503050406030204" pitchFamily="18" charset="0"/>
              </a:endParaRPr>
            </a:p>
          </p:txBody>
        </p:sp>
      </p:grpSp>
      <p:sp>
        <p:nvSpPr>
          <p:cNvPr id="11" name="TextBox 11"/>
          <p:cNvSpPr txBox="1"/>
          <p:nvPr/>
        </p:nvSpPr>
        <p:spPr>
          <a:xfrm>
            <a:off x="970667" y="2913990"/>
            <a:ext cx="6666675" cy="3200876"/>
          </a:xfrm>
          <a:prstGeom prst="rect">
            <a:avLst/>
          </a:prstGeom>
        </p:spPr>
        <p:txBody>
          <a:bodyPr wrap="square" lIns="0" tIns="0" rIns="0" bIns="0" rtlCol="0" anchor="t">
            <a:spAutoFit/>
          </a:bodyPr>
          <a:lstStyle/>
          <a:p>
            <a:r>
              <a:rPr lang="en-GB" sz="1600" dirty="0">
                <a:latin typeface="Cambria" panose="02040503050406030204" pitchFamily="18" charset="0"/>
                <a:cs typeface="Heebo" pitchFamily="2" charset="-79"/>
              </a:rPr>
              <a:t>1. </a:t>
            </a:r>
            <a:r>
              <a:rPr lang="en-GB" sz="1600" b="1" dirty="0">
                <a:latin typeface="Cambria" panose="02040503050406030204" pitchFamily="18" charset="0"/>
                <a:cs typeface="Heebo" pitchFamily="2" charset="-79"/>
              </a:rPr>
              <a:t>Authenticate</a:t>
            </a:r>
            <a:r>
              <a:rPr lang="en-GB" sz="1600" dirty="0">
                <a:latin typeface="Cambria" panose="02040503050406030204" pitchFamily="18" charset="0"/>
                <a:cs typeface="Heebo" pitchFamily="2" charset="-79"/>
              </a:rPr>
              <a:t> → Azure AD — RBAC + MFA for internal analysts [20]</a:t>
            </a:r>
          </a:p>
          <a:p>
            <a:r>
              <a:rPr lang="en-GB" sz="1600" dirty="0">
                <a:latin typeface="Cambria" panose="02040503050406030204" pitchFamily="18" charset="0"/>
                <a:cs typeface="Heebo" pitchFamily="2" charset="-79"/>
              </a:rPr>
              <a:t>2. </a:t>
            </a:r>
            <a:r>
              <a:rPr lang="en-GB" sz="1600" b="1" dirty="0">
                <a:latin typeface="Cambria" panose="02040503050406030204" pitchFamily="18" charset="0"/>
                <a:cs typeface="Heebo" pitchFamily="2" charset="-79"/>
              </a:rPr>
              <a:t>Access Platform </a:t>
            </a:r>
            <a:r>
              <a:rPr lang="en-GB" sz="1600" dirty="0">
                <a:latin typeface="Cambria" panose="02040503050406030204" pitchFamily="18" charset="0"/>
                <a:cs typeface="Heebo" pitchFamily="2" charset="-79"/>
              </a:rPr>
              <a:t>→ Azure Front Door — DDoS protection, CDN caching [04]</a:t>
            </a:r>
          </a:p>
          <a:p>
            <a:r>
              <a:rPr lang="en-GB" sz="1600" dirty="0">
                <a:latin typeface="Cambria" panose="02040503050406030204" pitchFamily="18" charset="0"/>
                <a:cs typeface="Heebo" pitchFamily="2" charset="-79"/>
              </a:rPr>
              <a:t>3. </a:t>
            </a:r>
            <a:r>
              <a:rPr lang="en-GB" sz="1600" b="1" dirty="0">
                <a:latin typeface="Cambria" panose="02040503050406030204" pitchFamily="18" charset="0"/>
                <a:cs typeface="Heebo" pitchFamily="2" charset="-79"/>
              </a:rPr>
              <a:t>Serve App </a:t>
            </a:r>
            <a:r>
              <a:rPr lang="en-GB" sz="1600" dirty="0">
                <a:latin typeface="Cambria" panose="02040503050406030204" pitchFamily="18" charset="0"/>
                <a:cs typeface="Heebo" pitchFamily="2" charset="-79"/>
              </a:rPr>
              <a:t>→ Azure Static Web Apps delivers frontend UI</a:t>
            </a:r>
          </a:p>
          <a:p>
            <a:r>
              <a:rPr lang="en-GB" sz="1600" dirty="0">
                <a:latin typeface="Cambria" panose="02040503050406030204" pitchFamily="18" charset="0"/>
                <a:cs typeface="Heebo" pitchFamily="2" charset="-79"/>
              </a:rPr>
              <a:t>4. </a:t>
            </a:r>
            <a:r>
              <a:rPr lang="en-GB" sz="1600" b="1" dirty="0">
                <a:latin typeface="Cambria" panose="02040503050406030204" pitchFamily="18" charset="0"/>
                <a:cs typeface="Heebo" pitchFamily="2" charset="-79"/>
              </a:rPr>
              <a:t>HTTP Requests </a:t>
            </a:r>
            <a:r>
              <a:rPr lang="en-GB" sz="1600" dirty="0">
                <a:latin typeface="Cambria" panose="02040503050406030204" pitchFamily="18" charset="0"/>
                <a:cs typeface="Heebo" pitchFamily="2" charset="-79"/>
              </a:rPr>
              <a:t>→ Frontend calls Azure API Management → routes to App Service (Backend REST API) over HTTPS </a:t>
            </a:r>
          </a:p>
          <a:p>
            <a:r>
              <a:rPr lang="en-GB" sz="1600" dirty="0">
                <a:latin typeface="Cambria" panose="02040503050406030204" pitchFamily="18" charset="0"/>
                <a:cs typeface="Heebo" pitchFamily="2" charset="-79"/>
              </a:rPr>
              <a:t>5. </a:t>
            </a:r>
            <a:r>
              <a:rPr lang="en-GB" sz="1600" b="1" dirty="0">
                <a:latin typeface="Cambria" panose="02040503050406030204" pitchFamily="18" charset="0"/>
                <a:cs typeface="Heebo" pitchFamily="2" charset="-79"/>
              </a:rPr>
              <a:t>Trigger Workflow </a:t>
            </a:r>
            <a:r>
              <a:rPr lang="en-GB" sz="1600" dirty="0">
                <a:latin typeface="Cambria" panose="02040503050406030204" pitchFamily="18" charset="0"/>
                <a:cs typeface="Heebo" pitchFamily="2" charset="-79"/>
              </a:rPr>
              <a:t>→ App Service triggers Logic Apps — serverless, event-driven</a:t>
            </a:r>
          </a:p>
          <a:p>
            <a:r>
              <a:rPr lang="en-GB" sz="1600" dirty="0">
                <a:latin typeface="Cambria" panose="02040503050406030204" pitchFamily="18" charset="0"/>
                <a:cs typeface="Heebo" pitchFamily="2" charset="-79"/>
              </a:rPr>
              <a:t>6. </a:t>
            </a:r>
            <a:r>
              <a:rPr lang="en-GB" sz="1600" b="1" dirty="0">
                <a:latin typeface="Cambria" panose="02040503050406030204" pitchFamily="18" charset="0"/>
                <a:cs typeface="Heebo" pitchFamily="2" charset="-79"/>
              </a:rPr>
              <a:t>Data Operations (parallel):</a:t>
            </a:r>
          </a:p>
          <a:p>
            <a:r>
              <a:rPr lang="en-GB" sz="1600" dirty="0">
                <a:latin typeface="Cambria" panose="02040503050406030204" pitchFamily="18" charset="0"/>
                <a:cs typeface="Heebo" pitchFamily="2" charset="-79"/>
              </a:rPr>
              <a:t>   6a. </a:t>
            </a:r>
            <a:r>
              <a:rPr lang="en-GB" sz="1600" b="1" dirty="0">
                <a:latin typeface="Cambria" panose="02040503050406030204" pitchFamily="18" charset="0"/>
                <a:cs typeface="Heebo" pitchFamily="2" charset="-79"/>
              </a:rPr>
              <a:t>Blob Storage </a:t>
            </a:r>
            <a:r>
              <a:rPr lang="en-GB" sz="1600" dirty="0">
                <a:latin typeface="Cambria" panose="02040503050406030204" pitchFamily="18" charset="0"/>
                <a:cs typeface="Heebo" pitchFamily="2" charset="-79"/>
              </a:rPr>
              <a:t>— MP4/PCAP binary evidence; Content Moderator scans pre-write [18]</a:t>
            </a:r>
          </a:p>
          <a:p>
            <a:r>
              <a:rPr lang="en-GB" sz="1600" dirty="0">
                <a:latin typeface="Cambria" panose="02040503050406030204" pitchFamily="18" charset="0"/>
                <a:cs typeface="Heebo" pitchFamily="2" charset="-79"/>
              </a:rPr>
              <a:t>   6b. </a:t>
            </a:r>
            <a:r>
              <a:rPr lang="en-GB" sz="1600" b="1" dirty="0">
                <a:latin typeface="Cambria" panose="02040503050406030204" pitchFamily="18" charset="0"/>
                <a:cs typeface="Heebo" pitchFamily="2" charset="-79"/>
              </a:rPr>
              <a:t>Cosmos DB </a:t>
            </a:r>
            <a:r>
              <a:rPr lang="en-GB" sz="1600" dirty="0">
                <a:latin typeface="Cambria" panose="02040503050406030204" pitchFamily="18" charset="0"/>
                <a:cs typeface="Heebo" pitchFamily="2" charset="-79"/>
              </a:rPr>
              <a:t>— JSON metadata, partitioned by /</a:t>
            </a:r>
            <a:r>
              <a:rPr lang="en-GB" sz="1600" dirty="0" err="1">
                <a:latin typeface="Cambria" panose="02040503050406030204" pitchFamily="18" charset="0"/>
                <a:cs typeface="Heebo" pitchFamily="2" charset="-79"/>
              </a:rPr>
              <a:t>caseID</a:t>
            </a:r>
            <a:r>
              <a:rPr lang="en-GB" sz="1600" dirty="0">
                <a:latin typeface="Cambria" panose="02040503050406030204" pitchFamily="18" charset="0"/>
                <a:cs typeface="Heebo" pitchFamily="2" charset="-79"/>
              </a:rPr>
              <a:t> [01]</a:t>
            </a:r>
          </a:p>
          <a:p>
            <a:r>
              <a:rPr lang="en-GB" sz="1600" dirty="0">
                <a:latin typeface="Cambria" panose="02040503050406030204" pitchFamily="18" charset="0"/>
                <a:cs typeface="Heebo" pitchFamily="2" charset="-79"/>
              </a:rPr>
              <a:t>   6c. </a:t>
            </a:r>
            <a:r>
              <a:rPr lang="en-GB" sz="1600" b="1" dirty="0">
                <a:latin typeface="Cambria" panose="02040503050406030204" pitchFamily="18" charset="0"/>
                <a:cs typeface="Heebo" pitchFamily="2" charset="-79"/>
              </a:rPr>
              <a:t>Azure SQL </a:t>
            </a:r>
            <a:r>
              <a:rPr lang="en-GB" sz="1600" dirty="0">
                <a:latin typeface="Cambria" panose="02040503050406030204" pitchFamily="18" charset="0"/>
                <a:cs typeface="Heebo" pitchFamily="2" charset="-79"/>
              </a:rPr>
              <a:t>— Users, Cases, Audit Log (ACID-compliant) [07]</a:t>
            </a:r>
          </a:p>
        </p:txBody>
      </p:sp>
      <p:sp>
        <p:nvSpPr>
          <p:cNvPr id="10" name="TextBox 9">
            <a:extLst>
              <a:ext uri="{FF2B5EF4-FFF2-40B4-BE49-F238E27FC236}">
                <a16:creationId xmlns:a16="http://schemas.microsoft.com/office/drawing/2014/main" id="{DA12D3E9-90B0-BF0F-8CFA-73662B2CCE3C}"/>
              </a:ext>
            </a:extLst>
          </p:cNvPr>
          <p:cNvSpPr txBox="1"/>
          <p:nvPr/>
        </p:nvSpPr>
        <p:spPr>
          <a:xfrm>
            <a:off x="968361" y="2498388"/>
            <a:ext cx="3429000" cy="338554"/>
          </a:xfrm>
          <a:prstGeom prst="rect">
            <a:avLst/>
          </a:prstGeom>
          <a:noFill/>
        </p:spPr>
        <p:txBody>
          <a:bodyPr wrap="square" rtlCol="0">
            <a:spAutoFit/>
          </a:bodyPr>
          <a:lstStyle/>
          <a:p>
            <a:r>
              <a:rPr lang="en-GB" sz="1600" b="1" dirty="0">
                <a:latin typeface="Cambria" panose="02040503050406030204" pitchFamily="18" charset="0"/>
                <a:cs typeface="Heebo" pitchFamily="2" charset="-79"/>
              </a:rPr>
              <a:t>Primary Request Flow:</a:t>
            </a:r>
          </a:p>
        </p:txBody>
      </p:sp>
      <p:sp>
        <p:nvSpPr>
          <p:cNvPr id="13" name="TextBox 12">
            <a:extLst>
              <a:ext uri="{FF2B5EF4-FFF2-40B4-BE49-F238E27FC236}">
                <a16:creationId xmlns:a16="http://schemas.microsoft.com/office/drawing/2014/main" id="{2F151B7D-A779-2673-170C-3599D51906CC}"/>
              </a:ext>
            </a:extLst>
          </p:cNvPr>
          <p:cNvSpPr txBox="1"/>
          <p:nvPr/>
        </p:nvSpPr>
        <p:spPr>
          <a:xfrm>
            <a:off x="935320" y="6879644"/>
            <a:ext cx="6341690" cy="584775"/>
          </a:xfrm>
          <a:prstGeom prst="rect">
            <a:avLst/>
          </a:prstGeom>
          <a:noFill/>
        </p:spPr>
        <p:txBody>
          <a:bodyPr wrap="square" rtlCol="0">
            <a:spAutoFit/>
          </a:bodyPr>
          <a:lstStyle/>
          <a:p>
            <a:r>
              <a:rPr lang="en-GB" sz="1600" dirty="0">
                <a:latin typeface="Cambria" panose="02040503050406030204" pitchFamily="18" charset="0"/>
              </a:rPr>
              <a:t>Developer → GitHub → GitHub Actions → auto-deploys to App Service, Static Web Apps &amp; Logic Apps on every main branch merge [06]</a:t>
            </a:r>
            <a:endParaRPr lang="en-US" sz="1600" dirty="0">
              <a:latin typeface="Cambria" panose="02040503050406030204" pitchFamily="18" charset="0"/>
              <a:cs typeface="Heebo" pitchFamily="2" charset="-79"/>
            </a:endParaRPr>
          </a:p>
        </p:txBody>
      </p:sp>
      <p:grpSp>
        <p:nvGrpSpPr>
          <p:cNvPr id="14" name="Group 8">
            <a:extLst>
              <a:ext uri="{FF2B5EF4-FFF2-40B4-BE49-F238E27FC236}">
                <a16:creationId xmlns:a16="http://schemas.microsoft.com/office/drawing/2014/main" id="{F8F60DC9-C72D-02C2-25ED-333CCC1805C3}"/>
              </a:ext>
            </a:extLst>
          </p:cNvPr>
          <p:cNvGrpSpPr/>
          <p:nvPr/>
        </p:nvGrpSpPr>
        <p:grpSpPr>
          <a:xfrm>
            <a:off x="973334" y="6401990"/>
            <a:ext cx="6661653" cy="415605"/>
            <a:chOff x="-25" y="7720775"/>
            <a:chExt cx="7084568" cy="3834641"/>
          </a:xfrm>
          <a:solidFill>
            <a:schemeClr val="bg1">
              <a:lumMod val="85000"/>
            </a:schemeClr>
          </a:solidFill>
        </p:grpSpPr>
        <p:sp>
          <p:nvSpPr>
            <p:cNvPr id="15" name="Freeform 9">
              <a:extLst>
                <a:ext uri="{FF2B5EF4-FFF2-40B4-BE49-F238E27FC236}">
                  <a16:creationId xmlns:a16="http://schemas.microsoft.com/office/drawing/2014/main" id="{DD581E44-5B02-3A8D-1BFF-26EA3083B483}"/>
                </a:ext>
              </a:extLst>
            </p:cNvPr>
            <p:cNvSpPr/>
            <p:nvPr/>
          </p:nvSpPr>
          <p:spPr>
            <a:xfrm>
              <a:off x="-25" y="7720775"/>
              <a:ext cx="7084568" cy="3834641"/>
            </a:xfrm>
            <a:custGeom>
              <a:avLst/>
              <a:gdLst/>
              <a:ahLst/>
              <a:cxnLst/>
              <a:rect l="l" t="t" r="r" b="b"/>
              <a:pathLst>
                <a:path w="7084568" h="3834638">
                  <a:moveTo>
                    <a:pt x="0" y="45339"/>
                  </a:moveTo>
                  <a:cubicBezTo>
                    <a:pt x="0" y="20320"/>
                    <a:pt x="20320" y="0"/>
                    <a:pt x="45339" y="0"/>
                  </a:cubicBezTo>
                  <a:lnTo>
                    <a:pt x="7039229" y="0"/>
                  </a:lnTo>
                  <a:cubicBezTo>
                    <a:pt x="7064248" y="0"/>
                    <a:pt x="7084568" y="20320"/>
                    <a:pt x="7084568" y="45339"/>
                  </a:cubicBezTo>
                  <a:lnTo>
                    <a:pt x="7084568" y="3789299"/>
                  </a:lnTo>
                  <a:cubicBezTo>
                    <a:pt x="7084568" y="3814318"/>
                    <a:pt x="7064248" y="3834638"/>
                    <a:pt x="7039229" y="3834638"/>
                  </a:cubicBezTo>
                  <a:lnTo>
                    <a:pt x="45339" y="3834638"/>
                  </a:lnTo>
                  <a:cubicBezTo>
                    <a:pt x="20320" y="3834638"/>
                    <a:pt x="0" y="3814318"/>
                    <a:pt x="0" y="3789299"/>
                  </a:cubicBezTo>
                  <a:close/>
                </a:path>
              </a:pathLst>
            </a:custGeom>
            <a:grpFill/>
          </p:spPr>
          <p:txBody>
            <a:bodyPr/>
            <a:lstStyle/>
            <a:p>
              <a:endParaRPr lang="en-US" dirty="0">
                <a:latin typeface="Cambria" panose="02040503050406030204" pitchFamily="18" charset="0"/>
              </a:endParaRPr>
            </a:p>
          </p:txBody>
        </p:sp>
      </p:grpSp>
      <p:sp>
        <p:nvSpPr>
          <p:cNvPr id="18" name="TextBox 17">
            <a:extLst>
              <a:ext uri="{FF2B5EF4-FFF2-40B4-BE49-F238E27FC236}">
                <a16:creationId xmlns:a16="http://schemas.microsoft.com/office/drawing/2014/main" id="{327BD3CD-7C4F-389D-8A66-06769AD91379}"/>
              </a:ext>
            </a:extLst>
          </p:cNvPr>
          <p:cNvSpPr txBox="1"/>
          <p:nvPr/>
        </p:nvSpPr>
        <p:spPr>
          <a:xfrm>
            <a:off x="968361" y="6440515"/>
            <a:ext cx="3429000" cy="338554"/>
          </a:xfrm>
          <a:prstGeom prst="rect">
            <a:avLst/>
          </a:prstGeom>
          <a:noFill/>
        </p:spPr>
        <p:txBody>
          <a:bodyPr wrap="square" rtlCol="0">
            <a:spAutoFit/>
          </a:bodyPr>
          <a:lstStyle/>
          <a:p>
            <a:r>
              <a:rPr lang="en-GB" sz="1600" b="1" dirty="0">
                <a:latin typeface="Cambria" panose="02040503050406030204" pitchFamily="18" charset="0"/>
                <a:cs typeface="Heebo" pitchFamily="2" charset="-79"/>
              </a:rPr>
              <a:t>CI/CD Pipeline Flow:</a:t>
            </a:r>
          </a:p>
        </p:txBody>
      </p:sp>
      <p:grpSp>
        <p:nvGrpSpPr>
          <p:cNvPr id="21" name="Group 8">
            <a:extLst>
              <a:ext uri="{FF2B5EF4-FFF2-40B4-BE49-F238E27FC236}">
                <a16:creationId xmlns:a16="http://schemas.microsoft.com/office/drawing/2014/main" id="{36F50E8A-C288-10B0-CEE6-E86CF573604D}"/>
              </a:ext>
            </a:extLst>
          </p:cNvPr>
          <p:cNvGrpSpPr/>
          <p:nvPr/>
        </p:nvGrpSpPr>
        <p:grpSpPr>
          <a:xfrm>
            <a:off x="973239" y="7742040"/>
            <a:ext cx="6661652" cy="415602"/>
            <a:chOff x="0" y="0"/>
            <a:chExt cx="7084619" cy="3834613"/>
          </a:xfrm>
          <a:solidFill>
            <a:schemeClr val="bg1">
              <a:lumMod val="85000"/>
            </a:schemeClr>
          </a:solidFill>
        </p:grpSpPr>
        <p:sp>
          <p:nvSpPr>
            <p:cNvPr id="22" name="Freeform 9">
              <a:extLst>
                <a:ext uri="{FF2B5EF4-FFF2-40B4-BE49-F238E27FC236}">
                  <a16:creationId xmlns:a16="http://schemas.microsoft.com/office/drawing/2014/main" id="{6650604E-C434-C192-97E2-722FF9FF0E40}"/>
                </a:ext>
              </a:extLst>
            </p:cNvPr>
            <p:cNvSpPr/>
            <p:nvPr/>
          </p:nvSpPr>
          <p:spPr>
            <a:xfrm>
              <a:off x="0" y="0"/>
              <a:ext cx="7084568" cy="3834638"/>
            </a:xfrm>
            <a:custGeom>
              <a:avLst/>
              <a:gdLst/>
              <a:ahLst/>
              <a:cxnLst/>
              <a:rect l="l" t="t" r="r" b="b"/>
              <a:pathLst>
                <a:path w="7084568" h="3834638">
                  <a:moveTo>
                    <a:pt x="0" y="45339"/>
                  </a:moveTo>
                  <a:cubicBezTo>
                    <a:pt x="0" y="20320"/>
                    <a:pt x="20320" y="0"/>
                    <a:pt x="45339" y="0"/>
                  </a:cubicBezTo>
                  <a:lnTo>
                    <a:pt x="7039229" y="0"/>
                  </a:lnTo>
                  <a:cubicBezTo>
                    <a:pt x="7064248" y="0"/>
                    <a:pt x="7084568" y="20320"/>
                    <a:pt x="7084568" y="45339"/>
                  </a:cubicBezTo>
                  <a:lnTo>
                    <a:pt x="7084568" y="3789299"/>
                  </a:lnTo>
                  <a:cubicBezTo>
                    <a:pt x="7084568" y="3814318"/>
                    <a:pt x="7064248" y="3834638"/>
                    <a:pt x="7039229" y="3834638"/>
                  </a:cubicBezTo>
                  <a:lnTo>
                    <a:pt x="45339" y="3834638"/>
                  </a:lnTo>
                  <a:cubicBezTo>
                    <a:pt x="20320" y="3834638"/>
                    <a:pt x="0" y="3814318"/>
                    <a:pt x="0" y="3789299"/>
                  </a:cubicBezTo>
                  <a:close/>
                </a:path>
              </a:pathLst>
            </a:custGeom>
            <a:grpFill/>
          </p:spPr>
          <p:txBody>
            <a:bodyPr/>
            <a:lstStyle/>
            <a:p>
              <a:endParaRPr lang="en-US" dirty="0">
                <a:latin typeface="Cambria" panose="02040503050406030204" pitchFamily="18" charset="0"/>
              </a:endParaRPr>
            </a:p>
          </p:txBody>
        </p:sp>
      </p:grpSp>
      <p:sp>
        <p:nvSpPr>
          <p:cNvPr id="23" name="TextBox 22">
            <a:extLst>
              <a:ext uri="{FF2B5EF4-FFF2-40B4-BE49-F238E27FC236}">
                <a16:creationId xmlns:a16="http://schemas.microsoft.com/office/drawing/2014/main" id="{A5C0535B-2D88-3CFC-63FA-B10DD0566E9F}"/>
              </a:ext>
            </a:extLst>
          </p:cNvPr>
          <p:cNvSpPr txBox="1"/>
          <p:nvPr/>
        </p:nvSpPr>
        <p:spPr>
          <a:xfrm>
            <a:off x="968361" y="7819088"/>
            <a:ext cx="3429000" cy="338554"/>
          </a:xfrm>
          <a:prstGeom prst="rect">
            <a:avLst/>
          </a:prstGeom>
          <a:noFill/>
        </p:spPr>
        <p:txBody>
          <a:bodyPr wrap="square" rtlCol="0">
            <a:spAutoFit/>
          </a:bodyPr>
          <a:lstStyle/>
          <a:p>
            <a:r>
              <a:rPr lang="en-GB" sz="1600" b="1" dirty="0">
                <a:latin typeface="Cambria" panose="02040503050406030204" pitchFamily="18" charset="0"/>
                <a:cs typeface="Heebo" pitchFamily="2" charset="-79"/>
              </a:rPr>
              <a:t>Async/Monitoring Flow:</a:t>
            </a:r>
          </a:p>
        </p:txBody>
      </p:sp>
      <p:sp>
        <p:nvSpPr>
          <p:cNvPr id="25" name="TextBox 24">
            <a:extLst>
              <a:ext uri="{FF2B5EF4-FFF2-40B4-BE49-F238E27FC236}">
                <a16:creationId xmlns:a16="http://schemas.microsoft.com/office/drawing/2014/main" id="{97855746-CB5C-50C3-261B-21EA3F2D4AE0}"/>
              </a:ext>
            </a:extLst>
          </p:cNvPr>
          <p:cNvSpPr txBox="1"/>
          <p:nvPr/>
        </p:nvSpPr>
        <p:spPr>
          <a:xfrm>
            <a:off x="968360" y="8176801"/>
            <a:ext cx="6661603" cy="1569660"/>
          </a:xfrm>
          <a:prstGeom prst="rect">
            <a:avLst/>
          </a:prstGeom>
          <a:noFill/>
        </p:spPr>
        <p:txBody>
          <a:bodyPr wrap="square" rtlCol="0">
            <a:spAutoFit/>
          </a:bodyPr>
          <a:lstStyle/>
          <a:p>
            <a:r>
              <a:rPr lang="en-GB" sz="1600" dirty="0">
                <a:latin typeface="Cambria" panose="02040503050406030204" pitchFamily="18" charset="0"/>
                <a:cs typeface="Heebo" pitchFamily="2" charset="-79"/>
              </a:rPr>
              <a:t>App Service, Static Web Apps &amp; Logic Apps continuously emit telemetry → Azure Application Insights &amp; Azure Monitor — tracking API latency, upload failures, and session anomalies in real time for rapid incident response [05]. Content Moderator scans evidence uploads pre-write; Anomaly Detector analyses telemetry time-series to flag abnormal access patterns [18][19].</a:t>
            </a:r>
          </a:p>
        </p:txBody>
      </p:sp>
      <p:pic>
        <p:nvPicPr>
          <p:cNvPr id="29" name="Picture 28" descr="A diagram of a company&#10;&#10;AI-generated content may be incorrect.">
            <a:extLst>
              <a:ext uri="{FF2B5EF4-FFF2-40B4-BE49-F238E27FC236}">
                <a16:creationId xmlns:a16="http://schemas.microsoft.com/office/drawing/2014/main" id="{1EB306A9-9F0D-6C31-D35E-C451A3FC8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9508" y="2444826"/>
            <a:ext cx="9471039" cy="70554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1035288" y="677083"/>
            <a:ext cx="16090992" cy="622606"/>
          </a:xfrm>
          <a:prstGeom prst="rect">
            <a:avLst/>
          </a:prstGeom>
        </p:spPr>
        <p:txBody>
          <a:bodyPr wrap="square" lIns="0" tIns="0" rIns="0" bIns="0" rtlCol="0" anchor="t">
            <a:spAutoFit/>
          </a:bodyPr>
          <a:lstStyle/>
          <a:p>
            <a:pPr algn="l">
              <a:lnSpc>
                <a:spcPts val="5187"/>
              </a:lnSpc>
            </a:pPr>
            <a:r>
              <a:rPr lang="en-US" sz="4200" b="1" dirty="0">
                <a:solidFill>
                  <a:srgbClr val="152D47"/>
                </a:solidFill>
                <a:latin typeface="Cambria" panose="02040503050406030204" pitchFamily="18" charset="0"/>
                <a:ea typeface="Crimson Pro Bold"/>
                <a:cs typeface="Crimson Pro Bold"/>
                <a:sym typeface="Crimson Pro Bold"/>
              </a:rPr>
              <a:t>Database Schema: Azure SQL (Relational)</a:t>
            </a:r>
          </a:p>
        </p:txBody>
      </p:sp>
      <p:grpSp>
        <p:nvGrpSpPr>
          <p:cNvPr id="7" name="Group 7"/>
          <p:cNvGrpSpPr/>
          <p:nvPr/>
        </p:nvGrpSpPr>
        <p:grpSpPr>
          <a:xfrm>
            <a:off x="839095" y="1977028"/>
            <a:ext cx="6933305" cy="6747872"/>
            <a:chOff x="0" y="0"/>
            <a:chExt cx="10931525" cy="9648825"/>
          </a:xfrm>
          <a:solidFill>
            <a:schemeClr val="bg1">
              <a:lumMod val="95000"/>
            </a:schemeClr>
          </a:solidFill>
        </p:grpSpPr>
        <p:sp>
          <p:nvSpPr>
            <p:cNvPr id="8" name="Freeform 8"/>
            <p:cNvSpPr/>
            <p:nvPr/>
          </p:nvSpPr>
          <p:spPr>
            <a:xfrm>
              <a:off x="0" y="0"/>
              <a:ext cx="10931525" cy="9648825"/>
            </a:xfrm>
            <a:custGeom>
              <a:avLst/>
              <a:gdLst/>
              <a:ahLst/>
              <a:cxnLst/>
              <a:rect l="l" t="t" r="r" b="b"/>
              <a:pathLst>
                <a:path w="10931525" h="9648825">
                  <a:moveTo>
                    <a:pt x="0" y="42545"/>
                  </a:moveTo>
                  <a:cubicBezTo>
                    <a:pt x="0" y="19050"/>
                    <a:pt x="19050" y="0"/>
                    <a:pt x="42545" y="0"/>
                  </a:cubicBezTo>
                  <a:lnTo>
                    <a:pt x="10888980" y="0"/>
                  </a:lnTo>
                  <a:cubicBezTo>
                    <a:pt x="10912475" y="0"/>
                    <a:pt x="10931525" y="19050"/>
                    <a:pt x="10931525" y="42545"/>
                  </a:cubicBezTo>
                  <a:lnTo>
                    <a:pt x="10931525" y="9606280"/>
                  </a:lnTo>
                  <a:cubicBezTo>
                    <a:pt x="10931525" y="9629775"/>
                    <a:pt x="10912475" y="9648825"/>
                    <a:pt x="10888980" y="9648825"/>
                  </a:cubicBezTo>
                  <a:lnTo>
                    <a:pt x="42545" y="9648825"/>
                  </a:lnTo>
                  <a:cubicBezTo>
                    <a:pt x="19050" y="9648825"/>
                    <a:pt x="0" y="9629775"/>
                    <a:pt x="0" y="9606280"/>
                  </a:cubicBezTo>
                  <a:close/>
                </a:path>
              </a:pathLst>
            </a:custGeom>
            <a:grpFill/>
          </p:spPr>
          <p:txBody>
            <a:bodyPr/>
            <a:lstStyle/>
            <a:p>
              <a:endParaRPr lang="en-US">
                <a:latin typeface="Cambria" panose="02040503050406030204" pitchFamily="18" charset="0"/>
              </a:endParaRPr>
            </a:p>
          </p:txBody>
        </p:sp>
      </p:grpSp>
      <p:sp>
        <p:nvSpPr>
          <p:cNvPr id="9" name="TextBox 9"/>
          <p:cNvSpPr txBox="1"/>
          <p:nvPr/>
        </p:nvSpPr>
        <p:spPr>
          <a:xfrm>
            <a:off x="1051616" y="2117379"/>
            <a:ext cx="6492183" cy="310214"/>
          </a:xfrm>
          <a:prstGeom prst="rect">
            <a:avLst/>
          </a:prstGeom>
        </p:spPr>
        <p:txBody>
          <a:bodyPr wrap="square" lIns="0" tIns="0" rIns="0" bIns="0" rtlCol="0" anchor="t">
            <a:spAutoFit/>
          </a:bodyPr>
          <a:lstStyle/>
          <a:p>
            <a:pPr algn="l">
              <a:lnSpc>
                <a:spcPts val="2562"/>
              </a:lnSpc>
            </a:pPr>
            <a:r>
              <a:rPr lang="en-US" sz="2062" b="1" dirty="0">
                <a:solidFill>
                  <a:srgbClr val="152D47"/>
                </a:solidFill>
                <a:latin typeface="Cambria" panose="02040503050406030204" pitchFamily="18" charset="0"/>
                <a:ea typeface="Crimson Pro Bold"/>
                <a:cs typeface="Crimson Pro Bold"/>
                <a:sym typeface="Crimson Pro Bold"/>
              </a:rPr>
              <a:t>Why Azure SQL?</a:t>
            </a:r>
          </a:p>
        </p:txBody>
      </p:sp>
      <p:sp>
        <p:nvSpPr>
          <p:cNvPr id="10" name="TextBox 10"/>
          <p:cNvSpPr txBox="1"/>
          <p:nvPr/>
        </p:nvSpPr>
        <p:spPr>
          <a:xfrm>
            <a:off x="1051617" y="2589905"/>
            <a:ext cx="6492183" cy="1168590"/>
          </a:xfrm>
          <a:prstGeom prst="rect">
            <a:avLst/>
          </a:prstGeom>
        </p:spPr>
        <p:txBody>
          <a:bodyPr wrap="square"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Users and cases are traditional business domain entities with low update frequency and complex joins required for RBAC — exactly where SQL excels. ACID transactions ensure data integrity for user authentication, access control, and legal audit logging [13].</a:t>
            </a:r>
          </a:p>
        </p:txBody>
      </p:sp>
      <p:grpSp>
        <p:nvGrpSpPr>
          <p:cNvPr id="11" name="Group 11"/>
          <p:cNvGrpSpPr/>
          <p:nvPr/>
        </p:nvGrpSpPr>
        <p:grpSpPr>
          <a:xfrm>
            <a:off x="1051617" y="4104265"/>
            <a:ext cx="6492183" cy="74972"/>
            <a:chOff x="0" y="0"/>
            <a:chExt cx="10364788" cy="48019"/>
          </a:xfrm>
        </p:grpSpPr>
        <p:sp>
          <p:nvSpPr>
            <p:cNvPr id="12" name="Freeform 12"/>
            <p:cNvSpPr/>
            <p:nvPr/>
          </p:nvSpPr>
          <p:spPr>
            <a:xfrm>
              <a:off x="0" y="0"/>
              <a:ext cx="10364851" cy="48006"/>
            </a:xfrm>
            <a:custGeom>
              <a:avLst/>
              <a:gdLst/>
              <a:ahLst/>
              <a:cxnLst/>
              <a:rect l="l" t="t" r="r" b="b"/>
              <a:pathLst>
                <a:path w="10364851" h="48006">
                  <a:moveTo>
                    <a:pt x="0" y="0"/>
                  </a:moveTo>
                  <a:lnTo>
                    <a:pt x="10364851" y="0"/>
                  </a:lnTo>
                  <a:lnTo>
                    <a:pt x="10364851" y="48006"/>
                  </a:lnTo>
                  <a:lnTo>
                    <a:pt x="0" y="48006"/>
                  </a:lnTo>
                  <a:close/>
                </a:path>
              </a:pathLst>
            </a:custGeom>
            <a:solidFill>
              <a:srgbClr val="4C4C4D">
                <a:alpha val="24706"/>
              </a:srgbClr>
            </a:solidFill>
          </p:spPr>
          <p:txBody>
            <a:bodyPr/>
            <a:lstStyle/>
            <a:p>
              <a:endParaRPr lang="en-US">
                <a:latin typeface="Cambria" panose="02040503050406030204" pitchFamily="18" charset="0"/>
              </a:endParaRPr>
            </a:p>
          </p:txBody>
        </p:sp>
      </p:grpSp>
      <p:sp>
        <p:nvSpPr>
          <p:cNvPr id="13" name="TextBox 13"/>
          <p:cNvSpPr txBox="1"/>
          <p:nvPr/>
        </p:nvSpPr>
        <p:spPr>
          <a:xfrm>
            <a:off x="1051617" y="4300538"/>
            <a:ext cx="6492182" cy="310213"/>
          </a:xfrm>
          <a:prstGeom prst="rect">
            <a:avLst/>
          </a:prstGeom>
        </p:spPr>
        <p:txBody>
          <a:bodyPr wrap="square" lIns="0" tIns="0" rIns="0" bIns="0" rtlCol="0" anchor="t">
            <a:spAutoFit/>
          </a:bodyPr>
          <a:lstStyle/>
          <a:p>
            <a:pPr algn="l">
              <a:lnSpc>
                <a:spcPts val="2562"/>
              </a:lnSpc>
            </a:pPr>
            <a:r>
              <a:rPr lang="en-US" sz="2062" b="1" dirty="0">
                <a:solidFill>
                  <a:srgbClr val="152D47"/>
                </a:solidFill>
                <a:latin typeface="Cambria" panose="02040503050406030204" pitchFamily="18" charset="0"/>
                <a:ea typeface="Crimson Pro Bold"/>
                <a:cs typeface="Crimson Pro Bold"/>
                <a:sym typeface="Crimson Pro Bold"/>
              </a:rPr>
              <a:t>Entity Relationships</a:t>
            </a:r>
          </a:p>
        </p:txBody>
      </p:sp>
      <p:sp>
        <p:nvSpPr>
          <p:cNvPr id="14" name="TextBox 14"/>
          <p:cNvSpPr txBox="1"/>
          <p:nvPr/>
        </p:nvSpPr>
        <p:spPr>
          <a:xfrm>
            <a:off x="1051617" y="4773063"/>
            <a:ext cx="6492183" cy="1168590"/>
          </a:xfrm>
          <a:prstGeom prst="rect">
            <a:avLst/>
          </a:prstGeom>
        </p:spPr>
        <p:txBody>
          <a:bodyPr wrap="square" lIns="0" tIns="0" rIns="0" bIns="0" rtlCol="0" anchor="t">
            <a:spAutoFit/>
          </a:bodyPr>
          <a:lstStyle/>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Users ONE-TO-MANY Cases (via </a:t>
            </a:r>
            <a:r>
              <a:rPr lang="en-US" sz="1625" dirty="0" err="1">
                <a:solidFill>
                  <a:srgbClr val="4C4C4D"/>
                </a:solidFill>
                <a:latin typeface="Cambria" panose="02040503050406030204" pitchFamily="18" charset="0"/>
                <a:ea typeface="Heebo"/>
                <a:cs typeface="Heebo"/>
                <a:sym typeface="Heebo"/>
              </a:rPr>
              <a:t>CreatedBy</a:t>
            </a:r>
            <a:r>
              <a:rPr lang="en-US" sz="1625" dirty="0">
                <a:solidFill>
                  <a:srgbClr val="4C4C4D"/>
                </a:solidFill>
                <a:latin typeface="Cambria" panose="02040503050406030204" pitchFamily="18" charset="0"/>
                <a:ea typeface="Heebo"/>
                <a:cs typeface="Heebo"/>
                <a:sym typeface="Heebo"/>
              </a:rPr>
              <a:t> FK)</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Users MANY-TO-MANY Cases (via CASE_MEMBERS junction table)</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Users ONE-TO-MANY AUDIT_LOG entries</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ROLES ONE-TO-MANY USERS</a:t>
            </a:r>
          </a:p>
        </p:txBody>
      </p:sp>
      <p:grpSp>
        <p:nvGrpSpPr>
          <p:cNvPr id="15" name="Group 15"/>
          <p:cNvGrpSpPr/>
          <p:nvPr/>
        </p:nvGrpSpPr>
        <p:grpSpPr>
          <a:xfrm>
            <a:off x="1051617" y="6454854"/>
            <a:ext cx="6492183" cy="74972"/>
            <a:chOff x="0" y="0"/>
            <a:chExt cx="10364788" cy="48019"/>
          </a:xfrm>
        </p:grpSpPr>
        <p:sp>
          <p:nvSpPr>
            <p:cNvPr id="16" name="Freeform 16"/>
            <p:cNvSpPr/>
            <p:nvPr/>
          </p:nvSpPr>
          <p:spPr>
            <a:xfrm>
              <a:off x="0" y="0"/>
              <a:ext cx="10364851" cy="48006"/>
            </a:xfrm>
            <a:custGeom>
              <a:avLst/>
              <a:gdLst/>
              <a:ahLst/>
              <a:cxnLst/>
              <a:rect l="l" t="t" r="r" b="b"/>
              <a:pathLst>
                <a:path w="10364851" h="48006">
                  <a:moveTo>
                    <a:pt x="0" y="0"/>
                  </a:moveTo>
                  <a:lnTo>
                    <a:pt x="10364851" y="0"/>
                  </a:lnTo>
                  <a:lnTo>
                    <a:pt x="10364851" y="48006"/>
                  </a:lnTo>
                  <a:lnTo>
                    <a:pt x="0" y="48006"/>
                  </a:lnTo>
                  <a:close/>
                </a:path>
              </a:pathLst>
            </a:custGeom>
            <a:solidFill>
              <a:srgbClr val="4C4C4D">
                <a:alpha val="24706"/>
              </a:srgbClr>
            </a:solidFill>
          </p:spPr>
          <p:txBody>
            <a:bodyPr/>
            <a:lstStyle/>
            <a:p>
              <a:endParaRPr lang="en-US">
                <a:latin typeface="Cambria" panose="02040503050406030204" pitchFamily="18" charset="0"/>
              </a:endParaRPr>
            </a:p>
          </p:txBody>
        </p:sp>
      </p:grpSp>
      <p:sp>
        <p:nvSpPr>
          <p:cNvPr id="17" name="TextBox 17"/>
          <p:cNvSpPr txBox="1"/>
          <p:nvPr/>
        </p:nvSpPr>
        <p:spPr>
          <a:xfrm>
            <a:off x="1051616" y="6651127"/>
            <a:ext cx="6506471" cy="310213"/>
          </a:xfrm>
          <a:prstGeom prst="rect">
            <a:avLst/>
          </a:prstGeom>
        </p:spPr>
        <p:txBody>
          <a:bodyPr wrap="square" lIns="0" tIns="0" rIns="0" bIns="0" rtlCol="0" anchor="t">
            <a:spAutoFit/>
          </a:bodyPr>
          <a:lstStyle/>
          <a:p>
            <a:pPr algn="l">
              <a:lnSpc>
                <a:spcPts val="2562"/>
              </a:lnSpc>
            </a:pPr>
            <a:r>
              <a:rPr lang="en-US" sz="2062" b="1" dirty="0">
                <a:solidFill>
                  <a:srgbClr val="152D47"/>
                </a:solidFill>
                <a:latin typeface="Cambria" panose="02040503050406030204" pitchFamily="18" charset="0"/>
                <a:ea typeface="Crimson Pro Bold"/>
                <a:cs typeface="Crimson Pro Bold"/>
                <a:sym typeface="Crimson Pro Bold"/>
              </a:rPr>
              <a:t>Cosmos DB Integration</a:t>
            </a:r>
          </a:p>
        </p:txBody>
      </p:sp>
      <p:sp>
        <p:nvSpPr>
          <p:cNvPr id="18" name="TextBox 18"/>
          <p:cNvSpPr txBox="1"/>
          <p:nvPr/>
        </p:nvSpPr>
        <p:spPr>
          <a:xfrm>
            <a:off x="1051617" y="7123662"/>
            <a:ext cx="6492183" cy="873637"/>
          </a:xfrm>
          <a:prstGeom prst="rect">
            <a:avLst/>
          </a:prstGeom>
        </p:spPr>
        <p:txBody>
          <a:bodyPr wrap="square" lIns="0" tIns="0" rIns="0" bIns="0" rtlCol="0" anchor="t">
            <a:spAutoFit/>
          </a:bodyPr>
          <a:lstStyle/>
          <a:p>
            <a:pPr algn="l">
              <a:lnSpc>
                <a:spcPts val="2312"/>
              </a:lnSpc>
            </a:pPr>
            <a:r>
              <a:rPr lang="en-US" sz="1625" dirty="0">
                <a:solidFill>
                  <a:srgbClr val="4C4C4D"/>
                </a:solidFill>
                <a:latin typeface="Cambria" panose="02040503050406030204" pitchFamily="18" charset="0"/>
                <a:ea typeface="Heebo"/>
                <a:cs typeface="Heebo"/>
                <a:sym typeface="Heebo"/>
              </a:rPr>
              <a:t>Evidence metadata in Cosmos DB is linked to SQL via </a:t>
            </a:r>
            <a:r>
              <a:rPr lang="en-US" sz="1625" dirty="0" err="1">
                <a:solidFill>
                  <a:srgbClr val="4C4C4D"/>
                </a:solidFill>
                <a:latin typeface="Cambria" panose="02040503050406030204" pitchFamily="18" charset="0"/>
                <a:ea typeface="Heebo"/>
                <a:cs typeface="Heebo"/>
                <a:sym typeface="Heebo"/>
              </a:rPr>
              <a:t>EvidenceID</a:t>
            </a:r>
            <a:r>
              <a:rPr lang="en-US" sz="1625" dirty="0">
                <a:solidFill>
                  <a:srgbClr val="4C4C4D"/>
                </a:solidFill>
                <a:latin typeface="Cambria" panose="02040503050406030204" pitchFamily="18" charset="0"/>
                <a:ea typeface="Heebo"/>
                <a:cs typeface="Heebo"/>
                <a:sym typeface="Heebo"/>
              </a:rPr>
              <a:t> string key, CaseID foreign reference, and </a:t>
            </a:r>
            <a:r>
              <a:rPr lang="en-US" sz="1625" dirty="0" err="1">
                <a:solidFill>
                  <a:srgbClr val="4C4C4D"/>
                </a:solidFill>
                <a:latin typeface="Cambria" panose="02040503050406030204" pitchFamily="18" charset="0"/>
                <a:ea typeface="Heebo"/>
                <a:cs typeface="Heebo"/>
                <a:sym typeface="Heebo"/>
              </a:rPr>
              <a:t>UploadedBy</a:t>
            </a:r>
            <a:r>
              <a:rPr lang="en-US" sz="1625" dirty="0">
                <a:solidFill>
                  <a:srgbClr val="4C4C4D"/>
                </a:solidFill>
                <a:latin typeface="Cambria" panose="02040503050406030204" pitchFamily="18" charset="0"/>
                <a:ea typeface="Heebo"/>
                <a:cs typeface="Heebo"/>
                <a:sym typeface="Heebo"/>
              </a:rPr>
              <a:t> </a:t>
            </a:r>
            <a:r>
              <a:rPr lang="en-US" sz="1625" dirty="0" err="1">
                <a:solidFill>
                  <a:srgbClr val="4C4C4D"/>
                </a:solidFill>
                <a:latin typeface="Cambria" panose="02040503050406030204" pitchFamily="18" charset="0"/>
                <a:ea typeface="Heebo"/>
                <a:cs typeface="Heebo"/>
                <a:sym typeface="Heebo"/>
              </a:rPr>
              <a:t>UserID</a:t>
            </a:r>
            <a:r>
              <a:rPr lang="en-US" sz="1625" dirty="0">
                <a:solidFill>
                  <a:srgbClr val="4C4C4D"/>
                </a:solidFill>
                <a:latin typeface="Cambria" panose="02040503050406030204" pitchFamily="18" charset="0"/>
                <a:ea typeface="Heebo"/>
                <a:cs typeface="Heebo"/>
                <a:sym typeface="Heebo"/>
              </a:rPr>
              <a:t> reference. Audit log writes to SQL for legal admissibility.</a:t>
            </a:r>
          </a:p>
        </p:txBody>
      </p:sp>
      <p:grpSp>
        <p:nvGrpSpPr>
          <p:cNvPr id="20" name="Group 20"/>
          <p:cNvGrpSpPr/>
          <p:nvPr/>
        </p:nvGrpSpPr>
        <p:grpSpPr>
          <a:xfrm>
            <a:off x="9408166" y="2643188"/>
            <a:ext cx="7901883" cy="4861322"/>
            <a:chOff x="0" y="0"/>
            <a:chExt cx="10535844" cy="6481762"/>
          </a:xfrm>
        </p:grpSpPr>
        <p:sp>
          <p:nvSpPr>
            <p:cNvPr id="21" name="Freeform 21"/>
            <p:cNvSpPr/>
            <p:nvPr/>
          </p:nvSpPr>
          <p:spPr>
            <a:xfrm>
              <a:off x="0" y="0"/>
              <a:ext cx="10535920" cy="6481826"/>
            </a:xfrm>
            <a:custGeom>
              <a:avLst/>
              <a:gdLst/>
              <a:ahLst/>
              <a:cxnLst/>
              <a:rect l="l" t="t" r="r" b="b"/>
              <a:pathLst>
                <a:path w="10535920" h="6481826">
                  <a:moveTo>
                    <a:pt x="0" y="48895"/>
                  </a:moveTo>
                  <a:cubicBezTo>
                    <a:pt x="0" y="21844"/>
                    <a:pt x="21844" y="0"/>
                    <a:pt x="48895" y="0"/>
                  </a:cubicBezTo>
                  <a:lnTo>
                    <a:pt x="10487025" y="0"/>
                  </a:lnTo>
                  <a:lnTo>
                    <a:pt x="10487025" y="6350"/>
                  </a:lnTo>
                  <a:lnTo>
                    <a:pt x="10487025" y="0"/>
                  </a:lnTo>
                  <a:cubicBezTo>
                    <a:pt x="10514076" y="0"/>
                    <a:pt x="10535920" y="21844"/>
                    <a:pt x="10535920" y="48895"/>
                  </a:cubicBezTo>
                  <a:lnTo>
                    <a:pt x="10529570" y="48895"/>
                  </a:lnTo>
                  <a:lnTo>
                    <a:pt x="10535920" y="48895"/>
                  </a:lnTo>
                  <a:lnTo>
                    <a:pt x="10535920" y="6432931"/>
                  </a:lnTo>
                  <a:lnTo>
                    <a:pt x="10529570" y="6432931"/>
                  </a:lnTo>
                  <a:lnTo>
                    <a:pt x="10535920" y="6432931"/>
                  </a:lnTo>
                  <a:cubicBezTo>
                    <a:pt x="10535920" y="6459855"/>
                    <a:pt x="10514076" y="6481826"/>
                    <a:pt x="10487025" y="6481826"/>
                  </a:cubicBezTo>
                  <a:lnTo>
                    <a:pt x="10487025" y="6475476"/>
                  </a:lnTo>
                  <a:lnTo>
                    <a:pt x="10487025" y="6481826"/>
                  </a:lnTo>
                  <a:lnTo>
                    <a:pt x="48895" y="6481826"/>
                  </a:lnTo>
                  <a:lnTo>
                    <a:pt x="48895" y="6475476"/>
                  </a:lnTo>
                  <a:lnTo>
                    <a:pt x="48895" y="6481826"/>
                  </a:lnTo>
                  <a:cubicBezTo>
                    <a:pt x="21844" y="6481826"/>
                    <a:pt x="0" y="6459982"/>
                    <a:pt x="0" y="6432931"/>
                  </a:cubicBezTo>
                  <a:lnTo>
                    <a:pt x="0" y="48895"/>
                  </a:lnTo>
                  <a:lnTo>
                    <a:pt x="6350" y="48895"/>
                  </a:lnTo>
                  <a:lnTo>
                    <a:pt x="0" y="48895"/>
                  </a:lnTo>
                  <a:moveTo>
                    <a:pt x="12700" y="48895"/>
                  </a:moveTo>
                  <a:lnTo>
                    <a:pt x="12700" y="6432931"/>
                  </a:lnTo>
                  <a:lnTo>
                    <a:pt x="6350" y="6432931"/>
                  </a:lnTo>
                  <a:lnTo>
                    <a:pt x="12700" y="6432931"/>
                  </a:lnTo>
                  <a:cubicBezTo>
                    <a:pt x="12700" y="6452870"/>
                    <a:pt x="28956" y="6469126"/>
                    <a:pt x="48895" y="6469126"/>
                  </a:cubicBezTo>
                  <a:lnTo>
                    <a:pt x="10487025" y="6469126"/>
                  </a:lnTo>
                  <a:cubicBezTo>
                    <a:pt x="10506964" y="6469126"/>
                    <a:pt x="10523220" y="6452997"/>
                    <a:pt x="10523220" y="6432931"/>
                  </a:cubicBezTo>
                  <a:lnTo>
                    <a:pt x="10523220" y="48895"/>
                  </a:lnTo>
                  <a:cubicBezTo>
                    <a:pt x="10523220" y="28956"/>
                    <a:pt x="10506964" y="12700"/>
                    <a:pt x="10487025" y="12700"/>
                  </a:cubicBezTo>
                  <a:lnTo>
                    <a:pt x="48895" y="12700"/>
                  </a:lnTo>
                  <a:lnTo>
                    <a:pt x="48895" y="6350"/>
                  </a:lnTo>
                  <a:lnTo>
                    <a:pt x="48895" y="12700"/>
                  </a:lnTo>
                  <a:cubicBezTo>
                    <a:pt x="28956" y="12700"/>
                    <a:pt x="12700" y="28829"/>
                    <a:pt x="12700" y="48895"/>
                  </a:cubicBezTo>
                  <a:close/>
                </a:path>
              </a:pathLst>
            </a:custGeom>
            <a:solidFill>
              <a:srgbClr val="000000">
                <a:alpha val="392"/>
              </a:srgbClr>
            </a:solidFill>
          </p:spPr>
          <p:txBody>
            <a:bodyPr/>
            <a:lstStyle/>
            <a:p>
              <a:endParaRPr lang="en-US">
                <a:latin typeface="Cambria" panose="02040503050406030204" pitchFamily="18" charset="0"/>
              </a:endParaRPr>
            </a:p>
          </p:txBody>
        </p:sp>
      </p:grpSp>
      <p:pic>
        <p:nvPicPr>
          <p:cNvPr id="24" name="Picture 23" descr="A screenshot of a computer&#10;&#10;AI-generated content may be incorrect.">
            <a:extLst>
              <a:ext uri="{FF2B5EF4-FFF2-40B4-BE49-F238E27FC236}">
                <a16:creationId xmlns:a16="http://schemas.microsoft.com/office/drawing/2014/main" id="{F18E3FEF-4F68-21C6-A9FA-C5EB95A83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5800" y="1976772"/>
            <a:ext cx="9372600" cy="67478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830161" y="962320"/>
            <a:ext cx="16490746" cy="486800"/>
          </a:xfrm>
          <a:prstGeom prst="rect">
            <a:avLst/>
          </a:prstGeom>
        </p:spPr>
        <p:txBody>
          <a:bodyPr wrap="square" lIns="0" tIns="0" rIns="0" bIns="0" rtlCol="0" anchor="t">
            <a:spAutoFit/>
          </a:bodyPr>
          <a:lstStyle/>
          <a:p>
            <a:pPr algn="l">
              <a:lnSpc>
                <a:spcPts val="3749"/>
              </a:lnSpc>
            </a:pPr>
            <a:r>
              <a:rPr lang="en-US" sz="4200" b="1" dirty="0">
                <a:solidFill>
                  <a:srgbClr val="152D47"/>
                </a:solidFill>
                <a:latin typeface="Cambria" panose="02040503050406030204" pitchFamily="18" charset="0"/>
                <a:ea typeface="Crimson Pro Bold"/>
                <a:cs typeface="Crimson Pro Bold"/>
                <a:sym typeface="Crimson Pro Bold"/>
              </a:rPr>
              <a:t>Database Schema: Azure Cosmos DB (NoSQL)</a:t>
            </a:r>
          </a:p>
        </p:txBody>
      </p:sp>
      <p:sp>
        <p:nvSpPr>
          <p:cNvPr id="7" name="TextBox 7"/>
          <p:cNvSpPr txBox="1"/>
          <p:nvPr/>
        </p:nvSpPr>
        <p:spPr>
          <a:xfrm>
            <a:off x="830161" y="1630709"/>
            <a:ext cx="16627678" cy="359073"/>
          </a:xfrm>
          <a:prstGeom prst="rect">
            <a:avLst/>
          </a:prstGeom>
        </p:spPr>
        <p:txBody>
          <a:bodyPr lIns="0" tIns="0" rIns="0" bIns="0" rtlCol="0" anchor="t">
            <a:spAutoFit/>
          </a:bodyPr>
          <a:lstStyle/>
          <a:p>
            <a:pPr algn="l">
              <a:lnSpc>
                <a:spcPts val="1437"/>
              </a:lnSpc>
            </a:pPr>
            <a:r>
              <a:rPr lang="en-US" sz="1400" dirty="0">
                <a:solidFill>
                  <a:srgbClr val="4C4C4D"/>
                </a:solidFill>
                <a:latin typeface="Cambria" panose="02040503050406030204" pitchFamily="18" charset="0"/>
                <a:ea typeface="Heebo"/>
                <a:cs typeface="Heebo"/>
                <a:sym typeface="Heebo"/>
              </a:rPr>
              <a:t>Cybersecurity evidence is semi-structured — a malware execution video has entirely different attributes to a PCAP network capture. Cosmos DB's flexible JSON schema means each document can have a different structure, providing </a:t>
            </a:r>
            <a:r>
              <a:rPr lang="en-US" sz="1400" b="1" dirty="0">
                <a:solidFill>
                  <a:srgbClr val="4C4C4D"/>
                </a:solidFill>
                <a:latin typeface="Cambria" panose="02040503050406030204" pitchFamily="18" charset="0"/>
                <a:ea typeface="Heebo Bold"/>
                <a:cs typeface="Heebo Bold"/>
                <a:sym typeface="Heebo Bold"/>
              </a:rPr>
              <a:t>High</a:t>
            </a:r>
            <a:r>
              <a:rPr lang="en-US" sz="1400" dirty="0">
                <a:solidFill>
                  <a:srgbClr val="4C4C4D"/>
                </a:solidFill>
                <a:latin typeface="Cambria" panose="02040503050406030204" pitchFamily="18" charset="0"/>
                <a:ea typeface="Heebo"/>
                <a:cs typeface="Heebo"/>
                <a:sym typeface="Heebo"/>
              </a:rPr>
              <a:t> scalability for both reads and writes [17].</a:t>
            </a:r>
          </a:p>
        </p:txBody>
      </p:sp>
      <p:sp>
        <p:nvSpPr>
          <p:cNvPr id="8" name="TextBox 8"/>
          <p:cNvSpPr txBox="1"/>
          <p:nvPr/>
        </p:nvSpPr>
        <p:spPr>
          <a:xfrm>
            <a:off x="830160" y="2189407"/>
            <a:ext cx="8125873" cy="226537"/>
          </a:xfrm>
          <a:prstGeom prst="rect">
            <a:avLst/>
          </a:prstGeom>
        </p:spPr>
        <p:txBody>
          <a:bodyPr wrap="square" lIns="0" tIns="0" rIns="0" bIns="0" rtlCol="0" anchor="t">
            <a:spAutoFit/>
          </a:bodyPr>
          <a:lstStyle/>
          <a:p>
            <a:pPr algn="l">
              <a:lnSpc>
                <a:spcPts val="1874"/>
              </a:lnSpc>
            </a:pPr>
            <a:r>
              <a:rPr lang="en-US" sz="1500" b="1" dirty="0">
                <a:solidFill>
                  <a:srgbClr val="152D47"/>
                </a:solidFill>
                <a:latin typeface="Cambria" panose="02040503050406030204" pitchFamily="18" charset="0"/>
                <a:ea typeface="Crimson Pro Bold"/>
                <a:cs typeface="Crimson Pro Bold"/>
                <a:sym typeface="Crimson Pro Bold"/>
              </a:rPr>
              <a:t>Design Decisions</a:t>
            </a:r>
          </a:p>
        </p:txBody>
      </p:sp>
      <p:grpSp>
        <p:nvGrpSpPr>
          <p:cNvPr id="11" name="Group 11"/>
          <p:cNvGrpSpPr/>
          <p:nvPr/>
        </p:nvGrpSpPr>
        <p:grpSpPr>
          <a:xfrm>
            <a:off x="830161" y="2746029"/>
            <a:ext cx="8125863" cy="76200"/>
            <a:chOff x="0" y="0"/>
            <a:chExt cx="10834484" cy="101600"/>
          </a:xfrm>
          <a:solidFill>
            <a:schemeClr val="bg1">
              <a:lumMod val="75000"/>
            </a:schemeClr>
          </a:solidFill>
        </p:grpSpPr>
        <p:sp>
          <p:nvSpPr>
            <p:cNvPr id="12" name="Freeform 12"/>
            <p:cNvSpPr/>
            <p:nvPr/>
          </p:nvSpPr>
          <p:spPr>
            <a:xfrm>
              <a:off x="0" y="0"/>
              <a:ext cx="10834497" cy="101600"/>
            </a:xfrm>
            <a:custGeom>
              <a:avLst/>
              <a:gdLst/>
              <a:ahLst/>
              <a:cxnLst/>
              <a:rect l="l" t="t" r="r" b="b"/>
              <a:pathLst>
                <a:path w="10834497" h="101600">
                  <a:moveTo>
                    <a:pt x="0" y="30861"/>
                  </a:moveTo>
                  <a:cubicBezTo>
                    <a:pt x="0" y="13843"/>
                    <a:pt x="13843" y="0"/>
                    <a:pt x="30861" y="0"/>
                  </a:cubicBezTo>
                  <a:lnTo>
                    <a:pt x="10803636" y="0"/>
                  </a:lnTo>
                  <a:cubicBezTo>
                    <a:pt x="10820654" y="0"/>
                    <a:pt x="10834497" y="13843"/>
                    <a:pt x="10834497" y="30861"/>
                  </a:cubicBezTo>
                  <a:lnTo>
                    <a:pt x="10834497" y="70739"/>
                  </a:lnTo>
                  <a:cubicBezTo>
                    <a:pt x="10834497" y="87757"/>
                    <a:pt x="10820654" y="101600"/>
                    <a:pt x="10803636" y="101600"/>
                  </a:cubicBezTo>
                  <a:lnTo>
                    <a:pt x="30861" y="101600"/>
                  </a:lnTo>
                  <a:cubicBezTo>
                    <a:pt x="13843" y="101600"/>
                    <a:pt x="0" y="87757"/>
                    <a:pt x="0" y="70739"/>
                  </a:cubicBezTo>
                  <a:close/>
                </a:path>
              </a:pathLst>
            </a:custGeom>
            <a:grpFill/>
          </p:spPr>
          <p:txBody>
            <a:bodyPr/>
            <a:lstStyle/>
            <a:p>
              <a:endParaRPr lang="en-US">
                <a:latin typeface="Cambria" panose="02040503050406030204" pitchFamily="18" charset="0"/>
              </a:endParaRPr>
            </a:p>
          </p:txBody>
        </p:sp>
      </p:grpSp>
      <p:grpSp>
        <p:nvGrpSpPr>
          <p:cNvPr id="13" name="Group 13"/>
          <p:cNvGrpSpPr/>
          <p:nvPr/>
        </p:nvGrpSpPr>
        <p:grpSpPr>
          <a:xfrm>
            <a:off x="4661821" y="2533945"/>
            <a:ext cx="462410" cy="462410"/>
            <a:chOff x="0" y="0"/>
            <a:chExt cx="616547" cy="616547"/>
          </a:xfrm>
          <a:solidFill>
            <a:schemeClr val="bg1">
              <a:lumMod val="75000"/>
            </a:schemeClr>
          </a:solidFill>
        </p:grpSpPr>
        <p:sp>
          <p:nvSpPr>
            <p:cNvPr id="14" name="Freeform 14"/>
            <p:cNvSpPr/>
            <p:nvPr/>
          </p:nvSpPr>
          <p:spPr>
            <a:xfrm>
              <a:off x="0" y="0"/>
              <a:ext cx="616585" cy="616585"/>
            </a:xfrm>
            <a:custGeom>
              <a:avLst/>
              <a:gdLst/>
              <a:ahLst/>
              <a:cxnLst/>
              <a:rect l="l" t="t" r="r" b="b"/>
              <a:pathLst>
                <a:path w="616585" h="616585">
                  <a:moveTo>
                    <a:pt x="0" y="308229"/>
                  </a:moveTo>
                  <a:cubicBezTo>
                    <a:pt x="0" y="138049"/>
                    <a:pt x="138049" y="0"/>
                    <a:pt x="308229" y="0"/>
                  </a:cubicBezTo>
                  <a:cubicBezTo>
                    <a:pt x="478409" y="0"/>
                    <a:pt x="616585" y="138049"/>
                    <a:pt x="616585" y="308229"/>
                  </a:cubicBezTo>
                  <a:cubicBezTo>
                    <a:pt x="616585" y="478409"/>
                    <a:pt x="478536" y="616585"/>
                    <a:pt x="308229" y="616585"/>
                  </a:cubicBezTo>
                  <a:cubicBezTo>
                    <a:pt x="137922" y="616585"/>
                    <a:pt x="0" y="478536"/>
                    <a:pt x="0" y="308229"/>
                  </a:cubicBezTo>
                  <a:close/>
                </a:path>
              </a:pathLst>
            </a:custGeom>
            <a:grpFill/>
          </p:spPr>
          <p:txBody>
            <a:bodyPr/>
            <a:lstStyle/>
            <a:p>
              <a:endParaRPr lang="en-US">
                <a:latin typeface="Cambria" panose="02040503050406030204" pitchFamily="18" charset="0"/>
              </a:endParaRPr>
            </a:p>
          </p:txBody>
        </p:sp>
      </p:grpSp>
      <p:sp>
        <p:nvSpPr>
          <p:cNvPr id="15" name="TextBox 15"/>
          <p:cNvSpPr txBox="1"/>
          <p:nvPr/>
        </p:nvSpPr>
        <p:spPr>
          <a:xfrm>
            <a:off x="4800524" y="2640063"/>
            <a:ext cx="184995" cy="215059"/>
          </a:xfrm>
          <a:prstGeom prst="rect">
            <a:avLst/>
          </a:prstGeom>
        </p:spPr>
        <p:txBody>
          <a:bodyPr lIns="0" tIns="0" rIns="0" bIns="0" rtlCol="0" anchor="t">
            <a:spAutoFit/>
          </a:bodyPr>
          <a:lstStyle/>
          <a:p>
            <a:pPr algn="l">
              <a:lnSpc>
                <a:spcPts val="1750"/>
              </a:lnSpc>
            </a:pPr>
            <a:r>
              <a:rPr lang="en-US" sz="1437" b="1" dirty="0">
                <a:solidFill>
                  <a:srgbClr val="FFFFFF"/>
                </a:solidFill>
                <a:latin typeface="Cambria" panose="02040503050406030204" pitchFamily="18" charset="0"/>
                <a:ea typeface="Crimson Pro Bold"/>
                <a:cs typeface="Crimson Pro Bold"/>
                <a:sym typeface="Crimson Pro Bold"/>
              </a:rPr>
              <a:t>1</a:t>
            </a:r>
          </a:p>
        </p:txBody>
      </p:sp>
      <p:sp>
        <p:nvSpPr>
          <p:cNvPr id="16" name="TextBox 16"/>
          <p:cNvSpPr txBox="1"/>
          <p:nvPr/>
        </p:nvSpPr>
        <p:spPr>
          <a:xfrm>
            <a:off x="1003249" y="3140869"/>
            <a:ext cx="7943260" cy="226537"/>
          </a:xfrm>
          <a:prstGeom prst="rect">
            <a:avLst/>
          </a:prstGeom>
        </p:spPr>
        <p:txBody>
          <a:bodyPr wrap="square" lIns="0" tIns="0" rIns="0" bIns="0" rtlCol="0" anchor="t">
            <a:spAutoFit/>
          </a:bodyPr>
          <a:lstStyle/>
          <a:p>
            <a:pPr algn="l">
              <a:lnSpc>
                <a:spcPts val="1874"/>
              </a:lnSpc>
            </a:pPr>
            <a:r>
              <a:rPr lang="en-US" sz="1500" b="1" dirty="0">
                <a:solidFill>
                  <a:srgbClr val="4C4C4D"/>
                </a:solidFill>
                <a:latin typeface="Cambria" panose="02040503050406030204" pitchFamily="18" charset="0"/>
                <a:ea typeface="Crimson Pro Bold"/>
                <a:cs typeface="Crimson Pro Bold"/>
                <a:sym typeface="Crimson Pro Bold"/>
              </a:rPr>
              <a:t>Partition Key: /</a:t>
            </a:r>
            <a:r>
              <a:rPr lang="en-US" sz="1500" b="1" dirty="0" err="1">
                <a:solidFill>
                  <a:srgbClr val="4C4C4D"/>
                </a:solidFill>
                <a:latin typeface="Cambria" panose="02040503050406030204" pitchFamily="18" charset="0"/>
                <a:ea typeface="Crimson Pro Bold"/>
                <a:cs typeface="Crimson Pro Bold"/>
                <a:sym typeface="Crimson Pro Bold"/>
              </a:rPr>
              <a:t>caseID</a:t>
            </a:r>
            <a:endParaRPr lang="en-US" sz="1500" b="1" dirty="0">
              <a:solidFill>
                <a:srgbClr val="4C4C4D"/>
              </a:solidFill>
              <a:latin typeface="Cambria" panose="02040503050406030204" pitchFamily="18" charset="0"/>
              <a:ea typeface="Crimson Pro Bold"/>
              <a:cs typeface="Crimson Pro Bold"/>
              <a:sym typeface="Crimson Pro Bold"/>
            </a:endParaRPr>
          </a:p>
        </p:txBody>
      </p:sp>
      <p:sp>
        <p:nvSpPr>
          <p:cNvPr id="17" name="TextBox 17"/>
          <p:cNvSpPr txBox="1"/>
          <p:nvPr/>
        </p:nvSpPr>
        <p:spPr>
          <a:xfrm>
            <a:off x="1003249" y="3465462"/>
            <a:ext cx="7779696" cy="179536"/>
          </a:xfrm>
          <a:prstGeom prst="rect">
            <a:avLst/>
          </a:prstGeom>
        </p:spPr>
        <p:txBody>
          <a:bodyPr lIns="0" tIns="0" rIns="0" bIns="0" rtlCol="0" anchor="t">
            <a:spAutoFit/>
          </a:bodyPr>
          <a:lstStyle/>
          <a:p>
            <a:pPr>
              <a:lnSpc>
                <a:spcPts val="1437"/>
              </a:lnSpc>
            </a:pPr>
            <a:r>
              <a:rPr lang="en-US" sz="1200" dirty="0">
                <a:solidFill>
                  <a:srgbClr val="4C4C4D"/>
                </a:solidFill>
                <a:latin typeface="Cambria" panose="02040503050406030204" pitchFamily="18" charset="0"/>
                <a:ea typeface="Heebo"/>
                <a:cs typeface="Heebo"/>
                <a:sym typeface="Heebo"/>
              </a:rPr>
              <a:t>All evidence for a case is stored on the same physical replica, enabling fast queries without cross-partition scatter [1].</a:t>
            </a:r>
          </a:p>
        </p:txBody>
      </p:sp>
      <p:grpSp>
        <p:nvGrpSpPr>
          <p:cNvPr id="20" name="Group 20"/>
          <p:cNvGrpSpPr/>
          <p:nvPr/>
        </p:nvGrpSpPr>
        <p:grpSpPr>
          <a:xfrm>
            <a:off x="830161" y="4324645"/>
            <a:ext cx="8125863" cy="76200"/>
            <a:chOff x="0" y="0"/>
            <a:chExt cx="10834484" cy="101600"/>
          </a:xfrm>
          <a:solidFill>
            <a:schemeClr val="bg1">
              <a:lumMod val="75000"/>
            </a:schemeClr>
          </a:solidFill>
        </p:grpSpPr>
        <p:sp>
          <p:nvSpPr>
            <p:cNvPr id="21" name="Freeform 21"/>
            <p:cNvSpPr/>
            <p:nvPr/>
          </p:nvSpPr>
          <p:spPr>
            <a:xfrm>
              <a:off x="0" y="0"/>
              <a:ext cx="10834497" cy="101600"/>
            </a:xfrm>
            <a:custGeom>
              <a:avLst/>
              <a:gdLst/>
              <a:ahLst/>
              <a:cxnLst/>
              <a:rect l="l" t="t" r="r" b="b"/>
              <a:pathLst>
                <a:path w="10834497" h="101600">
                  <a:moveTo>
                    <a:pt x="0" y="30861"/>
                  </a:moveTo>
                  <a:cubicBezTo>
                    <a:pt x="0" y="13843"/>
                    <a:pt x="13843" y="0"/>
                    <a:pt x="30861" y="0"/>
                  </a:cubicBezTo>
                  <a:lnTo>
                    <a:pt x="10803636" y="0"/>
                  </a:lnTo>
                  <a:cubicBezTo>
                    <a:pt x="10820654" y="0"/>
                    <a:pt x="10834497" y="13843"/>
                    <a:pt x="10834497" y="30861"/>
                  </a:cubicBezTo>
                  <a:lnTo>
                    <a:pt x="10834497" y="70739"/>
                  </a:lnTo>
                  <a:cubicBezTo>
                    <a:pt x="10834497" y="87757"/>
                    <a:pt x="10820654" y="101600"/>
                    <a:pt x="10803636" y="101600"/>
                  </a:cubicBezTo>
                  <a:lnTo>
                    <a:pt x="30861" y="101600"/>
                  </a:lnTo>
                  <a:cubicBezTo>
                    <a:pt x="13843" y="101600"/>
                    <a:pt x="0" y="87757"/>
                    <a:pt x="0" y="70739"/>
                  </a:cubicBezTo>
                  <a:close/>
                </a:path>
              </a:pathLst>
            </a:custGeom>
            <a:grpFill/>
          </p:spPr>
          <p:txBody>
            <a:bodyPr/>
            <a:lstStyle/>
            <a:p>
              <a:endParaRPr lang="en-US">
                <a:latin typeface="Cambria" panose="02040503050406030204" pitchFamily="18" charset="0"/>
              </a:endParaRPr>
            </a:p>
          </p:txBody>
        </p:sp>
      </p:grpSp>
      <p:grpSp>
        <p:nvGrpSpPr>
          <p:cNvPr id="22" name="Group 22"/>
          <p:cNvGrpSpPr/>
          <p:nvPr/>
        </p:nvGrpSpPr>
        <p:grpSpPr>
          <a:xfrm>
            <a:off x="4661821" y="4112571"/>
            <a:ext cx="462410" cy="462410"/>
            <a:chOff x="0" y="0"/>
            <a:chExt cx="616547" cy="616547"/>
          </a:xfrm>
          <a:solidFill>
            <a:schemeClr val="bg1">
              <a:lumMod val="75000"/>
            </a:schemeClr>
          </a:solidFill>
        </p:grpSpPr>
        <p:sp>
          <p:nvSpPr>
            <p:cNvPr id="23" name="Freeform 23"/>
            <p:cNvSpPr/>
            <p:nvPr/>
          </p:nvSpPr>
          <p:spPr>
            <a:xfrm>
              <a:off x="0" y="0"/>
              <a:ext cx="616585" cy="616585"/>
            </a:xfrm>
            <a:custGeom>
              <a:avLst/>
              <a:gdLst/>
              <a:ahLst/>
              <a:cxnLst/>
              <a:rect l="l" t="t" r="r" b="b"/>
              <a:pathLst>
                <a:path w="616585" h="616585">
                  <a:moveTo>
                    <a:pt x="0" y="308229"/>
                  </a:moveTo>
                  <a:cubicBezTo>
                    <a:pt x="0" y="138049"/>
                    <a:pt x="138049" y="0"/>
                    <a:pt x="308229" y="0"/>
                  </a:cubicBezTo>
                  <a:cubicBezTo>
                    <a:pt x="478409" y="0"/>
                    <a:pt x="616585" y="138049"/>
                    <a:pt x="616585" y="308229"/>
                  </a:cubicBezTo>
                  <a:cubicBezTo>
                    <a:pt x="616585" y="478409"/>
                    <a:pt x="478536" y="616585"/>
                    <a:pt x="308229" y="616585"/>
                  </a:cubicBezTo>
                  <a:cubicBezTo>
                    <a:pt x="137922" y="616585"/>
                    <a:pt x="0" y="478536"/>
                    <a:pt x="0" y="308229"/>
                  </a:cubicBezTo>
                  <a:close/>
                </a:path>
              </a:pathLst>
            </a:custGeom>
            <a:grpFill/>
          </p:spPr>
          <p:txBody>
            <a:bodyPr/>
            <a:lstStyle/>
            <a:p>
              <a:endParaRPr lang="en-US">
                <a:latin typeface="Cambria" panose="02040503050406030204" pitchFamily="18" charset="0"/>
              </a:endParaRPr>
            </a:p>
          </p:txBody>
        </p:sp>
      </p:grpSp>
      <p:sp>
        <p:nvSpPr>
          <p:cNvPr id="24" name="TextBox 24"/>
          <p:cNvSpPr txBox="1"/>
          <p:nvPr/>
        </p:nvSpPr>
        <p:spPr>
          <a:xfrm>
            <a:off x="4800524" y="4218680"/>
            <a:ext cx="184995" cy="215059"/>
          </a:xfrm>
          <a:prstGeom prst="rect">
            <a:avLst/>
          </a:prstGeom>
        </p:spPr>
        <p:txBody>
          <a:bodyPr lIns="0" tIns="0" rIns="0" bIns="0" rtlCol="0" anchor="t">
            <a:spAutoFit/>
          </a:bodyPr>
          <a:lstStyle/>
          <a:p>
            <a:pPr algn="l">
              <a:lnSpc>
                <a:spcPts val="1750"/>
              </a:lnSpc>
            </a:pPr>
            <a:r>
              <a:rPr lang="en-US" sz="1437" b="1">
                <a:solidFill>
                  <a:srgbClr val="FFFFFF"/>
                </a:solidFill>
                <a:latin typeface="Cambria" panose="02040503050406030204" pitchFamily="18" charset="0"/>
                <a:ea typeface="Crimson Pro Bold"/>
                <a:cs typeface="Crimson Pro Bold"/>
                <a:sym typeface="Crimson Pro Bold"/>
              </a:rPr>
              <a:t>2</a:t>
            </a:r>
          </a:p>
        </p:txBody>
      </p:sp>
      <p:sp>
        <p:nvSpPr>
          <p:cNvPr id="25" name="TextBox 25"/>
          <p:cNvSpPr txBox="1"/>
          <p:nvPr/>
        </p:nvSpPr>
        <p:spPr>
          <a:xfrm>
            <a:off x="1003249" y="4719486"/>
            <a:ext cx="7943260" cy="226537"/>
          </a:xfrm>
          <a:prstGeom prst="rect">
            <a:avLst/>
          </a:prstGeom>
        </p:spPr>
        <p:txBody>
          <a:bodyPr wrap="square" lIns="0" tIns="0" rIns="0" bIns="0" rtlCol="0" anchor="t">
            <a:spAutoFit/>
          </a:bodyPr>
          <a:lstStyle/>
          <a:p>
            <a:pPr algn="l">
              <a:lnSpc>
                <a:spcPts val="1874"/>
              </a:lnSpc>
            </a:pPr>
            <a:r>
              <a:rPr lang="en-US" sz="1500" b="1" dirty="0">
                <a:solidFill>
                  <a:srgbClr val="4C4C4D"/>
                </a:solidFill>
                <a:latin typeface="Cambria" panose="02040503050406030204" pitchFamily="18" charset="0"/>
                <a:ea typeface="Crimson Pro Bold"/>
                <a:cs typeface="Crimson Pro Bold"/>
                <a:sym typeface="Crimson Pro Bold"/>
              </a:rPr>
              <a:t>Flexible Schema</a:t>
            </a:r>
          </a:p>
        </p:txBody>
      </p:sp>
      <p:sp>
        <p:nvSpPr>
          <p:cNvPr id="26" name="TextBox 26"/>
          <p:cNvSpPr txBox="1"/>
          <p:nvPr/>
        </p:nvSpPr>
        <p:spPr>
          <a:xfrm>
            <a:off x="1003249" y="5044078"/>
            <a:ext cx="7779696" cy="179536"/>
          </a:xfrm>
          <a:prstGeom prst="rect">
            <a:avLst/>
          </a:prstGeom>
        </p:spPr>
        <p:txBody>
          <a:bodyPr lIns="0" tIns="0" rIns="0" bIns="0" rtlCol="0" anchor="t">
            <a:spAutoFit/>
          </a:bodyPr>
          <a:lstStyle/>
          <a:p>
            <a:pPr>
              <a:lnSpc>
                <a:spcPts val="1437"/>
              </a:lnSpc>
            </a:pPr>
            <a:r>
              <a:rPr lang="en-US" sz="1200" dirty="0">
                <a:solidFill>
                  <a:srgbClr val="4C4C4D"/>
                </a:solidFill>
                <a:latin typeface="Cambria" panose="02040503050406030204" pitchFamily="18" charset="0"/>
                <a:ea typeface="Heebo"/>
                <a:cs typeface="Heebo"/>
                <a:sym typeface="Heebo"/>
              </a:rPr>
              <a:t>No ALTER TABLE operations needed. Each evidence type (video, PCAP, screenshot) carries only its relevant fields [17].</a:t>
            </a:r>
          </a:p>
        </p:txBody>
      </p:sp>
      <p:grpSp>
        <p:nvGrpSpPr>
          <p:cNvPr id="29" name="Group 29"/>
          <p:cNvGrpSpPr/>
          <p:nvPr/>
        </p:nvGrpSpPr>
        <p:grpSpPr>
          <a:xfrm>
            <a:off x="830161" y="5712914"/>
            <a:ext cx="8125863" cy="76200"/>
            <a:chOff x="0" y="0"/>
            <a:chExt cx="10834484" cy="101600"/>
          </a:xfrm>
          <a:solidFill>
            <a:schemeClr val="bg1">
              <a:lumMod val="75000"/>
            </a:schemeClr>
          </a:solidFill>
        </p:grpSpPr>
        <p:sp>
          <p:nvSpPr>
            <p:cNvPr id="30" name="Freeform 30"/>
            <p:cNvSpPr/>
            <p:nvPr/>
          </p:nvSpPr>
          <p:spPr>
            <a:xfrm>
              <a:off x="0" y="0"/>
              <a:ext cx="10834497" cy="101600"/>
            </a:xfrm>
            <a:custGeom>
              <a:avLst/>
              <a:gdLst/>
              <a:ahLst/>
              <a:cxnLst/>
              <a:rect l="l" t="t" r="r" b="b"/>
              <a:pathLst>
                <a:path w="10834497" h="101600">
                  <a:moveTo>
                    <a:pt x="0" y="30861"/>
                  </a:moveTo>
                  <a:cubicBezTo>
                    <a:pt x="0" y="13843"/>
                    <a:pt x="13843" y="0"/>
                    <a:pt x="30861" y="0"/>
                  </a:cubicBezTo>
                  <a:lnTo>
                    <a:pt x="10803636" y="0"/>
                  </a:lnTo>
                  <a:cubicBezTo>
                    <a:pt x="10820654" y="0"/>
                    <a:pt x="10834497" y="13843"/>
                    <a:pt x="10834497" y="30861"/>
                  </a:cubicBezTo>
                  <a:lnTo>
                    <a:pt x="10834497" y="70739"/>
                  </a:lnTo>
                  <a:cubicBezTo>
                    <a:pt x="10834497" y="87757"/>
                    <a:pt x="10820654" y="101600"/>
                    <a:pt x="10803636" y="101600"/>
                  </a:cubicBezTo>
                  <a:lnTo>
                    <a:pt x="30861" y="101600"/>
                  </a:lnTo>
                  <a:cubicBezTo>
                    <a:pt x="13843" y="101600"/>
                    <a:pt x="0" y="87757"/>
                    <a:pt x="0" y="70739"/>
                  </a:cubicBezTo>
                  <a:close/>
                </a:path>
              </a:pathLst>
            </a:custGeom>
            <a:grpFill/>
          </p:spPr>
          <p:txBody>
            <a:bodyPr/>
            <a:lstStyle/>
            <a:p>
              <a:endParaRPr lang="en-US">
                <a:latin typeface="Cambria" panose="02040503050406030204" pitchFamily="18" charset="0"/>
              </a:endParaRPr>
            </a:p>
          </p:txBody>
        </p:sp>
      </p:grpSp>
      <p:grpSp>
        <p:nvGrpSpPr>
          <p:cNvPr id="31" name="Group 31"/>
          <p:cNvGrpSpPr/>
          <p:nvPr/>
        </p:nvGrpSpPr>
        <p:grpSpPr>
          <a:xfrm>
            <a:off x="4661821" y="5500840"/>
            <a:ext cx="462410" cy="462410"/>
            <a:chOff x="0" y="0"/>
            <a:chExt cx="616547" cy="616547"/>
          </a:xfrm>
          <a:solidFill>
            <a:schemeClr val="bg1">
              <a:lumMod val="75000"/>
            </a:schemeClr>
          </a:solidFill>
        </p:grpSpPr>
        <p:sp>
          <p:nvSpPr>
            <p:cNvPr id="32" name="Freeform 32"/>
            <p:cNvSpPr/>
            <p:nvPr/>
          </p:nvSpPr>
          <p:spPr>
            <a:xfrm>
              <a:off x="0" y="0"/>
              <a:ext cx="616585" cy="616585"/>
            </a:xfrm>
            <a:custGeom>
              <a:avLst/>
              <a:gdLst/>
              <a:ahLst/>
              <a:cxnLst/>
              <a:rect l="l" t="t" r="r" b="b"/>
              <a:pathLst>
                <a:path w="616585" h="616585">
                  <a:moveTo>
                    <a:pt x="0" y="308229"/>
                  </a:moveTo>
                  <a:cubicBezTo>
                    <a:pt x="0" y="138049"/>
                    <a:pt x="138049" y="0"/>
                    <a:pt x="308229" y="0"/>
                  </a:cubicBezTo>
                  <a:cubicBezTo>
                    <a:pt x="478409" y="0"/>
                    <a:pt x="616585" y="138049"/>
                    <a:pt x="616585" y="308229"/>
                  </a:cubicBezTo>
                  <a:cubicBezTo>
                    <a:pt x="616585" y="478409"/>
                    <a:pt x="478536" y="616585"/>
                    <a:pt x="308229" y="616585"/>
                  </a:cubicBezTo>
                  <a:cubicBezTo>
                    <a:pt x="137922" y="616585"/>
                    <a:pt x="0" y="478536"/>
                    <a:pt x="0" y="308229"/>
                  </a:cubicBezTo>
                  <a:close/>
                </a:path>
              </a:pathLst>
            </a:custGeom>
            <a:grpFill/>
          </p:spPr>
          <p:txBody>
            <a:bodyPr/>
            <a:lstStyle/>
            <a:p>
              <a:endParaRPr lang="en-US">
                <a:latin typeface="Cambria" panose="02040503050406030204" pitchFamily="18" charset="0"/>
              </a:endParaRPr>
            </a:p>
          </p:txBody>
        </p:sp>
      </p:grpSp>
      <p:sp>
        <p:nvSpPr>
          <p:cNvPr id="33" name="TextBox 33"/>
          <p:cNvSpPr txBox="1"/>
          <p:nvPr/>
        </p:nvSpPr>
        <p:spPr>
          <a:xfrm>
            <a:off x="4800524" y="5606948"/>
            <a:ext cx="184995" cy="215059"/>
          </a:xfrm>
          <a:prstGeom prst="rect">
            <a:avLst/>
          </a:prstGeom>
        </p:spPr>
        <p:txBody>
          <a:bodyPr lIns="0" tIns="0" rIns="0" bIns="0" rtlCol="0" anchor="t">
            <a:spAutoFit/>
          </a:bodyPr>
          <a:lstStyle/>
          <a:p>
            <a:pPr algn="l">
              <a:lnSpc>
                <a:spcPts val="1750"/>
              </a:lnSpc>
            </a:pPr>
            <a:r>
              <a:rPr lang="en-US" sz="1437" b="1">
                <a:solidFill>
                  <a:srgbClr val="FFFFFF"/>
                </a:solidFill>
                <a:latin typeface="Cambria" panose="02040503050406030204" pitchFamily="18" charset="0"/>
                <a:ea typeface="Crimson Pro Bold"/>
                <a:cs typeface="Crimson Pro Bold"/>
                <a:sym typeface="Crimson Pro Bold"/>
              </a:rPr>
              <a:t>3</a:t>
            </a:r>
          </a:p>
        </p:txBody>
      </p:sp>
      <p:sp>
        <p:nvSpPr>
          <p:cNvPr id="34" name="TextBox 34"/>
          <p:cNvSpPr txBox="1"/>
          <p:nvPr/>
        </p:nvSpPr>
        <p:spPr>
          <a:xfrm>
            <a:off x="1003249" y="6107754"/>
            <a:ext cx="7943260" cy="226537"/>
          </a:xfrm>
          <a:prstGeom prst="rect">
            <a:avLst/>
          </a:prstGeom>
        </p:spPr>
        <p:txBody>
          <a:bodyPr wrap="square" lIns="0" tIns="0" rIns="0" bIns="0" rtlCol="0" anchor="t">
            <a:spAutoFit/>
          </a:bodyPr>
          <a:lstStyle/>
          <a:p>
            <a:pPr algn="l">
              <a:lnSpc>
                <a:spcPts val="1874"/>
              </a:lnSpc>
            </a:pPr>
            <a:r>
              <a:rPr lang="en-US" sz="1500" b="1" dirty="0">
                <a:solidFill>
                  <a:srgbClr val="4C4C4D"/>
                </a:solidFill>
                <a:latin typeface="Cambria" panose="02040503050406030204" pitchFamily="18" charset="0"/>
                <a:ea typeface="Crimson Pro Bold"/>
                <a:cs typeface="Crimson Pro Bold"/>
                <a:sym typeface="Crimson Pro Bold"/>
              </a:rPr>
              <a:t>Arrays &amp; Nested Docs</a:t>
            </a:r>
          </a:p>
        </p:txBody>
      </p:sp>
      <p:sp>
        <p:nvSpPr>
          <p:cNvPr id="35" name="TextBox 35"/>
          <p:cNvSpPr txBox="1"/>
          <p:nvPr/>
        </p:nvSpPr>
        <p:spPr>
          <a:xfrm>
            <a:off x="1003249" y="6432347"/>
            <a:ext cx="7779696" cy="359073"/>
          </a:xfrm>
          <a:prstGeom prst="rect">
            <a:avLst/>
          </a:prstGeom>
        </p:spPr>
        <p:txBody>
          <a:bodyPr lIns="0" tIns="0" rIns="0" bIns="0" rtlCol="0" anchor="t">
            <a:spAutoFit/>
          </a:bodyPr>
          <a:lstStyle/>
          <a:p>
            <a:pPr algn="l">
              <a:lnSpc>
                <a:spcPts val="1437"/>
              </a:lnSpc>
            </a:pPr>
            <a:r>
              <a:rPr lang="en-US" sz="1200" dirty="0">
                <a:solidFill>
                  <a:srgbClr val="4C4C4D"/>
                </a:solidFill>
                <a:latin typeface="Cambria" panose="02040503050406030204" pitchFamily="18" charset="0"/>
                <a:ea typeface="Heebo"/>
                <a:cs typeface="Heebo"/>
                <a:sym typeface="Heebo"/>
              </a:rPr>
              <a:t>Tags as arrays: ["</a:t>
            </a:r>
            <a:r>
              <a:rPr lang="en-US" sz="1200" dirty="0" err="1">
                <a:solidFill>
                  <a:srgbClr val="4C4C4D"/>
                </a:solidFill>
                <a:latin typeface="Cambria" panose="02040503050406030204" pitchFamily="18" charset="0"/>
                <a:ea typeface="Heebo"/>
                <a:cs typeface="Heebo"/>
                <a:sym typeface="Heebo"/>
              </a:rPr>
              <a:t>ransomware","APT</a:t>
            </a:r>
            <a:r>
              <a:rPr lang="en-US" sz="1200" dirty="0">
                <a:solidFill>
                  <a:srgbClr val="4C4C4D"/>
                </a:solidFill>
                <a:latin typeface="Cambria" panose="02040503050406030204" pitchFamily="18" charset="0"/>
                <a:ea typeface="Heebo"/>
                <a:cs typeface="Heebo"/>
                <a:sym typeface="Heebo"/>
              </a:rPr>
              <a:t>"]. Severity as nested object: {</a:t>
            </a:r>
            <a:r>
              <a:rPr lang="en-US" sz="1200" dirty="0" err="1">
                <a:solidFill>
                  <a:srgbClr val="4C4C4D"/>
                </a:solidFill>
                <a:latin typeface="Cambria" panose="02040503050406030204" pitchFamily="18" charset="0"/>
                <a:ea typeface="Heebo"/>
                <a:cs typeface="Heebo"/>
                <a:sym typeface="Heebo"/>
              </a:rPr>
              <a:t>cvss</a:t>
            </a:r>
            <a:r>
              <a:rPr lang="en-US" sz="1200" dirty="0">
                <a:solidFill>
                  <a:srgbClr val="4C4C4D"/>
                </a:solidFill>
                <a:latin typeface="Cambria" panose="02040503050406030204" pitchFamily="18" charset="0"/>
                <a:ea typeface="Heebo"/>
                <a:cs typeface="Heebo"/>
                <a:sym typeface="Heebo"/>
              </a:rPr>
              <a:t>, label} — impossible in rigid SQL without extra tables.</a:t>
            </a:r>
          </a:p>
        </p:txBody>
      </p:sp>
      <p:grpSp>
        <p:nvGrpSpPr>
          <p:cNvPr id="36" name="Group 36"/>
          <p:cNvGrpSpPr/>
          <p:nvPr/>
        </p:nvGrpSpPr>
        <p:grpSpPr>
          <a:xfrm>
            <a:off x="830161" y="7176345"/>
            <a:ext cx="8125863" cy="28727"/>
            <a:chOff x="0" y="0"/>
            <a:chExt cx="10834484" cy="38303"/>
          </a:xfrm>
        </p:grpSpPr>
        <p:sp>
          <p:nvSpPr>
            <p:cNvPr id="37" name="Freeform 37"/>
            <p:cNvSpPr/>
            <p:nvPr/>
          </p:nvSpPr>
          <p:spPr>
            <a:xfrm>
              <a:off x="0" y="0"/>
              <a:ext cx="10834497" cy="38354"/>
            </a:xfrm>
            <a:custGeom>
              <a:avLst/>
              <a:gdLst/>
              <a:ahLst/>
              <a:cxnLst/>
              <a:rect l="l" t="t" r="r" b="b"/>
              <a:pathLst>
                <a:path w="10834497" h="38354">
                  <a:moveTo>
                    <a:pt x="0" y="0"/>
                  </a:moveTo>
                  <a:lnTo>
                    <a:pt x="10834497" y="0"/>
                  </a:lnTo>
                  <a:lnTo>
                    <a:pt x="10834497" y="38354"/>
                  </a:lnTo>
                  <a:lnTo>
                    <a:pt x="0" y="38354"/>
                  </a:lnTo>
                  <a:close/>
                </a:path>
              </a:pathLst>
            </a:custGeom>
            <a:solidFill>
              <a:srgbClr val="4C4C4D">
                <a:alpha val="24706"/>
              </a:srgbClr>
            </a:solidFill>
          </p:spPr>
          <p:txBody>
            <a:bodyPr/>
            <a:lstStyle/>
            <a:p>
              <a:endParaRPr lang="en-US">
                <a:latin typeface="Cambria" panose="02040503050406030204" pitchFamily="18" charset="0"/>
              </a:endParaRPr>
            </a:p>
          </p:txBody>
        </p:sp>
      </p:grpSp>
      <p:sp>
        <p:nvSpPr>
          <p:cNvPr id="38" name="TextBox 38"/>
          <p:cNvSpPr txBox="1"/>
          <p:nvPr/>
        </p:nvSpPr>
        <p:spPr>
          <a:xfrm>
            <a:off x="830160" y="7289597"/>
            <a:ext cx="8116349" cy="226537"/>
          </a:xfrm>
          <a:prstGeom prst="rect">
            <a:avLst/>
          </a:prstGeom>
        </p:spPr>
        <p:txBody>
          <a:bodyPr wrap="square" lIns="0" tIns="0" rIns="0" bIns="0" rtlCol="0" anchor="t">
            <a:spAutoFit/>
          </a:bodyPr>
          <a:lstStyle/>
          <a:p>
            <a:pPr algn="l">
              <a:lnSpc>
                <a:spcPts val="1874"/>
              </a:lnSpc>
            </a:pPr>
            <a:r>
              <a:rPr lang="en-US" sz="1500" b="1" dirty="0">
                <a:solidFill>
                  <a:srgbClr val="152D47"/>
                </a:solidFill>
                <a:latin typeface="Cambria" panose="02040503050406030204" pitchFamily="18" charset="0"/>
                <a:ea typeface="Crimson Pro Bold"/>
                <a:cs typeface="Crimson Pro Bold"/>
                <a:sym typeface="Crimson Pro Bold"/>
              </a:rPr>
              <a:t>SQL to Cosmos DB Mapping</a:t>
            </a:r>
          </a:p>
        </p:txBody>
      </p:sp>
      <p:grpSp>
        <p:nvGrpSpPr>
          <p:cNvPr id="39" name="Group 39"/>
          <p:cNvGrpSpPr/>
          <p:nvPr/>
        </p:nvGrpSpPr>
        <p:grpSpPr>
          <a:xfrm>
            <a:off x="825398" y="7629373"/>
            <a:ext cx="8135388" cy="1577130"/>
            <a:chOff x="0" y="0"/>
            <a:chExt cx="10847184" cy="2102841"/>
          </a:xfrm>
        </p:grpSpPr>
        <p:sp>
          <p:nvSpPr>
            <p:cNvPr id="40" name="Freeform 40"/>
            <p:cNvSpPr/>
            <p:nvPr/>
          </p:nvSpPr>
          <p:spPr>
            <a:xfrm>
              <a:off x="0" y="0"/>
              <a:ext cx="10847197" cy="2102866"/>
            </a:xfrm>
            <a:custGeom>
              <a:avLst/>
              <a:gdLst/>
              <a:ahLst/>
              <a:cxnLst/>
              <a:rect l="l" t="t" r="r" b="b"/>
              <a:pathLst>
                <a:path w="10847197" h="2102866">
                  <a:moveTo>
                    <a:pt x="0" y="37211"/>
                  </a:moveTo>
                  <a:cubicBezTo>
                    <a:pt x="0" y="16637"/>
                    <a:pt x="16764" y="0"/>
                    <a:pt x="37338" y="0"/>
                  </a:cubicBezTo>
                  <a:lnTo>
                    <a:pt x="10809859" y="0"/>
                  </a:lnTo>
                  <a:lnTo>
                    <a:pt x="10809859" y="6350"/>
                  </a:lnTo>
                  <a:lnTo>
                    <a:pt x="10809859" y="0"/>
                  </a:lnTo>
                  <a:cubicBezTo>
                    <a:pt x="10830433" y="0"/>
                    <a:pt x="10847197" y="16637"/>
                    <a:pt x="10847197" y="37211"/>
                  </a:cubicBezTo>
                  <a:lnTo>
                    <a:pt x="10840847" y="37211"/>
                  </a:lnTo>
                  <a:lnTo>
                    <a:pt x="10847197" y="37211"/>
                  </a:lnTo>
                  <a:lnTo>
                    <a:pt x="10847197" y="2065655"/>
                  </a:lnTo>
                  <a:lnTo>
                    <a:pt x="10840847" y="2065655"/>
                  </a:lnTo>
                  <a:lnTo>
                    <a:pt x="10847197" y="2065655"/>
                  </a:lnTo>
                  <a:cubicBezTo>
                    <a:pt x="10847197" y="2086229"/>
                    <a:pt x="10830433" y="2102866"/>
                    <a:pt x="10809859" y="2102866"/>
                  </a:cubicBezTo>
                  <a:lnTo>
                    <a:pt x="10809859" y="2096516"/>
                  </a:lnTo>
                  <a:lnTo>
                    <a:pt x="10809859" y="2102866"/>
                  </a:lnTo>
                  <a:lnTo>
                    <a:pt x="37338" y="2102866"/>
                  </a:lnTo>
                  <a:lnTo>
                    <a:pt x="37338" y="2096516"/>
                  </a:lnTo>
                  <a:lnTo>
                    <a:pt x="37338" y="2102866"/>
                  </a:lnTo>
                  <a:cubicBezTo>
                    <a:pt x="16764" y="2102866"/>
                    <a:pt x="0" y="2086229"/>
                    <a:pt x="0" y="2065655"/>
                  </a:cubicBezTo>
                  <a:lnTo>
                    <a:pt x="0" y="37211"/>
                  </a:lnTo>
                  <a:lnTo>
                    <a:pt x="6350" y="37211"/>
                  </a:lnTo>
                  <a:lnTo>
                    <a:pt x="0" y="37211"/>
                  </a:lnTo>
                  <a:moveTo>
                    <a:pt x="12700" y="37211"/>
                  </a:moveTo>
                  <a:lnTo>
                    <a:pt x="12700" y="2065655"/>
                  </a:lnTo>
                  <a:lnTo>
                    <a:pt x="6350" y="2065655"/>
                  </a:lnTo>
                  <a:lnTo>
                    <a:pt x="12700" y="2065655"/>
                  </a:lnTo>
                  <a:cubicBezTo>
                    <a:pt x="12700" y="2079117"/>
                    <a:pt x="23749" y="2090166"/>
                    <a:pt x="37338" y="2090166"/>
                  </a:cubicBezTo>
                  <a:lnTo>
                    <a:pt x="10809859" y="2090166"/>
                  </a:lnTo>
                  <a:cubicBezTo>
                    <a:pt x="10823448" y="2090166"/>
                    <a:pt x="10834497" y="2079117"/>
                    <a:pt x="10834497" y="2065655"/>
                  </a:cubicBezTo>
                  <a:lnTo>
                    <a:pt x="10834497" y="37211"/>
                  </a:lnTo>
                  <a:cubicBezTo>
                    <a:pt x="10834497" y="23749"/>
                    <a:pt x="10823448" y="12700"/>
                    <a:pt x="10809859" y="12700"/>
                  </a:cubicBezTo>
                  <a:lnTo>
                    <a:pt x="37338" y="12700"/>
                  </a:lnTo>
                  <a:lnTo>
                    <a:pt x="37338" y="6350"/>
                  </a:lnTo>
                  <a:lnTo>
                    <a:pt x="37338" y="12700"/>
                  </a:lnTo>
                  <a:cubicBezTo>
                    <a:pt x="23749" y="12700"/>
                    <a:pt x="12700" y="23749"/>
                    <a:pt x="12700" y="37211"/>
                  </a:cubicBezTo>
                  <a:close/>
                </a:path>
              </a:pathLst>
            </a:custGeom>
            <a:solidFill>
              <a:srgbClr val="000000">
                <a:alpha val="392"/>
              </a:srgbClr>
            </a:solidFill>
          </p:spPr>
          <p:txBody>
            <a:bodyPr/>
            <a:lstStyle/>
            <a:p>
              <a:endParaRPr lang="en-US">
                <a:latin typeface="Cambria" panose="02040503050406030204" pitchFamily="18" charset="0"/>
              </a:endParaRPr>
            </a:p>
          </p:txBody>
        </p:sp>
      </p:grpSp>
      <p:sp>
        <p:nvSpPr>
          <p:cNvPr id="43" name="TextBox 43"/>
          <p:cNvSpPr txBox="1"/>
          <p:nvPr/>
        </p:nvSpPr>
        <p:spPr>
          <a:xfrm>
            <a:off x="993877" y="7693819"/>
            <a:ext cx="3740496" cy="179536"/>
          </a:xfrm>
          <a:prstGeom prst="rect">
            <a:avLst/>
          </a:prstGeom>
        </p:spPr>
        <p:txBody>
          <a:bodyPr lIns="0" tIns="0" rIns="0" bIns="0" rtlCol="0" anchor="t">
            <a:spAutoFit/>
          </a:bodyPr>
          <a:lstStyle/>
          <a:p>
            <a:pPr algn="l">
              <a:lnSpc>
                <a:spcPts val="1437"/>
              </a:lnSpc>
            </a:pPr>
            <a:r>
              <a:rPr lang="en-US" sz="1187" b="1" dirty="0">
                <a:solidFill>
                  <a:srgbClr val="4C4C4D"/>
                </a:solidFill>
                <a:latin typeface="Cambria" panose="02040503050406030204" pitchFamily="18" charset="0"/>
                <a:ea typeface="Heebo Bold"/>
                <a:cs typeface="Heebo Bold"/>
                <a:sym typeface="Heebo Bold"/>
              </a:rPr>
              <a:t>SQL Concept</a:t>
            </a:r>
          </a:p>
        </p:txBody>
      </p:sp>
      <p:sp>
        <p:nvSpPr>
          <p:cNvPr id="44" name="TextBox 44"/>
          <p:cNvSpPr txBox="1"/>
          <p:nvPr/>
        </p:nvSpPr>
        <p:spPr>
          <a:xfrm>
            <a:off x="5051974" y="7693819"/>
            <a:ext cx="3740496" cy="179536"/>
          </a:xfrm>
          <a:prstGeom prst="rect">
            <a:avLst/>
          </a:prstGeom>
        </p:spPr>
        <p:txBody>
          <a:bodyPr lIns="0" tIns="0" rIns="0" bIns="0" rtlCol="0" anchor="t">
            <a:spAutoFit/>
          </a:bodyPr>
          <a:lstStyle/>
          <a:p>
            <a:pPr algn="l">
              <a:lnSpc>
                <a:spcPts val="1437"/>
              </a:lnSpc>
            </a:pPr>
            <a:r>
              <a:rPr lang="en-US" sz="1187" b="1" dirty="0">
                <a:solidFill>
                  <a:srgbClr val="4C4C4D"/>
                </a:solidFill>
                <a:latin typeface="Cambria" panose="02040503050406030204" pitchFamily="18" charset="0"/>
                <a:ea typeface="Heebo Bold"/>
                <a:cs typeface="Heebo Bold"/>
                <a:sym typeface="Heebo Bold"/>
              </a:rPr>
              <a:t>Cosmos DB Equivalent</a:t>
            </a:r>
          </a:p>
        </p:txBody>
      </p:sp>
      <p:sp>
        <p:nvSpPr>
          <p:cNvPr id="47" name="TextBox 47"/>
          <p:cNvSpPr txBox="1"/>
          <p:nvPr/>
        </p:nvSpPr>
        <p:spPr>
          <a:xfrm>
            <a:off x="993877" y="8003534"/>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Database</a:t>
            </a:r>
          </a:p>
        </p:txBody>
      </p:sp>
      <p:sp>
        <p:nvSpPr>
          <p:cNvPr id="48" name="TextBox 48"/>
          <p:cNvSpPr txBox="1"/>
          <p:nvPr/>
        </p:nvSpPr>
        <p:spPr>
          <a:xfrm>
            <a:off x="5051974" y="8003534"/>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Database</a:t>
            </a:r>
          </a:p>
        </p:txBody>
      </p:sp>
      <p:sp>
        <p:nvSpPr>
          <p:cNvPr id="51" name="TextBox 51"/>
          <p:cNvSpPr txBox="1"/>
          <p:nvPr/>
        </p:nvSpPr>
        <p:spPr>
          <a:xfrm>
            <a:off x="993877" y="8313239"/>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Table</a:t>
            </a:r>
          </a:p>
        </p:txBody>
      </p:sp>
      <p:sp>
        <p:nvSpPr>
          <p:cNvPr id="52" name="TextBox 52"/>
          <p:cNvSpPr txBox="1"/>
          <p:nvPr/>
        </p:nvSpPr>
        <p:spPr>
          <a:xfrm>
            <a:off x="5051974" y="8313239"/>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Collection</a:t>
            </a:r>
          </a:p>
        </p:txBody>
      </p:sp>
      <p:sp>
        <p:nvSpPr>
          <p:cNvPr id="55" name="TextBox 55"/>
          <p:cNvSpPr txBox="1"/>
          <p:nvPr/>
        </p:nvSpPr>
        <p:spPr>
          <a:xfrm>
            <a:off x="993877" y="8622954"/>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Row</a:t>
            </a:r>
          </a:p>
        </p:txBody>
      </p:sp>
      <p:sp>
        <p:nvSpPr>
          <p:cNvPr id="56" name="TextBox 56"/>
          <p:cNvSpPr txBox="1"/>
          <p:nvPr/>
        </p:nvSpPr>
        <p:spPr>
          <a:xfrm>
            <a:off x="5051974" y="8622954"/>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Document</a:t>
            </a:r>
          </a:p>
        </p:txBody>
      </p:sp>
      <p:sp>
        <p:nvSpPr>
          <p:cNvPr id="59" name="TextBox 59"/>
          <p:cNvSpPr txBox="1"/>
          <p:nvPr/>
        </p:nvSpPr>
        <p:spPr>
          <a:xfrm>
            <a:off x="993877" y="8932659"/>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Column</a:t>
            </a:r>
          </a:p>
        </p:txBody>
      </p:sp>
      <p:sp>
        <p:nvSpPr>
          <p:cNvPr id="60" name="TextBox 60"/>
          <p:cNvSpPr txBox="1"/>
          <p:nvPr/>
        </p:nvSpPr>
        <p:spPr>
          <a:xfrm>
            <a:off x="5051974" y="8932659"/>
            <a:ext cx="3740496" cy="179536"/>
          </a:xfrm>
          <a:prstGeom prst="rect">
            <a:avLst/>
          </a:prstGeom>
        </p:spPr>
        <p:txBody>
          <a:bodyPr lIns="0" tIns="0" rIns="0" bIns="0" rtlCol="0" anchor="t">
            <a:spAutoFit/>
          </a:bodyPr>
          <a:lstStyle/>
          <a:p>
            <a:pPr algn="l">
              <a:lnSpc>
                <a:spcPts val="1437"/>
              </a:lnSpc>
            </a:pPr>
            <a:r>
              <a:rPr lang="en-US" sz="1187" dirty="0">
                <a:solidFill>
                  <a:srgbClr val="4C4C4D"/>
                </a:solidFill>
                <a:latin typeface="Cambria" panose="02040503050406030204" pitchFamily="18" charset="0"/>
                <a:ea typeface="Heebo"/>
                <a:cs typeface="Heebo"/>
                <a:sym typeface="Heebo"/>
              </a:rPr>
              <a:t>Field</a:t>
            </a:r>
          </a:p>
        </p:txBody>
      </p:sp>
      <p:sp>
        <p:nvSpPr>
          <p:cNvPr id="61" name="TextBox 61"/>
          <p:cNvSpPr txBox="1"/>
          <p:nvPr/>
        </p:nvSpPr>
        <p:spPr>
          <a:xfrm>
            <a:off x="10439400" y="2881585"/>
            <a:ext cx="3079109" cy="229067"/>
          </a:xfrm>
          <a:prstGeom prst="rect">
            <a:avLst/>
          </a:prstGeom>
        </p:spPr>
        <p:txBody>
          <a:bodyPr wrap="square" lIns="0" tIns="0" rIns="0" bIns="0" rtlCol="0" anchor="t">
            <a:spAutoFit/>
          </a:bodyPr>
          <a:lstStyle/>
          <a:p>
            <a:pPr algn="l">
              <a:lnSpc>
                <a:spcPts val="1874"/>
              </a:lnSpc>
            </a:pPr>
            <a:r>
              <a:rPr lang="en-US" sz="1500" b="1" dirty="0">
                <a:solidFill>
                  <a:srgbClr val="152D47"/>
                </a:solidFill>
                <a:latin typeface="Cambria" panose="02040503050406030204" pitchFamily="18" charset="0"/>
                <a:ea typeface="Crimson Pro Bold"/>
                <a:cs typeface="Crimson Pro Bold"/>
                <a:sym typeface="Crimson Pro Bold"/>
              </a:rPr>
              <a:t>Sample Evidence Document</a:t>
            </a:r>
          </a:p>
        </p:txBody>
      </p:sp>
      <p:grpSp>
        <p:nvGrpSpPr>
          <p:cNvPr id="64" name="Group 64"/>
          <p:cNvGrpSpPr/>
          <p:nvPr/>
        </p:nvGrpSpPr>
        <p:grpSpPr>
          <a:xfrm>
            <a:off x="10368594" y="3230646"/>
            <a:ext cx="6166806" cy="4362136"/>
            <a:chOff x="285665" y="900441"/>
            <a:chExt cx="10854691" cy="5637784"/>
          </a:xfrm>
          <a:solidFill>
            <a:schemeClr val="bg1">
              <a:lumMod val="95000"/>
            </a:schemeClr>
          </a:solidFill>
        </p:grpSpPr>
        <p:sp>
          <p:nvSpPr>
            <p:cNvPr id="65" name="Freeform 65"/>
            <p:cNvSpPr/>
            <p:nvPr/>
          </p:nvSpPr>
          <p:spPr>
            <a:xfrm>
              <a:off x="285665" y="900441"/>
              <a:ext cx="10854691" cy="5637784"/>
            </a:xfrm>
            <a:custGeom>
              <a:avLst/>
              <a:gdLst/>
              <a:ahLst/>
              <a:cxnLst/>
              <a:rect l="l" t="t" r="r" b="b"/>
              <a:pathLst>
                <a:path w="10854690" h="5637784">
                  <a:moveTo>
                    <a:pt x="0" y="30861"/>
                  </a:moveTo>
                  <a:cubicBezTo>
                    <a:pt x="0" y="13843"/>
                    <a:pt x="13843" y="0"/>
                    <a:pt x="30861" y="0"/>
                  </a:cubicBezTo>
                  <a:lnTo>
                    <a:pt x="10823829" y="0"/>
                  </a:lnTo>
                  <a:cubicBezTo>
                    <a:pt x="10840848" y="0"/>
                    <a:pt x="10854690" y="13843"/>
                    <a:pt x="10854690" y="30861"/>
                  </a:cubicBezTo>
                  <a:lnTo>
                    <a:pt x="10854690" y="5606923"/>
                  </a:lnTo>
                  <a:cubicBezTo>
                    <a:pt x="10854690" y="5623941"/>
                    <a:pt x="10840848" y="5637784"/>
                    <a:pt x="10823829" y="5637784"/>
                  </a:cubicBezTo>
                  <a:lnTo>
                    <a:pt x="30861" y="5637784"/>
                  </a:lnTo>
                  <a:cubicBezTo>
                    <a:pt x="13843" y="5637784"/>
                    <a:pt x="0" y="5623941"/>
                    <a:pt x="0" y="5606923"/>
                  </a:cubicBezTo>
                  <a:close/>
                </a:path>
              </a:pathLst>
            </a:custGeom>
            <a:grpFill/>
          </p:spPr>
          <p:txBody>
            <a:bodyPr/>
            <a:lstStyle/>
            <a:p>
              <a:endParaRPr lang="en-US" dirty="0">
                <a:latin typeface="Cambria" panose="02040503050406030204" pitchFamily="18" charset="0"/>
              </a:endParaRPr>
            </a:p>
          </p:txBody>
        </p:sp>
      </p:grpSp>
      <p:sp>
        <p:nvSpPr>
          <p:cNvPr id="66" name="TextBox 66"/>
          <p:cNvSpPr txBox="1"/>
          <p:nvPr/>
        </p:nvSpPr>
        <p:spPr>
          <a:xfrm>
            <a:off x="10541683" y="3482246"/>
            <a:ext cx="5765117" cy="3770263"/>
          </a:xfrm>
          <a:prstGeom prst="rect">
            <a:avLst/>
          </a:prstGeom>
        </p:spPr>
        <p:txBody>
          <a:bodyPr wrap="square" lIns="0" tIns="0" rIns="0" bIns="0" rtlCol="0" anchor="t">
            <a:spAutoFit/>
          </a:bodyPr>
          <a:lstStyle/>
          <a:p>
            <a:pPr algn="l">
              <a:lnSpc>
                <a:spcPts val="1437"/>
              </a:lnSpc>
            </a:pPr>
            <a:r>
              <a:rPr lang="en-US" dirty="0">
                <a:solidFill>
                  <a:srgbClr val="4C4C4D"/>
                </a:solidFill>
                <a:latin typeface="Cambria" panose="02040503050406030204" pitchFamily="18" charset="0"/>
                <a:ea typeface="Consolas"/>
                <a:cs typeface="Consolas"/>
                <a:sym typeface="Consolas"/>
              </a:rPr>
              <a:t>{</a:t>
            </a:r>
          </a:p>
          <a:p>
            <a:pPr algn="l">
              <a:lnSpc>
                <a:spcPts val="1437"/>
              </a:lnSpc>
            </a:pPr>
            <a:r>
              <a:rPr lang="en-US" dirty="0">
                <a:solidFill>
                  <a:srgbClr val="4C4C4D"/>
                </a:solidFill>
                <a:latin typeface="Cambria" panose="02040503050406030204" pitchFamily="18" charset="0"/>
                <a:ea typeface="Consolas"/>
                <a:cs typeface="Consolas"/>
                <a:sym typeface="Consolas"/>
              </a:rPr>
              <a:t>  "_id": "EVD-2024-00142",</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caseID</a:t>
            </a:r>
            <a:r>
              <a:rPr lang="en-US" dirty="0">
                <a:solidFill>
                  <a:srgbClr val="4C4C4D"/>
                </a:solidFill>
                <a:latin typeface="Cambria" panose="02040503050406030204" pitchFamily="18" charset="0"/>
                <a:ea typeface="Consolas"/>
                <a:cs typeface="Consolas"/>
                <a:sym typeface="Consolas"/>
              </a:rPr>
              <a:t>": "CASE-2024-007",</a:t>
            </a:r>
          </a:p>
          <a:p>
            <a:pPr algn="l">
              <a:lnSpc>
                <a:spcPts val="1437"/>
              </a:lnSpc>
            </a:pPr>
            <a:r>
              <a:rPr lang="en-US" dirty="0">
                <a:solidFill>
                  <a:srgbClr val="4C4C4D"/>
                </a:solidFill>
                <a:latin typeface="Cambria" panose="02040503050406030204" pitchFamily="18" charset="0"/>
                <a:ea typeface="Consolas"/>
                <a:cs typeface="Consolas"/>
                <a:sym typeface="Consolas"/>
              </a:rPr>
              <a:t>  "title": "Cobalt Strike Beacon C2 Traffic",</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mediaType</a:t>
            </a:r>
            <a:r>
              <a:rPr lang="en-US" dirty="0">
                <a:solidFill>
                  <a:srgbClr val="4C4C4D"/>
                </a:solidFill>
                <a:latin typeface="Cambria" panose="02040503050406030204" pitchFamily="18" charset="0"/>
                <a:ea typeface="Consolas"/>
                <a:cs typeface="Consolas"/>
                <a:sym typeface="Consolas"/>
              </a:rPr>
              <a:t>": "video/mp4",</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blobUrl</a:t>
            </a:r>
            <a:r>
              <a:rPr lang="en-US" dirty="0">
                <a:solidFill>
                  <a:srgbClr val="4C4C4D"/>
                </a:solidFill>
                <a:latin typeface="Cambria" panose="02040503050406030204" pitchFamily="18" charset="0"/>
                <a:ea typeface="Consolas"/>
                <a:cs typeface="Consolas"/>
                <a:sym typeface="Consolas"/>
              </a:rPr>
              <a:t>": "https://</a:t>
            </a:r>
            <a:r>
              <a:rPr lang="en-US" dirty="0" err="1">
                <a:solidFill>
                  <a:srgbClr val="4C4C4D"/>
                </a:solidFill>
                <a:latin typeface="Cambria" panose="02040503050406030204" pitchFamily="18" charset="0"/>
                <a:ea typeface="Consolas"/>
                <a:cs typeface="Consolas"/>
                <a:sym typeface="Consolas"/>
              </a:rPr>
              <a:t>threatvault.blob.core.windows.net</a:t>
            </a:r>
            <a:r>
              <a:rPr lang="en-US" dirty="0">
                <a:solidFill>
                  <a:srgbClr val="4C4C4D"/>
                </a:solidFill>
                <a:latin typeface="Cambria" panose="02040503050406030204" pitchFamily="18" charset="0"/>
                <a:ea typeface="Consolas"/>
                <a:cs typeface="Consolas"/>
                <a:sym typeface="Consolas"/>
              </a:rPr>
              <a:t>/...",</a:t>
            </a:r>
          </a:p>
          <a:p>
            <a:pPr algn="l">
              <a:lnSpc>
                <a:spcPts val="1437"/>
              </a:lnSpc>
            </a:pPr>
            <a:r>
              <a:rPr lang="en-US" dirty="0">
                <a:solidFill>
                  <a:srgbClr val="4C4C4D"/>
                </a:solidFill>
                <a:latin typeface="Cambria" panose="02040503050406030204" pitchFamily="18" charset="0"/>
                <a:ea typeface="Consolas"/>
                <a:cs typeface="Consolas"/>
                <a:sym typeface="Consolas"/>
              </a:rPr>
              <a:t>  "sha256Hash": "a3f5c91b...",</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uploadedBy</a:t>
            </a: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analyst_rsmith</a:t>
            </a:r>
            <a:r>
              <a:rPr lang="en-US" dirty="0">
                <a:solidFill>
                  <a:srgbClr val="4C4C4D"/>
                </a:solidFill>
                <a:latin typeface="Cambria" panose="02040503050406030204" pitchFamily="18" charset="0"/>
                <a:ea typeface="Consolas"/>
                <a:cs typeface="Consolas"/>
                <a:sym typeface="Consolas"/>
              </a:rPr>
              <a:t>",</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uploadedAt</a:t>
            </a:r>
            <a:r>
              <a:rPr lang="en-US" dirty="0">
                <a:solidFill>
                  <a:srgbClr val="4C4C4D"/>
                </a:solidFill>
                <a:latin typeface="Cambria" panose="02040503050406030204" pitchFamily="18" charset="0"/>
                <a:ea typeface="Consolas"/>
                <a:cs typeface="Consolas"/>
                <a:sym typeface="Consolas"/>
              </a:rPr>
              <a:t>": "2024-11-14T09:32:00Z",</a:t>
            </a:r>
          </a:p>
          <a:p>
            <a:pPr algn="l">
              <a:lnSpc>
                <a:spcPts val="1437"/>
              </a:lnSpc>
            </a:pPr>
            <a:r>
              <a:rPr lang="en-US" dirty="0">
                <a:solidFill>
                  <a:srgbClr val="4C4C4D"/>
                </a:solidFill>
                <a:latin typeface="Cambria" panose="02040503050406030204" pitchFamily="18" charset="0"/>
                <a:ea typeface="Consolas"/>
                <a:cs typeface="Consolas"/>
                <a:sym typeface="Consolas"/>
              </a:rPr>
              <a:t>  "severity": {</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cvss</a:t>
            </a:r>
            <a:r>
              <a:rPr lang="en-US" dirty="0">
                <a:solidFill>
                  <a:srgbClr val="4C4C4D"/>
                </a:solidFill>
                <a:latin typeface="Cambria" panose="02040503050406030204" pitchFamily="18" charset="0"/>
                <a:ea typeface="Consolas"/>
                <a:cs typeface="Consolas"/>
                <a:sym typeface="Consolas"/>
              </a:rPr>
              <a:t>": 9.1,</a:t>
            </a:r>
          </a:p>
          <a:p>
            <a:pPr algn="l">
              <a:lnSpc>
                <a:spcPts val="1437"/>
              </a:lnSpc>
            </a:pPr>
            <a:r>
              <a:rPr lang="en-US" dirty="0">
                <a:solidFill>
                  <a:srgbClr val="4C4C4D"/>
                </a:solidFill>
                <a:latin typeface="Cambria" panose="02040503050406030204" pitchFamily="18" charset="0"/>
                <a:ea typeface="Consolas"/>
                <a:cs typeface="Consolas"/>
                <a:sym typeface="Consolas"/>
              </a:rPr>
              <a:t>    "label": "Critical"</a:t>
            </a:r>
          </a:p>
          <a:p>
            <a:pPr algn="l">
              <a:lnSpc>
                <a:spcPts val="1437"/>
              </a:lnSpc>
            </a:pPr>
            <a:r>
              <a:rPr lang="en-US" dirty="0">
                <a:solidFill>
                  <a:srgbClr val="4C4C4D"/>
                </a:solidFill>
                <a:latin typeface="Cambria" panose="02040503050406030204" pitchFamily="18" charset="0"/>
                <a:ea typeface="Consolas"/>
                <a:cs typeface="Consolas"/>
                <a:sym typeface="Consolas"/>
              </a:rPr>
              <a:t>  },</a:t>
            </a:r>
          </a:p>
          <a:p>
            <a:pPr algn="l">
              <a:lnSpc>
                <a:spcPts val="1437"/>
              </a:lnSpc>
            </a:pPr>
            <a:r>
              <a:rPr lang="en-US" dirty="0">
                <a:solidFill>
                  <a:srgbClr val="4C4C4D"/>
                </a:solidFill>
                <a:latin typeface="Cambria" panose="02040503050406030204" pitchFamily="18" charset="0"/>
                <a:ea typeface="Consolas"/>
                <a:cs typeface="Consolas"/>
                <a:sym typeface="Consolas"/>
              </a:rPr>
              <a:t>  "tags": [</a:t>
            </a:r>
          </a:p>
          <a:p>
            <a:pPr algn="l">
              <a:lnSpc>
                <a:spcPts val="1437"/>
              </a:lnSpc>
            </a:pPr>
            <a:r>
              <a:rPr lang="en-US" dirty="0">
                <a:solidFill>
                  <a:srgbClr val="4C4C4D"/>
                </a:solidFill>
                <a:latin typeface="Cambria" panose="02040503050406030204" pitchFamily="18" charset="0"/>
                <a:ea typeface="Consolas"/>
                <a:cs typeface="Consolas"/>
                <a:sym typeface="Consolas"/>
              </a:rPr>
              <a:t>    "ransomware",</a:t>
            </a:r>
          </a:p>
          <a:p>
            <a:pPr algn="l">
              <a:lnSpc>
                <a:spcPts val="1437"/>
              </a:lnSpc>
            </a:pPr>
            <a:r>
              <a:rPr lang="en-US" dirty="0">
                <a:solidFill>
                  <a:srgbClr val="4C4C4D"/>
                </a:solidFill>
                <a:latin typeface="Cambria" panose="02040503050406030204" pitchFamily="18" charset="0"/>
                <a:ea typeface="Consolas"/>
                <a:cs typeface="Consolas"/>
                <a:sym typeface="Consolas"/>
              </a:rPr>
              <a:t>    "lateral-movement",</a:t>
            </a:r>
          </a:p>
          <a:p>
            <a:pPr algn="l">
              <a:lnSpc>
                <a:spcPts val="1437"/>
              </a:lnSpc>
            </a:pPr>
            <a:r>
              <a:rPr lang="en-US" dirty="0">
                <a:solidFill>
                  <a:srgbClr val="4C4C4D"/>
                </a:solidFill>
                <a:latin typeface="Cambria" panose="02040503050406030204" pitchFamily="18" charset="0"/>
                <a:ea typeface="Consolas"/>
                <a:cs typeface="Consolas"/>
                <a:sym typeface="Consolas"/>
              </a:rPr>
              <a:t>    "C2"</a:t>
            </a:r>
          </a:p>
          <a:p>
            <a:pPr algn="l">
              <a:lnSpc>
                <a:spcPts val="1437"/>
              </a:lnSpc>
            </a:pPr>
            <a:r>
              <a:rPr lang="en-US" dirty="0">
                <a:solidFill>
                  <a:srgbClr val="4C4C4D"/>
                </a:solidFill>
                <a:latin typeface="Cambria" panose="02040503050406030204" pitchFamily="18" charset="0"/>
                <a:ea typeface="Consolas"/>
                <a:cs typeface="Consolas"/>
                <a:sym typeface="Consolas"/>
              </a:rPr>
              <a:t>  ],</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threatType</a:t>
            </a:r>
            <a:r>
              <a:rPr lang="en-US" dirty="0">
                <a:solidFill>
                  <a:srgbClr val="4C4C4D"/>
                </a:solidFill>
                <a:latin typeface="Cambria" panose="02040503050406030204" pitchFamily="18" charset="0"/>
                <a:ea typeface="Consolas"/>
                <a:cs typeface="Consolas"/>
                <a:sym typeface="Consolas"/>
              </a:rPr>
              <a:t>": "APT",</a:t>
            </a:r>
          </a:p>
          <a:p>
            <a:pPr algn="l">
              <a:lnSpc>
                <a:spcPts val="1437"/>
              </a:lnSpc>
            </a:pPr>
            <a:r>
              <a:rPr lang="en-US" dirty="0">
                <a:solidFill>
                  <a:srgbClr val="4C4C4D"/>
                </a:solidFill>
                <a:latin typeface="Cambria" panose="02040503050406030204" pitchFamily="18" charset="0"/>
                <a:ea typeface="Consolas"/>
                <a:cs typeface="Consolas"/>
                <a:sym typeface="Consolas"/>
              </a:rPr>
              <a:t>  "</a:t>
            </a:r>
            <a:r>
              <a:rPr lang="en-US" dirty="0" err="1">
                <a:solidFill>
                  <a:srgbClr val="4C4C4D"/>
                </a:solidFill>
                <a:latin typeface="Cambria" panose="02040503050406030204" pitchFamily="18" charset="0"/>
                <a:ea typeface="Consolas"/>
                <a:cs typeface="Consolas"/>
                <a:sym typeface="Consolas"/>
              </a:rPr>
              <a:t>analysisNotes</a:t>
            </a:r>
            <a:r>
              <a:rPr lang="en-US" dirty="0">
                <a:solidFill>
                  <a:srgbClr val="4C4C4D"/>
                </a:solidFill>
                <a:latin typeface="Cambria" panose="02040503050406030204" pitchFamily="18" charset="0"/>
                <a:ea typeface="Consolas"/>
                <a:cs typeface="Consolas"/>
                <a:sym typeface="Consolas"/>
              </a:rPr>
              <a:t>": "Beacon interval observed: 60s..."</a:t>
            </a:r>
          </a:p>
          <a:p>
            <a:pPr algn="l">
              <a:lnSpc>
                <a:spcPts val="1437"/>
              </a:lnSpc>
            </a:pPr>
            <a:r>
              <a:rPr lang="en-US" dirty="0">
                <a:solidFill>
                  <a:srgbClr val="4C4C4D"/>
                </a:solidFill>
                <a:latin typeface="Cambria" panose="02040503050406030204" pitchFamily="18" charset="0"/>
                <a:ea typeface="Consolas"/>
                <a:cs typeface="Consolas"/>
                <a:sym typeface="Consola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886416" y="834781"/>
            <a:ext cx="10086384" cy="512961"/>
          </a:xfrm>
          <a:prstGeom prst="rect">
            <a:avLst/>
          </a:prstGeom>
        </p:spPr>
        <p:txBody>
          <a:bodyPr wrap="square" lIns="0" tIns="0" rIns="0" bIns="0" rtlCol="0" anchor="t">
            <a:spAutoFit/>
          </a:bodyPr>
          <a:lstStyle/>
          <a:p>
            <a:pPr algn="l">
              <a:lnSpc>
                <a:spcPts val="3999"/>
              </a:lnSpc>
            </a:pPr>
            <a:r>
              <a:rPr lang="en-US" sz="4200" b="1" dirty="0">
                <a:solidFill>
                  <a:srgbClr val="152D47"/>
                </a:solidFill>
                <a:latin typeface="Cambria" panose="02040503050406030204" pitchFamily="18" charset="0"/>
                <a:ea typeface="Crimson Pro Bold"/>
                <a:cs typeface="Crimson Pro Bold"/>
                <a:sym typeface="Crimson Pro Bold"/>
              </a:rPr>
              <a:t>Wireframe: ThreatVault Web Application</a:t>
            </a:r>
          </a:p>
        </p:txBody>
      </p:sp>
      <p:sp>
        <p:nvSpPr>
          <p:cNvPr id="7" name="TextBox 7"/>
          <p:cNvSpPr txBox="1"/>
          <p:nvPr/>
        </p:nvSpPr>
        <p:spPr>
          <a:xfrm>
            <a:off x="886416" y="1721012"/>
            <a:ext cx="8224348" cy="410369"/>
          </a:xfrm>
          <a:prstGeom prst="rect">
            <a:avLst/>
          </a:prstGeom>
        </p:spPr>
        <p:txBody>
          <a:bodyPr wrap="square" lIns="0" tIns="0" rIns="0" bIns="0" rtlCol="0" anchor="t">
            <a:spAutoFit/>
          </a:bodyPr>
          <a:lstStyle/>
          <a:p>
            <a:pPr algn="l">
              <a:lnSpc>
                <a:spcPts val="1625"/>
              </a:lnSpc>
            </a:pPr>
            <a:r>
              <a:rPr lang="en-US" sz="1249" dirty="0">
                <a:solidFill>
                  <a:srgbClr val="4C4C4D"/>
                </a:solidFill>
                <a:latin typeface="Cambria" panose="02040503050406030204" pitchFamily="18" charset="0"/>
                <a:ea typeface="Heebo"/>
                <a:cs typeface="Heebo"/>
                <a:sym typeface="Heebo"/>
              </a:rPr>
              <a:t>Wireframes are structural blueprints that define layout without visual design details. They communicate site structure and user flow before any development begins.</a:t>
            </a:r>
          </a:p>
        </p:txBody>
      </p:sp>
      <p:grpSp>
        <p:nvGrpSpPr>
          <p:cNvPr id="8" name="Group 8"/>
          <p:cNvGrpSpPr/>
          <p:nvPr/>
        </p:nvGrpSpPr>
        <p:grpSpPr>
          <a:xfrm>
            <a:off x="919647" y="2564164"/>
            <a:ext cx="8295573" cy="1006821"/>
            <a:chOff x="0" y="0"/>
            <a:chExt cx="22045612" cy="1342428"/>
          </a:xfrm>
        </p:grpSpPr>
        <p:sp>
          <p:nvSpPr>
            <p:cNvPr id="9" name="Freeform 9"/>
            <p:cNvSpPr/>
            <p:nvPr/>
          </p:nvSpPr>
          <p:spPr>
            <a:xfrm>
              <a:off x="12700" y="12700"/>
              <a:ext cx="22020276" cy="1316990"/>
            </a:xfrm>
            <a:custGeom>
              <a:avLst/>
              <a:gdLst/>
              <a:ahLst/>
              <a:cxnLst/>
              <a:rect l="l" t="t" r="r" b="b"/>
              <a:pathLst>
                <a:path w="22020276" h="1316990">
                  <a:moveTo>
                    <a:pt x="0" y="32893"/>
                  </a:moveTo>
                  <a:cubicBezTo>
                    <a:pt x="0" y="14732"/>
                    <a:pt x="14986" y="0"/>
                    <a:pt x="33528" y="0"/>
                  </a:cubicBezTo>
                  <a:lnTo>
                    <a:pt x="21986748" y="0"/>
                  </a:lnTo>
                  <a:cubicBezTo>
                    <a:pt x="22005289" y="0"/>
                    <a:pt x="22020276" y="14732"/>
                    <a:pt x="22020276" y="32893"/>
                  </a:cubicBezTo>
                  <a:lnTo>
                    <a:pt x="22020276" y="1284097"/>
                  </a:lnTo>
                  <a:cubicBezTo>
                    <a:pt x="22020276" y="1302258"/>
                    <a:pt x="22005289" y="1316990"/>
                    <a:pt x="21986748" y="1316990"/>
                  </a:cubicBezTo>
                  <a:lnTo>
                    <a:pt x="33528" y="1316990"/>
                  </a:lnTo>
                  <a:cubicBezTo>
                    <a:pt x="14986" y="1316990"/>
                    <a:pt x="0" y="1302258"/>
                    <a:pt x="0" y="1284097"/>
                  </a:cubicBezTo>
                  <a:close/>
                </a:path>
              </a:pathLst>
            </a:custGeom>
            <a:solidFill>
              <a:srgbClr val="FFFFFF"/>
            </a:solidFill>
          </p:spPr>
          <p:txBody>
            <a:bodyPr/>
            <a:lstStyle/>
            <a:p>
              <a:endParaRPr lang="en-US">
                <a:latin typeface="Cambria" panose="02040503050406030204" pitchFamily="18" charset="0"/>
              </a:endParaRPr>
            </a:p>
          </p:txBody>
        </p:sp>
        <p:sp>
          <p:nvSpPr>
            <p:cNvPr id="10" name="Freeform 10"/>
            <p:cNvSpPr/>
            <p:nvPr/>
          </p:nvSpPr>
          <p:spPr>
            <a:xfrm>
              <a:off x="0" y="0"/>
              <a:ext cx="22045676" cy="1342390"/>
            </a:xfrm>
            <a:custGeom>
              <a:avLst/>
              <a:gdLst/>
              <a:ahLst/>
              <a:cxnLst/>
              <a:rect l="l" t="t" r="r" b="b"/>
              <a:pathLst>
                <a:path w="22045676" h="1342390">
                  <a:moveTo>
                    <a:pt x="0" y="45593"/>
                  </a:moveTo>
                  <a:cubicBezTo>
                    <a:pt x="0" y="20193"/>
                    <a:pt x="20955" y="0"/>
                    <a:pt x="46228" y="0"/>
                  </a:cubicBezTo>
                  <a:lnTo>
                    <a:pt x="21999448" y="0"/>
                  </a:lnTo>
                  <a:lnTo>
                    <a:pt x="21999448" y="12700"/>
                  </a:lnTo>
                  <a:lnTo>
                    <a:pt x="21999448" y="0"/>
                  </a:lnTo>
                  <a:cubicBezTo>
                    <a:pt x="22024721" y="0"/>
                    <a:pt x="22045676" y="20193"/>
                    <a:pt x="22045676" y="45593"/>
                  </a:cubicBezTo>
                  <a:lnTo>
                    <a:pt x="22032976" y="45593"/>
                  </a:lnTo>
                  <a:lnTo>
                    <a:pt x="22045676" y="45593"/>
                  </a:lnTo>
                  <a:lnTo>
                    <a:pt x="22045676" y="1296797"/>
                  </a:lnTo>
                  <a:lnTo>
                    <a:pt x="22032976" y="1296797"/>
                  </a:lnTo>
                  <a:lnTo>
                    <a:pt x="22045676" y="1296797"/>
                  </a:lnTo>
                  <a:cubicBezTo>
                    <a:pt x="22045676" y="1322197"/>
                    <a:pt x="22024721" y="1342390"/>
                    <a:pt x="21999448" y="1342390"/>
                  </a:cubicBezTo>
                  <a:lnTo>
                    <a:pt x="21999448" y="1329690"/>
                  </a:lnTo>
                  <a:lnTo>
                    <a:pt x="21999448" y="1342390"/>
                  </a:lnTo>
                  <a:lnTo>
                    <a:pt x="46228" y="1342390"/>
                  </a:lnTo>
                  <a:lnTo>
                    <a:pt x="46228" y="1329690"/>
                  </a:lnTo>
                  <a:lnTo>
                    <a:pt x="46228" y="1342390"/>
                  </a:lnTo>
                  <a:cubicBezTo>
                    <a:pt x="20955" y="1342390"/>
                    <a:pt x="0" y="1322197"/>
                    <a:pt x="0" y="1296797"/>
                  </a:cubicBezTo>
                  <a:lnTo>
                    <a:pt x="0" y="45593"/>
                  </a:lnTo>
                  <a:lnTo>
                    <a:pt x="12700" y="45593"/>
                  </a:lnTo>
                  <a:lnTo>
                    <a:pt x="0" y="45593"/>
                  </a:lnTo>
                  <a:moveTo>
                    <a:pt x="25400" y="45593"/>
                  </a:moveTo>
                  <a:lnTo>
                    <a:pt x="25400" y="1296797"/>
                  </a:lnTo>
                  <a:lnTo>
                    <a:pt x="12700" y="1296797"/>
                  </a:lnTo>
                  <a:lnTo>
                    <a:pt x="25400" y="1296797"/>
                  </a:lnTo>
                  <a:cubicBezTo>
                    <a:pt x="25400" y="1307719"/>
                    <a:pt x="34544" y="1316990"/>
                    <a:pt x="46228" y="1316990"/>
                  </a:cubicBezTo>
                  <a:lnTo>
                    <a:pt x="21999448" y="1316990"/>
                  </a:lnTo>
                  <a:cubicBezTo>
                    <a:pt x="22011132" y="1316990"/>
                    <a:pt x="22020276" y="1307719"/>
                    <a:pt x="22020276" y="1296797"/>
                  </a:cubicBezTo>
                  <a:lnTo>
                    <a:pt x="22020276" y="45593"/>
                  </a:lnTo>
                  <a:cubicBezTo>
                    <a:pt x="22020276" y="34671"/>
                    <a:pt x="22011132" y="25400"/>
                    <a:pt x="21999448" y="25400"/>
                  </a:cubicBezTo>
                  <a:lnTo>
                    <a:pt x="46228" y="25400"/>
                  </a:lnTo>
                  <a:lnTo>
                    <a:pt x="46228" y="12700"/>
                  </a:lnTo>
                  <a:lnTo>
                    <a:pt x="46228"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11" name="Group 11"/>
          <p:cNvGrpSpPr/>
          <p:nvPr/>
        </p:nvGrpSpPr>
        <p:grpSpPr>
          <a:xfrm>
            <a:off x="919647" y="2589485"/>
            <a:ext cx="658368" cy="959168"/>
            <a:chOff x="-5" y="-224940"/>
            <a:chExt cx="877824" cy="1266191"/>
          </a:xfrm>
          <a:solidFill>
            <a:schemeClr val="bg1">
              <a:lumMod val="85000"/>
            </a:schemeClr>
          </a:solidFill>
        </p:grpSpPr>
        <p:sp>
          <p:nvSpPr>
            <p:cNvPr id="12" name="Freeform 12"/>
            <p:cNvSpPr/>
            <p:nvPr/>
          </p:nvSpPr>
          <p:spPr>
            <a:xfrm>
              <a:off x="-5" y="-224940"/>
              <a:ext cx="877824" cy="1266191"/>
            </a:xfrm>
            <a:custGeom>
              <a:avLst/>
              <a:gdLst/>
              <a:ahLst/>
              <a:cxnLst/>
              <a:rect l="l" t="t" r="r" b="b"/>
              <a:pathLst>
                <a:path w="877824" h="1266190">
                  <a:moveTo>
                    <a:pt x="0" y="2413"/>
                  </a:moveTo>
                  <a:cubicBezTo>
                    <a:pt x="0" y="1143"/>
                    <a:pt x="1143" y="0"/>
                    <a:pt x="2413" y="0"/>
                  </a:cubicBezTo>
                  <a:lnTo>
                    <a:pt x="875411" y="0"/>
                  </a:lnTo>
                  <a:cubicBezTo>
                    <a:pt x="876808" y="0"/>
                    <a:pt x="877824" y="1143"/>
                    <a:pt x="877824" y="2413"/>
                  </a:cubicBezTo>
                  <a:lnTo>
                    <a:pt x="877824" y="1263777"/>
                  </a:lnTo>
                  <a:cubicBezTo>
                    <a:pt x="877824" y="1265174"/>
                    <a:pt x="876681" y="1266190"/>
                    <a:pt x="875411" y="1266190"/>
                  </a:cubicBezTo>
                  <a:lnTo>
                    <a:pt x="2413" y="1266190"/>
                  </a:lnTo>
                  <a:cubicBezTo>
                    <a:pt x="1016" y="1266190"/>
                    <a:pt x="0" y="1265047"/>
                    <a:pt x="0" y="1263777"/>
                  </a:cubicBezTo>
                  <a:close/>
                </a:path>
              </a:pathLst>
            </a:custGeom>
            <a:grpFill/>
          </p:spPr>
          <p:txBody>
            <a:bodyPr/>
            <a:lstStyle/>
            <a:p>
              <a:endParaRPr lang="en-US" dirty="0">
                <a:latin typeface="Cambria" panose="02040503050406030204" pitchFamily="18" charset="0"/>
              </a:endParaRPr>
            </a:p>
          </p:txBody>
        </p:sp>
      </p:grpSp>
      <p:sp>
        <p:nvSpPr>
          <p:cNvPr id="13" name="TextBox 13"/>
          <p:cNvSpPr txBox="1"/>
          <p:nvPr/>
        </p:nvSpPr>
        <p:spPr>
          <a:xfrm>
            <a:off x="1125377" y="2824566"/>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1</a:t>
            </a:r>
          </a:p>
        </p:txBody>
      </p:sp>
      <p:sp>
        <p:nvSpPr>
          <p:cNvPr id="14" name="TextBox 14"/>
          <p:cNvSpPr txBox="1"/>
          <p:nvPr/>
        </p:nvSpPr>
        <p:spPr>
          <a:xfrm>
            <a:off x="1648865" y="2601164"/>
            <a:ext cx="7483133" cy="237886"/>
          </a:xfrm>
          <a:prstGeom prst="rect">
            <a:avLst/>
          </a:prstGeom>
        </p:spPr>
        <p:txBody>
          <a:bodyPr wrap="square" lIns="0" tIns="0" rIns="0" bIns="0" rtlCol="0" anchor="t">
            <a:spAutoFit/>
          </a:bodyPr>
          <a:lstStyle/>
          <a:p>
            <a:pPr algn="l">
              <a:lnSpc>
                <a:spcPts val="2000"/>
              </a:lnSpc>
            </a:pPr>
            <a:r>
              <a:rPr lang="en-US" sz="1562" b="1" dirty="0">
                <a:solidFill>
                  <a:srgbClr val="4C4C4D"/>
                </a:solidFill>
                <a:latin typeface="Cambria" panose="02040503050406030204" pitchFamily="18" charset="0"/>
                <a:ea typeface="Crimson Pro Bold"/>
                <a:cs typeface="Crimson Pro Bold"/>
                <a:sym typeface="Crimson Pro Bold"/>
              </a:rPr>
              <a:t>Header</a:t>
            </a:r>
          </a:p>
        </p:txBody>
      </p:sp>
      <p:sp>
        <p:nvSpPr>
          <p:cNvPr id="15" name="TextBox 15"/>
          <p:cNvSpPr txBox="1"/>
          <p:nvPr/>
        </p:nvSpPr>
        <p:spPr>
          <a:xfrm>
            <a:off x="1627488" y="2887858"/>
            <a:ext cx="7483130" cy="600677"/>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Logo left, sticky navigation right: Dashboard | Gallery | Cases | Upload | Admin | Logout. Azure AD session token — active role displayed top-right. REST API reference strip below header showing all four CRUD endpoints with HTTP verb </a:t>
            </a:r>
            <a:r>
              <a:rPr lang="en-US" sz="1249" dirty="0" err="1">
                <a:solidFill>
                  <a:srgbClr val="4C4C4D"/>
                </a:solidFill>
                <a:latin typeface="Cambria" panose="02040503050406030204" pitchFamily="18" charset="0"/>
                <a:ea typeface="Heebo"/>
                <a:cs typeface="Heebo"/>
                <a:sym typeface="Heebo"/>
              </a:rPr>
              <a:t>colour</a:t>
            </a:r>
            <a:r>
              <a:rPr lang="en-US" sz="1249" dirty="0">
                <a:solidFill>
                  <a:srgbClr val="4C4C4D"/>
                </a:solidFill>
                <a:latin typeface="Cambria" panose="02040503050406030204" pitchFamily="18" charset="0"/>
                <a:ea typeface="Heebo"/>
                <a:cs typeface="Heebo"/>
                <a:sym typeface="Heebo"/>
              </a:rPr>
              <a:t> coding: POST (green), GET (cyan), PATCH (amber), DELETE (red).</a:t>
            </a:r>
          </a:p>
        </p:txBody>
      </p:sp>
      <p:grpSp>
        <p:nvGrpSpPr>
          <p:cNvPr id="16" name="Group 16"/>
          <p:cNvGrpSpPr/>
          <p:nvPr/>
        </p:nvGrpSpPr>
        <p:grpSpPr>
          <a:xfrm>
            <a:off x="908186" y="3659611"/>
            <a:ext cx="8295597" cy="1116959"/>
            <a:chOff x="0" y="0"/>
            <a:chExt cx="22045612" cy="1489278"/>
          </a:xfrm>
        </p:grpSpPr>
        <p:sp>
          <p:nvSpPr>
            <p:cNvPr id="17" name="Freeform 17"/>
            <p:cNvSpPr/>
            <p:nvPr/>
          </p:nvSpPr>
          <p:spPr>
            <a:xfrm>
              <a:off x="12700" y="12700"/>
              <a:ext cx="22020149" cy="1463802"/>
            </a:xfrm>
            <a:custGeom>
              <a:avLst/>
              <a:gdLst/>
              <a:ahLst/>
              <a:cxnLst/>
              <a:rect l="l" t="t" r="r" b="b"/>
              <a:pathLst>
                <a:path w="22020149" h="1463802">
                  <a:moveTo>
                    <a:pt x="0" y="32893"/>
                  </a:moveTo>
                  <a:cubicBezTo>
                    <a:pt x="0" y="14732"/>
                    <a:pt x="14986" y="0"/>
                    <a:pt x="33401" y="0"/>
                  </a:cubicBezTo>
                  <a:lnTo>
                    <a:pt x="21986748" y="0"/>
                  </a:lnTo>
                  <a:cubicBezTo>
                    <a:pt x="22005162" y="0"/>
                    <a:pt x="22020149" y="14732"/>
                    <a:pt x="22020149" y="32893"/>
                  </a:cubicBezTo>
                  <a:lnTo>
                    <a:pt x="22020149" y="1430909"/>
                  </a:lnTo>
                  <a:cubicBezTo>
                    <a:pt x="22020149" y="1449070"/>
                    <a:pt x="22005162" y="1463802"/>
                    <a:pt x="21986748" y="1463802"/>
                  </a:cubicBezTo>
                  <a:lnTo>
                    <a:pt x="33401" y="1463802"/>
                  </a:lnTo>
                  <a:cubicBezTo>
                    <a:pt x="14986" y="1463802"/>
                    <a:pt x="0" y="1449070"/>
                    <a:pt x="0" y="1430909"/>
                  </a:cubicBezTo>
                  <a:close/>
                </a:path>
              </a:pathLst>
            </a:custGeom>
            <a:solidFill>
              <a:srgbClr val="FFFFFF"/>
            </a:solidFill>
          </p:spPr>
          <p:txBody>
            <a:bodyPr/>
            <a:lstStyle/>
            <a:p>
              <a:endParaRPr lang="en-US">
                <a:latin typeface="Cambria" panose="02040503050406030204" pitchFamily="18" charset="0"/>
              </a:endParaRPr>
            </a:p>
          </p:txBody>
        </p:sp>
        <p:sp>
          <p:nvSpPr>
            <p:cNvPr id="18" name="Freeform 18"/>
            <p:cNvSpPr/>
            <p:nvPr/>
          </p:nvSpPr>
          <p:spPr>
            <a:xfrm>
              <a:off x="0" y="0"/>
              <a:ext cx="22045549" cy="1489202"/>
            </a:xfrm>
            <a:custGeom>
              <a:avLst/>
              <a:gdLst/>
              <a:ahLst/>
              <a:cxnLst/>
              <a:rect l="l" t="t" r="r" b="b"/>
              <a:pathLst>
                <a:path w="22045549" h="1489202">
                  <a:moveTo>
                    <a:pt x="0" y="45593"/>
                  </a:moveTo>
                  <a:cubicBezTo>
                    <a:pt x="0" y="20193"/>
                    <a:pt x="20828" y="0"/>
                    <a:pt x="46101" y="0"/>
                  </a:cubicBezTo>
                  <a:lnTo>
                    <a:pt x="21999448" y="0"/>
                  </a:lnTo>
                  <a:lnTo>
                    <a:pt x="21999448" y="12700"/>
                  </a:lnTo>
                  <a:lnTo>
                    <a:pt x="21999448" y="0"/>
                  </a:lnTo>
                  <a:cubicBezTo>
                    <a:pt x="22024721" y="0"/>
                    <a:pt x="22045549" y="20193"/>
                    <a:pt x="22045549" y="45593"/>
                  </a:cubicBezTo>
                  <a:lnTo>
                    <a:pt x="22032849" y="45593"/>
                  </a:lnTo>
                  <a:lnTo>
                    <a:pt x="22045549" y="45593"/>
                  </a:lnTo>
                  <a:lnTo>
                    <a:pt x="22045549" y="1443609"/>
                  </a:lnTo>
                  <a:lnTo>
                    <a:pt x="22032849" y="1443609"/>
                  </a:lnTo>
                  <a:lnTo>
                    <a:pt x="22045549" y="1443609"/>
                  </a:lnTo>
                  <a:cubicBezTo>
                    <a:pt x="22045549" y="1469009"/>
                    <a:pt x="22024721" y="1489202"/>
                    <a:pt x="21999448" y="1489202"/>
                  </a:cubicBezTo>
                  <a:lnTo>
                    <a:pt x="21999448" y="1476502"/>
                  </a:lnTo>
                  <a:lnTo>
                    <a:pt x="21999448" y="1489202"/>
                  </a:lnTo>
                  <a:lnTo>
                    <a:pt x="46101" y="1489202"/>
                  </a:lnTo>
                  <a:lnTo>
                    <a:pt x="46101" y="1476502"/>
                  </a:lnTo>
                  <a:lnTo>
                    <a:pt x="46101" y="1489202"/>
                  </a:lnTo>
                  <a:cubicBezTo>
                    <a:pt x="20828" y="1489202"/>
                    <a:pt x="0" y="1469009"/>
                    <a:pt x="0" y="1443609"/>
                  </a:cubicBezTo>
                  <a:lnTo>
                    <a:pt x="0" y="45593"/>
                  </a:lnTo>
                  <a:lnTo>
                    <a:pt x="12700" y="45593"/>
                  </a:lnTo>
                  <a:lnTo>
                    <a:pt x="0" y="45593"/>
                  </a:lnTo>
                  <a:moveTo>
                    <a:pt x="25400" y="45593"/>
                  </a:moveTo>
                  <a:lnTo>
                    <a:pt x="25400" y="1443609"/>
                  </a:lnTo>
                  <a:lnTo>
                    <a:pt x="12700" y="1443609"/>
                  </a:lnTo>
                  <a:lnTo>
                    <a:pt x="25400" y="1443609"/>
                  </a:lnTo>
                  <a:cubicBezTo>
                    <a:pt x="25400" y="1454531"/>
                    <a:pt x="34544" y="1463802"/>
                    <a:pt x="46101" y="1463802"/>
                  </a:cubicBezTo>
                  <a:lnTo>
                    <a:pt x="21999448" y="1463802"/>
                  </a:lnTo>
                  <a:cubicBezTo>
                    <a:pt x="22011132" y="1463802"/>
                    <a:pt x="22020149" y="1454531"/>
                    <a:pt x="22020149" y="1443609"/>
                  </a:cubicBezTo>
                  <a:lnTo>
                    <a:pt x="22020149" y="45593"/>
                  </a:lnTo>
                  <a:cubicBezTo>
                    <a:pt x="22020149" y="34671"/>
                    <a:pt x="22011005" y="25400"/>
                    <a:pt x="21999448" y="25400"/>
                  </a:cubicBezTo>
                  <a:lnTo>
                    <a:pt x="46101" y="25400"/>
                  </a:lnTo>
                  <a:lnTo>
                    <a:pt x="46101" y="12700"/>
                  </a:lnTo>
                  <a:lnTo>
                    <a:pt x="46101"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19" name="Group 19"/>
          <p:cNvGrpSpPr/>
          <p:nvPr/>
        </p:nvGrpSpPr>
        <p:grpSpPr>
          <a:xfrm>
            <a:off x="923010" y="3656564"/>
            <a:ext cx="658416" cy="1105965"/>
            <a:chOff x="0" y="0"/>
            <a:chExt cx="877888" cy="1413078"/>
          </a:xfrm>
          <a:solidFill>
            <a:schemeClr val="bg1">
              <a:lumMod val="85000"/>
            </a:schemeClr>
          </a:solidFill>
        </p:grpSpPr>
        <p:sp>
          <p:nvSpPr>
            <p:cNvPr id="20" name="Freeform 20"/>
            <p:cNvSpPr/>
            <p:nvPr/>
          </p:nvSpPr>
          <p:spPr>
            <a:xfrm>
              <a:off x="0" y="0"/>
              <a:ext cx="877824" cy="1413002"/>
            </a:xfrm>
            <a:custGeom>
              <a:avLst/>
              <a:gdLst/>
              <a:ahLst/>
              <a:cxnLst/>
              <a:rect l="l" t="t" r="r" b="b"/>
              <a:pathLst>
                <a:path w="877824" h="1413002">
                  <a:moveTo>
                    <a:pt x="0" y="2413"/>
                  </a:moveTo>
                  <a:cubicBezTo>
                    <a:pt x="0" y="1143"/>
                    <a:pt x="1143" y="0"/>
                    <a:pt x="2413" y="0"/>
                  </a:cubicBezTo>
                  <a:lnTo>
                    <a:pt x="875411" y="0"/>
                  </a:lnTo>
                  <a:cubicBezTo>
                    <a:pt x="876808" y="0"/>
                    <a:pt x="877824" y="1143"/>
                    <a:pt x="877824" y="2413"/>
                  </a:cubicBezTo>
                  <a:lnTo>
                    <a:pt x="877824" y="1410589"/>
                  </a:lnTo>
                  <a:cubicBezTo>
                    <a:pt x="877824" y="1411986"/>
                    <a:pt x="876681" y="1413002"/>
                    <a:pt x="875411" y="1413002"/>
                  </a:cubicBezTo>
                  <a:lnTo>
                    <a:pt x="2413" y="1413002"/>
                  </a:lnTo>
                  <a:cubicBezTo>
                    <a:pt x="1016" y="1413002"/>
                    <a:pt x="0" y="1411859"/>
                    <a:pt x="0" y="1410589"/>
                  </a:cubicBezTo>
                  <a:close/>
                </a:path>
              </a:pathLst>
            </a:custGeom>
            <a:grpFill/>
          </p:spPr>
          <p:txBody>
            <a:bodyPr/>
            <a:lstStyle/>
            <a:p>
              <a:endParaRPr lang="en-US">
                <a:latin typeface="Cambria" panose="02040503050406030204" pitchFamily="18" charset="0"/>
              </a:endParaRPr>
            </a:p>
          </p:txBody>
        </p:sp>
      </p:grpSp>
      <p:sp>
        <p:nvSpPr>
          <p:cNvPr id="21" name="TextBox 21"/>
          <p:cNvSpPr txBox="1"/>
          <p:nvPr/>
        </p:nvSpPr>
        <p:spPr>
          <a:xfrm>
            <a:off x="1128738" y="4093634"/>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2</a:t>
            </a:r>
          </a:p>
        </p:txBody>
      </p:sp>
      <p:sp>
        <p:nvSpPr>
          <p:cNvPr id="22" name="TextBox 22"/>
          <p:cNvSpPr txBox="1"/>
          <p:nvPr/>
        </p:nvSpPr>
        <p:spPr>
          <a:xfrm>
            <a:off x="1627631" y="3688579"/>
            <a:ext cx="7483132" cy="244939"/>
          </a:xfrm>
          <a:prstGeom prst="rect">
            <a:avLst/>
          </a:prstGeom>
        </p:spPr>
        <p:txBody>
          <a:bodyPr wrap="square" lIns="0" tIns="0" rIns="0" bIns="0" rtlCol="0" anchor="t">
            <a:spAutoFit/>
          </a:bodyPr>
          <a:lstStyle/>
          <a:p>
            <a:pPr>
              <a:lnSpc>
                <a:spcPts val="2000"/>
              </a:lnSpc>
            </a:pPr>
            <a:r>
              <a:rPr lang="en-GB" sz="1562" b="1" dirty="0">
                <a:solidFill>
                  <a:srgbClr val="4C4C4D"/>
                </a:solidFill>
                <a:latin typeface="Cambria" panose="02040503050406030204" pitchFamily="18" charset="0"/>
              </a:rPr>
              <a:t>Login &amp; Authentication</a:t>
            </a:r>
            <a:endParaRPr lang="en-US" sz="1562" b="1" dirty="0">
              <a:solidFill>
                <a:srgbClr val="4C4C4D"/>
              </a:solidFill>
              <a:latin typeface="Cambria" panose="02040503050406030204" pitchFamily="18" charset="0"/>
              <a:sym typeface="Crimson Pro Bold"/>
            </a:endParaRPr>
          </a:p>
        </p:txBody>
      </p:sp>
      <p:sp>
        <p:nvSpPr>
          <p:cNvPr id="23" name="TextBox 23"/>
          <p:cNvSpPr txBox="1"/>
          <p:nvPr/>
        </p:nvSpPr>
        <p:spPr>
          <a:xfrm>
            <a:off x="1627631" y="4029514"/>
            <a:ext cx="7255963" cy="600614"/>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MFA-enforced login: Analyst ID, Password, MFA Token (Authenticator App). Azure AD validates credentials — RBAC role assigned on session start. Secure Login → POST /auth → JWT token issued for subsequent API calls.</a:t>
            </a:r>
          </a:p>
        </p:txBody>
      </p:sp>
      <p:grpSp>
        <p:nvGrpSpPr>
          <p:cNvPr id="24" name="Group 24"/>
          <p:cNvGrpSpPr/>
          <p:nvPr/>
        </p:nvGrpSpPr>
        <p:grpSpPr>
          <a:xfrm>
            <a:off x="910132" y="4852606"/>
            <a:ext cx="8298413" cy="1006821"/>
            <a:chOff x="0" y="0"/>
            <a:chExt cx="22045612" cy="1342428"/>
          </a:xfrm>
        </p:grpSpPr>
        <p:sp>
          <p:nvSpPr>
            <p:cNvPr id="25" name="Freeform 25"/>
            <p:cNvSpPr/>
            <p:nvPr/>
          </p:nvSpPr>
          <p:spPr>
            <a:xfrm>
              <a:off x="12700" y="12700"/>
              <a:ext cx="22020276" cy="1316990"/>
            </a:xfrm>
            <a:custGeom>
              <a:avLst/>
              <a:gdLst/>
              <a:ahLst/>
              <a:cxnLst/>
              <a:rect l="l" t="t" r="r" b="b"/>
              <a:pathLst>
                <a:path w="22020276" h="1316990">
                  <a:moveTo>
                    <a:pt x="0" y="32893"/>
                  </a:moveTo>
                  <a:cubicBezTo>
                    <a:pt x="0" y="14732"/>
                    <a:pt x="14986" y="0"/>
                    <a:pt x="33528" y="0"/>
                  </a:cubicBezTo>
                  <a:lnTo>
                    <a:pt x="21986748" y="0"/>
                  </a:lnTo>
                  <a:cubicBezTo>
                    <a:pt x="22005289" y="0"/>
                    <a:pt x="22020276" y="14732"/>
                    <a:pt x="22020276" y="32893"/>
                  </a:cubicBezTo>
                  <a:lnTo>
                    <a:pt x="22020276" y="1284097"/>
                  </a:lnTo>
                  <a:cubicBezTo>
                    <a:pt x="22020276" y="1302258"/>
                    <a:pt x="22005289" y="1316990"/>
                    <a:pt x="21986748" y="1316990"/>
                  </a:cubicBezTo>
                  <a:lnTo>
                    <a:pt x="33528" y="1316990"/>
                  </a:lnTo>
                  <a:cubicBezTo>
                    <a:pt x="14986" y="1316990"/>
                    <a:pt x="0" y="1302258"/>
                    <a:pt x="0" y="1284097"/>
                  </a:cubicBezTo>
                  <a:close/>
                </a:path>
              </a:pathLst>
            </a:custGeom>
            <a:solidFill>
              <a:srgbClr val="FFFFFF"/>
            </a:solidFill>
          </p:spPr>
          <p:txBody>
            <a:bodyPr/>
            <a:lstStyle/>
            <a:p>
              <a:endParaRPr lang="en-US">
                <a:latin typeface="Cambria" panose="02040503050406030204" pitchFamily="18" charset="0"/>
              </a:endParaRPr>
            </a:p>
          </p:txBody>
        </p:sp>
        <p:sp>
          <p:nvSpPr>
            <p:cNvPr id="26" name="Freeform 26"/>
            <p:cNvSpPr/>
            <p:nvPr/>
          </p:nvSpPr>
          <p:spPr>
            <a:xfrm>
              <a:off x="0" y="0"/>
              <a:ext cx="22045676" cy="1342390"/>
            </a:xfrm>
            <a:custGeom>
              <a:avLst/>
              <a:gdLst/>
              <a:ahLst/>
              <a:cxnLst/>
              <a:rect l="l" t="t" r="r" b="b"/>
              <a:pathLst>
                <a:path w="22045676" h="1342390">
                  <a:moveTo>
                    <a:pt x="0" y="45593"/>
                  </a:moveTo>
                  <a:cubicBezTo>
                    <a:pt x="0" y="20193"/>
                    <a:pt x="20955" y="0"/>
                    <a:pt x="46228" y="0"/>
                  </a:cubicBezTo>
                  <a:lnTo>
                    <a:pt x="21999448" y="0"/>
                  </a:lnTo>
                  <a:lnTo>
                    <a:pt x="21999448" y="12700"/>
                  </a:lnTo>
                  <a:lnTo>
                    <a:pt x="21999448" y="0"/>
                  </a:lnTo>
                  <a:cubicBezTo>
                    <a:pt x="22024721" y="0"/>
                    <a:pt x="22045676" y="20193"/>
                    <a:pt x="22045676" y="45593"/>
                  </a:cubicBezTo>
                  <a:lnTo>
                    <a:pt x="22032976" y="45593"/>
                  </a:lnTo>
                  <a:lnTo>
                    <a:pt x="22045676" y="45593"/>
                  </a:lnTo>
                  <a:lnTo>
                    <a:pt x="22045676" y="1296797"/>
                  </a:lnTo>
                  <a:lnTo>
                    <a:pt x="22032976" y="1296797"/>
                  </a:lnTo>
                  <a:lnTo>
                    <a:pt x="22045676" y="1296797"/>
                  </a:lnTo>
                  <a:cubicBezTo>
                    <a:pt x="22045676" y="1322197"/>
                    <a:pt x="22024721" y="1342390"/>
                    <a:pt x="21999448" y="1342390"/>
                  </a:cubicBezTo>
                  <a:lnTo>
                    <a:pt x="21999448" y="1329690"/>
                  </a:lnTo>
                  <a:lnTo>
                    <a:pt x="21999448" y="1342390"/>
                  </a:lnTo>
                  <a:lnTo>
                    <a:pt x="46228" y="1342390"/>
                  </a:lnTo>
                  <a:lnTo>
                    <a:pt x="46228" y="1329690"/>
                  </a:lnTo>
                  <a:lnTo>
                    <a:pt x="46228" y="1342390"/>
                  </a:lnTo>
                  <a:cubicBezTo>
                    <a:pt x="20955" y="1342390"/>
                    <a:pt x="0" y="1322197"/>
                    <a:pt x="0" y="1296797"/>
                  </a:cubicBezTo>
                  <a:lnTo>
                    <a:pt x="0" y="45593"/>
                  </a:lnTo>
                  <a:lnTo>
                    <a:pt x="12700" y="45593"/>
                  </a:lnTo>
                  <a:lnTo>
                    <a:pt x="0" y="45593"/>
                  </a:lnTo>
                  <a:moveTo>
                    <a:pt x="25400" y="45593"/>
                  </a:moveTo>
                  <a:lnTo>
                    <a:pt x="25400" y="1296797"/>
                  </a:lnTo>
                  <a:lnTo>
                    <a:pt x="12700" y="1296797"/>
                  </a:lnTo>
                  <a:lnTo>
                    <a:pt x="25400" y="1296797"/>
                  </a:lnTo>
                  <a:cubicBezTo>
                    <a:pt x="25400" y="1307719"/>
                    <a:pt x="34544" y="1316990"/>
                    <a:pt x="46228" y="1316990"/>
                  </a:cubicBezTo>
                  <a:lnTo>
                    <a:pt x="21999448" y="1316990"/>
                  </a:lnTo>
                  <a:cubicBezTo>
                    <a:pt x="22011132" y="1316990"/>
                    <a:pt x="22020276" y="1307719"/>
                    <a:pt x="22020276" y="1296797"/>
                  </a:cubicBezTo>
                  <a:lnTo>
                    <a:pt x="22020276" y="45593"/>
                  </a:lnTo>
                  <a:cubicBezTo>
                    <a:pt x="22020276" y="34671"/>
                    <a:pt x="22011132" y="25400"/>
                    <a:pt x="21999448" y="25400"/>
                  </a:cubicBezTo>
                  <a:lnTo>
                    <a:pt x="46228" y="25400"/>
                  </a:lnTo>
                  <a:lnTo>
                    <a:pt x="46228" y="12700"/>
                  </a:lnTo>
                  <a:lnTo>
                    <a:pt x="46228"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27" name="Group 27"/>
          <p:cNvGrpSpPr/>
          <p:nvPr/>
        </p:nvGrpSpPr>
        <p:grpSpPr>
          <a:xfrm>
            <a:off x="919647" y="4856338"/>
            <a:ext cx="658416" cy="987368"/>
            <a:chOff x="0" y="0"/>
            <a:chExt cx="877888" cy="1266228"/>
          </a:xfrm>
          <a:solidFill>
            <a:schemeClr val="bg1">
              <a:lumMod val="85000"/>
            </a:schemeClr>
          </a:solidFill>
        </p:grpSpPr>
        <p:sp>
          <p:nvSpPr>
            <p:cNvPr id="28" name="Freeform 28"/>
            <p:cNvSpPr/>
            <p:nvPr/>
          </p:nvSpPr>
          <p:spPr>
            <a:xfrm>
              <a:off x="0" y="0"/>
              <a:ext cx="877824" cy="1266190"/>
            </a:xfrm>
            <a:custGeom>
              <a:avLst/>
              <a:gdLst/>
              <a:ahLst/>
              <a:cxnLst/>
              <a:rect l="l" t="t" r="r" b="b"/>
              <a:pathLst>
                <a:path w="877824" h="1266190">
                  <a:moveTo>
                    <a:pt x="0" y="2413"/>
                  </a:moveTo>
                  <a:cubicBezTo>
                    <a:pt x="0" y="1143"/>
                    <a:pt x="1143" y="0"/>
                    <a:pt x="2413" y="0"/>
                  </a:cubicBezTo>
                  <a:lnTo>
                    <a:pt x="875411" y="0"/>
                  </a:lnTo>
                  <a:cubicBezTo>
                    <a:pt x="876808" y="0"/>
                    <a:pt x="877824" y="1143"/>
                    <a:pt x="877824" y="2413"/>
                  </a:cubicBezTo>
                  <a:lnTo>
                    <a:pt x="877824" y="1263777"/>
                  </a:lnTo>
                  <a:cubicBezTo>
                    <a:pt x="877824" y="1265174"/>
                    <a:pt x="876681" y="1266190"/>
                    <a:pt x="875411" y="1266190"/>
                  </a:cubicBezTo>
                  <a:lnTo>
                    <a:pt x="2413" y="1266190"/>
                  </a:lnTo>
                  <a:cubicBezTo>
                    <a:pt x="1016" y="1266190"/>
                    <a:pt x="0" y="1265047"/>
                    <a:pt x="0" y="1263777"/>
                  </a:cubicBezTo>
                  <a:close/>
                </a:path>
              </a:pathLst>
            </a:custGeom>
            <a:grpFill/>
          </p:spPr>
          <p:txBody>
            <a:bodyPr/>
            <a:lstStyle/>
            <a:p>
              <a:endParaRPr lang="en-US">
                <a:latin typeface="Cambria" panose="02040503050406030204" pitchFamily="18" charset="0"/>
              </a:endParaRPr>
            </a:p>
          </p:txBody>
        </p:sp>
      </p:grpSp>
      <p:sp>
        <p:nvSpPr>
          <p:cNvPr id="29" name="TextBox 29"/>
          <p:cNvSpPr txBox="1"/>
          <p:nvPr/>
        </p:nvSpPr>
        <p:spPr>
          <a:xfrm>
            <a:off x="1128739" y="5281516"/>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3</a:t>
            </a:r>
          </a:p>
        </p:txBody>
      </p:sp>
      <p:sp>
        <p:nvSpPr>
          <p:cNvPr id="30" name="TextBox 30"/>
          <p:cNvSpPr txBox="1"/>
          <p:nvPr/>
        </p:nvSpPr>
        <p:spPr>
          <a:xfrm>
            <a:off x="1627489" y="4918397"/>
            <a:ext cx="7514320" cy="244939"/>
          </a:xfrm>
          <a:prstGeom prst="rect">
            <a:avLst/>
          </a:prstGeom>
        </p:spPr>
        <p:txBody>
          <a:bodyPr wrap="square" lIns="0" tIns="0" rIns="0" bIns="0" rtlCol="0" anchor="t">
            <a:spAutoFit/>
          </a:bodyPr>
          <a:lstStyle/>
          <a:p>
            <a:pPr>
              <a:lnSpc>
                <a:spcPts val="2000"/>
              </a:lnSpc>
            </a:pPr>
            <a:r>
              <a:rPr lang="en-US" sz="1562" b="1" dirty="0">
                <a:solidFill>
                  <a:srgbClr val="4C4C4D"/>
                </a:solidFill>
                <a:latin typeface="Cambria" panose="02040503050406030204" pitchFamily="18" charset="0"/>
                <a:ea typeface="Crimson Pro Bold"/>
                <a:cs typeface="Crimson Pro Bold"/>
                <a:sym typeface="Crimson Pro Bold"/>
              </a:rPr>
              <a:t>Analyst Dashboard</a:t>
            </a:r>
          </a:p>
        </p:txBody>
      </p:sp>
      <p:sp>
        <p:nvSpPr>
          <p:cNvPr id="31" name="TextBox 31"/>
          <p:cNvSpPr txBox="1"/>
          <p:nvPr/>
        </p:nvSpPr>
        <p:spPr>
          <a:xfrm>
            <a:off x="1648865" y="5219601"/>
            <a:ext cx="7255963" cy="600614"/>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Post-login landing: Azure Blob Storage usage bar (45GB / 100GB), Active Cases counter (12 open investigations). Recent Uploads feed (Cosmos DB) showing Case ID, filename, and timestamp. Stats auto-refresh every 30s via GET /</a:t>
            </a:r>
            <a:r>
              <a:rPr lang="en-US" sz="1249" dirty="0" err="1">
                <a:solidFill>
                  <a:srgbClr val="4C4C4D"/>
                </a:solidFill>
                <a:latin typeface="Cambria" panose="02040503050406030204" pitchFamily="18" charset="0"/>
                <a:ea typeface="Heebo"/>
                <a:cs typeface="Heebo"/>
                <a:sym typeface="Heebo"/>
              </a:rPr>
              <a:t>api</a:t>
            </a:r>
            <a:r>
              <a:rPr lang="en-US" sz="1249" dirty="0">
                <a:solidFill>
                  <a:srgbClr val="4C4C4D"/>
                </a:solidFill>
                <a:latin typeface="Cambria" panose="02040503050406030204" pitchFamily="18" charset="0"/>
                <a:ea typeface="Heebo"/>
                <a:cs typeface="Heebo"/>
                <a:sym typeface="Heebo"/>
              </a:rPr>
              <a:t>/evidence.</a:t>
            </a:r>
          </a:p>
        </p:txBody>
      </p:sp>
      <p:grpSp>
        <p:nvGrpSpPr>
          <p:cNvPr id="32" name="Group 32"/>
          <p:cNvGrpSpPr/>
          <p:nvPr/>
        </p:nvGrpSpPr>
        <p:grpSpPr>
          <a:xfrm>
            <a:off x="886416" y="5953966"/>
            <a:ext cx="8319749" cy="1198836"/>
            <a:chOff x="0" y="0"/>
            <a:chExt cx="22045612" cy="1489278"/>
          </a:xfrm>
        </p:grpSpPr>
        <p:sp>
          <p:nvSpPr>
            <p:cNvPr id="33" name="Freeform 33"/>
            <p:cNvSpPr/>
            <p:nvPr/>
          </p:nvSpPr>
          <p:spPr>
            <a:xfrm>
              <a:off x="12700" y="12700"/>
              <a:ext cx="22020149" cy="1463802"/>
            </a:xfrm>
            <a:custGeom>
              <a:avLst/>
              <a:gdLst/>
              <a:ahLst/>
              <a:cxnLst/>
              <a:rect l="l" t="t" r="r" b="b"/>
              <a:pathLst>
                <a:path w="22020149" h="1463802">
                  <a:moveTo>
                    <a:pt x="0" y="32893"/>
                  </a:moveTo>
                  <a:cubicBezTo>
                    <a:pt x="0" y="14732"/>
                    <a:pt x="14986" y="0"/>
                    <a:pt x="33401" y="0"/>
                  </a:cubicBezTo>
                  <a:lnTo>
                    <a:pt x="21986748" y="0"/>
                  </a:lnTo>
                  <a:cubicBezTo>
                    <a:pt x="22005162" y="0"/>
                    <a:pt x="22020149" y="14732"/>
                    <a:pt x="22020149" y="32893"/>
                  </a:cubicBezTo>
                  <a:lnTo>
                    <a:pt x="22020149" y="1430909"/>
                  </a:lnTo>
                  <a:cubicBezTo>
                    <a:pt x="22020149" y="1449070"/>
                    <a:pt x="22005162" y="1463802"/>
                    <a:pt x="21986748" y="1463802"/>
                  </a:cubicBezTo>
                  <a:lnTo>
                    <a:pt x="33401" y="1463802"/>
                  </a:lnTo>
                  <a:cubicBezTo>
                    <a:pt x="14986" y="1463802"/>
                    <a:pt x="0" y="1449070"/>
                    <a:pt x="0" y="1430909"/>
                  </a:cubicBezTo>
                  <a:close/>
                </a:path>
              </a:pathLst>
            </a:custGeom>
            <a:solidFill>
              <a:srgbClr val="FFFFFF"/>
            </a:solidFill>
          </p:spPr>
          <p:txBody>
            <a:bodyPr/>
            <a:lstStyle/>
            <a:p>
              <a:endParaRPr lang="en-US">
                <a:latin typeface="Cambria" panose="02040503050406030204" pitchFamily="18" charset="0"/>
              </a:endParaRPr>
            </a:p>
          </p:txBody>
        </p:sp>
        <p:sp>
          <p:nvSpPr>
            <p:cNvPr id="34" name="Freeform 34"/>
            <p:cNvSpPr/>
            <p:nvPr/>
          </p:nvSpPr>
          <p:spPr>
            <a:xfrm>
              <a:off x="0" y="0"/>
              <a:ext cx="22045549" cy="1489202"/>
            </a:xfrm>
            <a:custGeom>
              <a:avLst/>
              <a:gdLst/>
              <a:ahLst/>
              <a:cxnLst/>
              <a:rect l="l" t="t" r="r" b="b"/>
              <a:pathLst>
                <a:path w="22045549" h="1489202">
                  <a:moveTo>
                    <a:pt x="0" y="45593"/>
                  </a:moveTo>
                  <a:cubicBezTo>
                    <a:pt x="0" y="20193"/>
                    <a:pt x="20828" y="0"/>
                    <a:pt x="46101" y="0"/>
                  </a:cubicBezTo>
                  <a:lnTo>
                    <a:pt x="21999448" y="0"/>
                  </a:lnTo>
                  <a:lnTo>
                    <a:pt x="21999448" y="12700"/>
                  </a:lnTo>
                  <a:lnTo>
                    <a:pt x="21999448" y="0"/>
                  </a:lnTo>
                  <a:cubicBezTo>
                    <a:pt x="22024721" y="0"/>
                    <a:pt x="22045549" y="20193"/>
                    <a:pt x="22045549" y="45593"/>
                  </a:cubicBezTo>
                  <a:lnTo>
                    <a:pt x="22032849" y="45593"/>
                  </a:lnTo>
                  <a:lnTo>
                    <a:pt x="22045549" y="45593"/>
                  </a:lnTo>
                  <a:lnTo>
                    <a:pt x="22045549" y="1443609"/>
                  </a:lnTo>
                  <a:lnTo>
                    <a:pt x="22032849" y="1443609"/>
                  </a:lnTo>
                  <a:lnTo>
                    <a:pt x="22045549" y="1443609"/>
                  </a:lnTo>
                  <a:cubicBezTo>
                    <a:pt x="22045549" y="1469009"/>
                    <a:pt x="22024721" y="1489202"/>
                    <a:pt x="21999448" y="1489202"/>
                  </a:cubicBezTo>
                  <a:lnTo>
                    <a:pt x="21999448" y="1476502"/>
                  </a:lnTo>
                  <a:lnTo>
                    <a:pt x="21999448" y="1489202"/>
                  </a:lnTo>
                  <a:lnTo>
                    <a:pt x="46101" y="1489202"/>
                  </a:lnTo>
                  <a:lnTo>
                    <a:pt x="46101" y="1476502"/>
                  </a:lnTo>
                  <a:lnTo>
                    <a:pt x="46101" y="1489202"/>
                  </a:lnTo>
                  <a:cubicBezTo>
                    <a:pt x="20828" y="1489202"/>
                    <a:pt x="0" y="1469009"/>
                    <a:pt x="0" y="1443609"/>
                  </a:cubicBezTo>
                  <a:lnTo>
                    <a:pt x="0" y="45593"/>
                  </a:lnTo>
                  <a:lnTo>
                    <a:pt x="12700" y="45593"/>
                  </a:lnTo>
                  <a:lnTo>
                    <a:pt x="0" y="45593"/>
                  </a:lnTo>
                  <a:moveTo>
                    <a:pt x="25400" y="45593"/>
                  </a:moveTo>
                  <a:lnTo>
                    <a:pt x="25400" y="1443609"/>
                  </a:lnTo>
                  <a:lnTo>
                    <a:pt x="12700" y="1443609"/>
                  </a:lnTo>
                  <a:lnTo>
                    <a:pt x="25400" y="1443609"/>
                  </a:lnTo>
                  <a:cubicBezTo>
                    <a:pt x="25400" y="1454531"/>
                    <a:pt x="34544" y="1463802"/>
                    <a:pt x="46101" y="1463802"/>
                  </a:cubicBezTo>
                  <a:lnTo>
                    <a:pt x="21999448" y="1463802"/>
                  </a:lnTo>
                  <a:cubicBezTo>
                    <a:pt x="22011132" y="1463802"/>
                    <a:pt x="22020149" y="1454531"/>
                    <a:pt x="22020149" y="1443609"/>
                  </a:cubicBezTo>
                  <a:lnTo>
                    <a:pt x="22020149" y="45593"/>
                  </a:lnTo>
                  <a:cubicBezTo>
                    <a:pt x="22020149" y="34671"/>
                    <a:pt x="22011005" y="25400"/>
                    <a:pt x="21999448" y="25400"/>
                  </a:cubicBezTo>
                  <a:lnTo>
                    <a:pt x="46101" y="25400"/>
                  </a:lnTo>
                  <a:lnTo>
                    <a:pt x="46101" y="12700"/>
                  </a:lnTo>
                  <a:lnTo>
                    <a:pt x="46101"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35" name="Group 35"/>
          <p:cNvGrpSpPr/>
          <p:nvPr/>
        </p:nvGrpSpPr>
        <p:grpSpPr>
          <a:xfrm>
            <a:off x="886416" y="5973025"/>
            <a:ext cx="708403" cy="1185573"/>
            <a:chOff x="0" y="0"/>
            <a:chExt cx="877888" cy="1413078"/>
          </a:xfrm>
          <a:solidFill>
            <a:schemeClr val="bg1">
              <a:lumMod val="85000"/>
            </a:schemeClr>
          </a:solidFill>
        </p:grpSpPr>
        <p:sp>
          <p:nvSpPr>
            <p:cNvPr id="36" name="Freeform 36"/>
            <p:cNvSpPr/>
            <p:nvPr/>
          </p:nvSpPr>
          <p:spPr>
            <a:xfrm>
              <a:off x="0" y="0"/>
              <a:ext cx="877824" cy="1413002"/>
            </a:xfrm>
            <a:custGeom>
              <a:avLst/>
              <a:gdLst/>
              <a:ahLst/>
              <a:cxnLst/>
              <a:rect l="l" t="t" r="r" b="b"/>
              <a:pathLst>
                <a:path w="877824" h="1413002">
                  <a:moveTo>
                    <a:pt x="0" y="2413"/>
                  </a:moveTo>
                  <a:cubicBezTo>
                    <a:pt x="0" y="1143"/>
                    <a:pt x="1143" y="0"/>
                    <a:pt x="2413" y="0"/>
                  </a:cubicBezTo>
                  <a:lnTo>
                    <a:pt x="875411" y="0"/>
                  </a:lnTo>
                  <a:cubicBezTo>
                    <a:pt x="876808" y="0"/>
                    <a:pt x="877824" y="1143"/>
                    <a:pt x="877824" y="2413"/>
                  </a:cubicBezTo>
                  <a:lnTo>
                    <a:pt x="877824" y="1410589"/>
                  </a:lnTo>
                  <a:cubicBezTo>
                    <a:pt x="877824" y="1411986"/>
                    <a:pt x="876681" y="1413002"/>
                    <a:pt x="875411" y="1413002"/>
                  </a:cubicBezTo>
                  <a:lnTo>
                    <a:pt x="2413" y="1413002"/>
                  </a:lnTo>
                  <a:cubicBezTo>
                    <a:pt x="1016" y="1413002"/>
                    <a:pt x="0" y="1411859"/>
                    <a:pt x="0" y="1410589"/>
                  </a:cubicBezTo>
                  <a:close/>
                </a:path>
              </a:pathLst>
            </a:custGeom>
            <a:grpFill/>
          </p:spPr>
          <p:txBody>
            <a:bodyPr/>
            <a:lstStyle/>
            <a:p>
              <a:endParaRPr lang="en-US">
                <a:latin typeface="Cambria" panose="02040503050406030204" pitchFamily="18" charset="0"/>
              </a:endParaRPr>
            </a:p>
          </p:txBody>
        </p:sp>
      </p:grpSp>
      <p:sp>
        <p:nvSpPr>
          <p:cNvPr id="37" name="TextBox 37"/>
          <p:cNvSpPr txBox="1"/>
          <p:nvPr/>
        </p:nvSpPr>
        <p:spPr>
          <a:xfrm>
            <a:off x="1139788" y="6437930"/>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4</a:t>
            </a:r>
          </a:p>
        </p:txBody>
      </p:sp>
      <p:sp>
        <p:nvSpPr>
          <p:cNvPr id="38" name="TextBox 38"/>
          <p:cNvSpPr txBox="1"/>
          <p:nvPr/>
        </p:nvSpPr>
        <p:spPr>
          <a:xfrm>
            <a:off x="1657635" y="5992503"/>
            <a:ext cx="7483132" cy="244939"/>
          </a:xfrm>
          <a:prstGeom prst="rect">
            <a:avLst/>
          </a:prstGeom>
        </p:spPr>
        <p:txBody>
          <a:bodyPr wrap="square" lIns="0" tIns="0" rIns="0" bIns="0" rtlCol="0" anchor="t">
            <a:spAutoFit/>
          </a:bodyPr>
          <a:lstStyle/>
          <a:p>
            <a:pPr>
              <a:lnSpc>
                <a:spcPts val="2000"/>
              </a:lnSpc>
            </a:pPr>
            <a:r>
              <a:rPr lang="en-US" sz="1562" b="1" dirty="0">
                <a:solidFill>
                  <a:srgbClr val="4C4C4D"/>
                </a:solidFill>
                <a:latin typeface="Cambria" panose="02040503050406030204" pitchFamily="18" charset="0"/>
                <a:ea typeface="Crimson Pro Bold"/>
                <a:cs typeface="Crimson Pro Bold"/>
                <a:sym typeface="Crimson Pro Bold"/>
              </a:rPr>
              <a:t>Upload Evidence</a:t>
            </a:r>
          </a:p>
        </p:txBody>
      </p:sp>
      <p:sp>
        <p:nvSpPr>
          <p:cNvPr id="39" name="TextBox 39"/>
          <p:cNvSpPr txBox="1"/>
          <p:nvPr/>
        </p:nvSpPr>
        <p:spPr>
          <a:xfrm>
            <a:off x="1657635" y="6273158"/>
            <a:ext cx="7255963" cy="805798"/>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Drag-and-drop zone: MP4, PNG, PCAP, ZIP (max 2GB per file). Form fields: Case ID | Evidence Type | CVSS Severity slider. SHA-256 hash auto-computed on upload and displayed before submit — analyst can verify file integrity. POST /</a:t>
            </a:r>
            <a:r>
              <a:rPr lang="en-US" sz="1249" dirty="0" err="1">
                <a:solidFill>
                  <a:srgbClr val="4C4C4D"/>
                </a:solidFill>
                <a:latin typeface="Cambria" panose="02040503050406030204" pitchFamily="18" charset="0"/>
                <a:ea typeface="Heebo"/>
                <a:cs typeface="Heebo"/>
                <a:sym typeface="Heebo"/>
              </a:rPr>
              <a:t>api</a:t>
            </a:r>
            <a:r>
              <a:rPr lang="en-US" sz="1249" dirty="0">
                <a:solidFill>
                  <a:srgbClr val="4C4C4D"/>
                </a:solidFill>
                <a:latin typeface="Cambria" panose="02040503050406030204" pitchFamily="18" charset="0"/>
                <a:ea typeface="Heebo"/>
                <a:cs typeface="Heebo"/>
                <a:sym typeface="Heebo"/>
              </a:rPr>
              <a:t>/evidence (multipart/form-data). Evidence scanned by Azure Content Moderator pre-write before being committed to Blob Storage [18].</a:t>
            </a:r>
          </a:p>
        </p:txBody>
      </p:sp>
      <p:grpSp>
        <p:nvGrpSpPr>
          <p:cNvPr id="40" name="Group 40"/>
          <p:cNvGrpSpPr/>
          <p:nvPr/>
        </p:nvGrpSpPr>
        <p:grpSpPr>
          <a:xfrm>
            <a:off x="886416" y="7279017"/>
            <a:ext cx="8295622" cy="1328991"/>
            <a:chOff x="0" y="0"/>
            <a:chExt cx="22045612" cy="1342428"/>
          </a:xfrm>
        </p:grpSpPr>
        <p:sp>
          <p:nvSpPr>
            <p:cNvPr id="41" name="Freeform 41"/>
            <p:cNvSpPr/>
            <p:nvPr/>
          </p:nvSpPr>
          <p:spPr>
            <a:xfrm>
              <a:off x="12700" y="12700"/>
              <a:ext cx="22020276" cy="1316990"/>
            </a:xfrm>
            <a:custGeom>
              <a:avLst/>
              <a:gdLst/>
              <a:ahLst/>
              <a:cxnLst/>
              <a:rect l="l" t="t" r="r" b="b"/>
              <a:pathLst>
                <a:path w="22020276" h="1316990">
                  <a:moveTo>
                    <a:pt x="0" y="32893"/>
                  </a:moveTo>
                  <a:cubicBezTo>
                    <a:pt x="0" y="14732"/>
                    <a:pt x="14986" y="0"/>
                    <a:pt x="33528" y="0"/>
                  </a:cubicBezTo>
                  <a:lnTo>
                    <a:pt x="21986748" y="0"/>
                  </a:lnTo>
                  <a:cubicBezTo>
                    <a:pt x="22005289" y="0"/>
                    <a:pt x="22020276" y="14732"/>
                    <a:pt x="22020276" y="32893"/>
                  </a:cubicBezTo>
                  <a:lnTo>
                    <a:pt x="22020276" y="1284097"/>
                  </a:lnTo>
                  <a:cubicBezTo>
                    <a:pt x="22020276" y="1302258"/>
                    <a:pt x="22005289" y="1316990"/>
                    <a:pt x="21986748" y="1316990"/>
                  </a:cubicBezTo>
                  <a:lnTo>
                    <a:pt x="33528" y="1316990"/>
                  </a:lnTo>
                  <a:cubicBezTo>
                    <a:pt x="14986" y="1316990"/>
                    <a:pt x="0" y="1302258"/>
                    <a:pt x="0" y="1284097"/>
                  </a:cubicBezTo>
                  <a:close/>
                </a:path>
              </a:pathLst>
            </a:custGeom>
            <a:solidFill>
              <a:srgbClr val="FFFFFF"/>
            </a:solidFill>
          </p:spPr>
          <p:txBody>
            <a:bodyPr/>
            <a:lstStyle/>
            <a:p>
              <a:endParaRPr lang="en-US">
                <a:latin typeface="Cambria" panose="02040503050406030204" pitchFamily="18" charset="0"/>
              </a:endParaRPr>
            </a:p>
          </p:txBody>
        </p:sp>
        <p:sp>
          <p:nvSpPr>
            <p:cNvPr id="42" name="Freeform 42"/>
            <p:cNvSpPr/>
            <p:nvPr/>
          </p:nvSpPr>
          <p:spPr>
            <a:xfrm>
              <a:off x="0" y="0"/>
              <a:ext cx="22045676" cy="1342390"/>
            </a:xfrm>
            <a:custGeom>
              <a:avLst/>
              <a:gdLst/>
              <a:ahLst/>
              <a:cxnLst/>
              <a:rect l="l" t="t" r="r" b="b"/>
              <a:pathLst>
                <a:path w="22045676" h="1342390">
                  <a:moveTo>
                    <a:pt x="0" y="45593"/>
                  </a:moveTo>
                  <a:cubicBezTo>
                    <a:pt x="0" y="20193"/>
                    <a:pt x="20955" y="0"/>
                    <a:pt x="46228" y="0"/>
                  </a:cubicBezTo>
                  <a:lnTo>
                    <a:pt x="21999448" y="0"/>
                  </a:lnTo>
                  <a:lnTo>
                    <a:pt x="21999448" y="12700"/>
                  </a:lnTo>
                  <a:lnTo>
                    <a:pt x="21999448" y="0"/>
                  </a:lnTo>
                  <a:cubicBezTo>
                    <a:pt x="22024721" y="0"/>
                    <a:pt x="22045676" y="20193"/>
                    <a:pt x="22045676" y="45593"/>
                  </a:cubicBezTo>
                  <a:lnTo>
                    <a:pt x="22032976" y="45593"/>
                  </a:lnTo>
                  <a:lnTo>
                    <a:pt x="22045676" y="45593"/>
                  </a:lnTo>
                  <a:lnTo>
                    <a:pt x="22045676" y="1296797"/>
                  </a:lnTo>
                  <a:lnTo>
                    <a:pt x="22032976" y="1296797"/>
                  </a:lnTo>
                  <a:lnTo>
                    <a:pt x="22045676" y="1296797"/>
                  </a:lnTo>
                  <a:cubicBezTo>
                    <a:pt x="22045676" y="1322197"/>
                    <a:pt x="22024721" y="1342390"/>
                    <a:pt x="21999448" y="1342390"/>
                  </a:cubicBezTo>
                  <a:lnTo>
                    <a:pt x="21999448" y="1329690"/>
                  </a:lnTo>
                  <a:lnTo>
                    <a:pt x="21999448" y="1342390"/>
                  </a:lnTo>
                  <a:lnTo>
                    <a:pt x="46228" y="1342390"/>
                  </a:lnTo>
                  <a:lnTo>
                    <a:pt x="46228" y="1329690"/>
                  </a:lnTo>
                  <a:lnTo>
                    <a:pt x="46228" y="1342390"/>
                  </a:lnTo>
                  <a:cubicBezTo>
                    <a:pt x="20955" y="1342390"/>
                    <a:pt x="0" y="1322197"/>
                    <a:pt x="0" y="1296797"/>
                  </a:cubicBezTo>
                  <a:lnTo>
                    <a:pt x="0" y="45593"/>
                  </a:lnTo>
                  <a:lnTo>
                    <a:pt x="12700" y="45593"/>
                  </a:lnTo>
                  <a:lnTo>
                    <a:pt x="0" y="45593"/>
                  </a:lnTo>
                  <a:moveTo>
                    <a:pt x="25400" y="45593"/>
                  </a:moveTo>
                  <a:lnTo>
                    <a:pt x="25400" y="1296797"/>
                  </a:lnTo>
                  <a:lnTo>
                    <a:pt x="12700" y="1296797"/>
                  </a:lnTo>
                  <a:lnTo>
                    <a:pt x="25400" y="1296797"/>
                  </a:lnTo>
                  <a:cubicBezTo>
                    <a:pt x="25400" y="1307719"/>
                    <a:pt x="34544" y="1316990"/>
                    <a:pt x="46228" y="1316990"/>
                  </a:cubicBezTo>
                  <a:lnTo>
                    <a:pt x="21999448" y="1316990"/>
                  </a:lnTo>
                  <a:cubicBezTo>
                    <a:pt x="22011132" y="1316990"/>
                    <a:pt x="22020276" y="1307719"/>
                    <a:pt x="22020276" y="1296797"/>
                  </a:cubicBezTo>
                  <a:lnTo>
                    <a:pt x="22020276" y="45593"/>
                  </a:lnTo>
                  <a:cubicBezTo>
                    <a:pt x="22020276" y="34671"/>
                    <a:pt x="22011132" y="25400"/>
                    <a:pt x="21999448" y="25400"/>
                  </a:cubicBezTo>
                  <a:lnTo>
                    <a:pt x="46228" y="25400"/>
                  </a:lnTo>
                  <a:lnTo>
                    <a:pt x="46228" y="12700"/>
                  </a:lnTo>
                  <a:lnTo>
                    <a:pt x="46228"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43" name="Group 43"/>
          <p:cNvGrpSpPr/>
          <p:nvPr/>
        </p:nvGrpSpPr>
        <p:grpSpPr>
          <a:xfrm>
            <a:off x="885806" y="7279017"/>
            <a:ext cx="682166" cy="1332621"/>
            <a:chOff x="0" y="0"/>
            <a:chExt cx="877888" cy="1266228"/>
          </a:xfrm>
          <a:solidFill>
            <a:schemeClr val="bg1">
              <a:lumMod val="85000"/>
            </a:schemeClr>
          </a:solidFill>
        </p:grpSpPr>
        <p:sp>
          <p:nvSpPr>
            <p:cNvPr id="44" name="Freeform 44"/>
            <p:cNvSpPr/>
            <p:nvPr/>
          </p:nvSpPr>
          <p:spPr>
            <a:xfrm>
              <a:off x="0" y="0"/>
              <a:ext cx="877824" cy="1266190"/>
            </a:xfrm>
            <a:custGeom>
              <a:avLst/>
              <a:gdLst/>
              <a:ahLst/>
              <a:cxnLst/>
              <a:rect l="l" t="t" r="r" b="b"/>
              <a:pathLst>
                <a:path w="877824" h="1266190">
                  <a:moveTo>
                    <a:pt x="0" y="2413"/>
                  </a:moveTo>
                  <a:cubicBezTo>
                    <a:pt x="0" y="1143"/>
                    <a:pt x="1143" y="0"/>
                    <a:pt x="2413" y="0"/>
                  </a:cubicBezTo>
                  <a:lnTo>
                    <a:pt x="875411" y="0"/>
                  </a:lnTo>
                  <a:cubicBezTo>
                    <a:pt x="876808" y="0"/>
                    <a:pt x="877824" y="1143"/>
                    <a:pt x="877824" y="2413"/>
                  </a:cubicBezTo>
                  <a:lnTo>
                    <a:pt x="877824" y="1263777"/>
                  </a:lnTo>
                  <a:cubicBezTo>
                    <a:pt x="877824" y="1265174"/>
                    <a:pt x="876681" y="1266190"/>
                    <a:pt x="875411" y="1266190"/>
                  </a:cubicBezTo>
                  <a:lnTo>
                    <a:pt x="2413" y="1266190"/>
                  </a:lnTo>
                  <a:cubicBezTo>
                    <a:pt x="1016" y="1266190"/>
                    <a:pt x="0" y="1265047"/>
                    <a:pt x="0" y="1263777"/>
                  </a:cubicBezTo>
                  <a:close/>
                </a:path>
              </a:pathLst>
            </a:custGeom>
            <a:grpFill/>
          </p:spPr>
          <p:txBody>
            <a:bodyPr/>
            <a:lstStyle/>
            <a:p>
              <a:endParaRPr lang="en-US">
                <a:latin typeface="Cambria" panose="02040503050406030204" pitchFamily="18" charset="0"/>
              </a:endParaRPr>
            </a:p>
          </p:txBody>
        </p:sp>
      </p:grpSp>
      <p:sp>
        <p:nvSpPr>
          <p:cNvPr id="45" name="TextBox 45"/>
          <p:cNvSpPr txBox="1"/>
          <p:nvPr/>
        </p:nvSpPr>
        <p:spPr>
          <a:xfrm>
            <a:off x="1128740" y="7798147"/>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5</a:t>
            </a:r>
          </a:p>
        </p:txBody>
      </p:sp>
      <p:sp>
        <p:nvSpPr>
          <p:cNvPr id="46" name="TextBox 46"/>
          <p:cNvSpPr txBox="1"/>
          <p:nvPr/>
        </p:nvSpPr>
        <p:spPr>
          <a:xfrm>
            <a:off x="1642348" y="7407437"/>
            <a:ext cx="7499461" cy="244939"/>
          </a:xfrm>
          <a:prstGeom prst="rect">
            <a:avLst/>
          </a:prstGeom>
        </p:spPr>
        <p:txBody>
          <a:bodyPr wrap="square" lIns="0" tIns="0" rIns="0" bIns="0" rtlCol="0" anchor="t">
            <a:spAutoFit/>
          </a:bodyPr>
          <a:lstStyle/>
          <a:p>
            <a:pPr>
              <a:lnSpc>
                <a:spcPts val="2000"/>
              </a:lnSpc>
            </a:pPr>
            <a:r>
              <a:rPr lang="en-US" sz="1562" b="1" dirty="0">
                <a:solidFill>
                  <a:srgbClr val="4C4C4D"/>
                </a:solidFill>
                <a:latin typeface="Cambria" panose="02040503050406030204" pitchFamily="18" charset="0"/>
                <a:ea typeface="Crimson Pro Bold"/>
                <a:cs typeface="Crimson Pro Bold"/>
                <a:sym typeface="Crimson Pro Bold"/>
              </a:rPr>
              <a:t>Evidence Gallery &amp; Custody Log</a:t>
            </a:r>
          </a:p>
        </p:txBody>
      </p:sp>
      <p:sp>
        <p:nvSpPr>
          <p:cNvPr id="47" name="TextBox 47"/>
          <p:cNvSpPr txBox="1"/>
          <p:nvPr/>
        </p:nvSpPr>
        <p:spPr>
          <a:xfrm>
            <a:off x="1627488" y="7698162"/>
            <a:ext cx="7255963" cy="805798"/>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Gallery: severity-badged cards (Critical=red, High=amber, Low=green) with View / Edit / Delete CRUD actions per evidence item revealed on hover. System Audit Log panel: immutable timestamped log of every CREATE, READ, UPDATE, DELETE action across Logic Apps, Cosmos DB, and Blob Storage — legal chain of custody record.</a:t>
            </a:r>
          </a:p>
        </p:txBody>
      </p:sp>
      <p:grpSp>
        <p:nvGrpSpPr>
          <p:cNvPr id="48" name="Group 48"/>
          <p:cNvGrpSpPr/>
          <p:nvPr/>
        </p:nvGrpSpPr>
        <p:grpSpPr>
          <a:xfrm>
            <a:off x="886440" y="8759853"/>
            <a:ext cx="8295598" cy="1104939"/>
            <a:chOff x="0" y="0"/>
            <a:chExt cx="22045612" cy="1342428"/>
          </a:xfrm>
        </p:grpSpPr>
        <p:sp>
          <p:nvSpPr>
            <p:cNvPr id="49" name="Freeform 49"/>
            <p:cNvSpPr/>
            <p:nvPr/>
          </p:nvSpPr>
          <p:spPr>
            <a:xfrm>
              <a:off x="12700" y="12700"/>
              <a:ext cx="22020276" cy="1316990"/>
            </a:xfrm>
            <a:custGeom>
              <a:avLst/>
              <a:gdLst/>
              <a:ahLst/>
              <a:cxnLst/>
              <a:rect l="l" t="t" r="r" b="b"/>
              <a:pathLst>
                <a:path w="22020276" h="1316990">
                  <a:moveTo>
                    <a:pt x="0" y="32893"/>
                  </a:moveTo>
                  <a:cubicBezTo>
                    <a:pt x="0" y="14732"/>
                    <a:pt x="14986" y="0"/>
                    <a:pt x="33528" y="0"/>
                  </a:cubicBezTo>
                  <a:lnTo>
                    <a:pt x="21986748" y="0"/>
                  </a:lnTo>
                  <a:cubicBezTo>
                    <a:pt x="22005289" y="0"/>
                    <a:pt x="22020276" y="14732"/>
                    <a:pt x="22020276" y="32893"/>
                  </a:cubicBezTo>
                  <a:lnTo>
                    <a:pt x="22020276" y="1284097"/>
                  </a:lnTo>
                  <a:cubicBezTo>
                    <a:pt x="22020276" y="1302258"/>
                    <a:pt x="22005289" y="1316990"/>
                    <a:pt x="21986748" y="1316990"/>
                  </a:cubicBezTo>
                  <a:lnTo>
                    <a:pt x="33528" y="1316990"/>
                  </a:lnTo>
                  <a:cubicBezTo>
                    <a:pt x="14986" y="1316990"/>
                    <a:pt x="0" y="1302258"/>
                    <a:pt x="0" y="1284097"/>
                  </a:cubicBezTo>
                  <a:close/>
                </a:path>
              </a:pathLst>
            </a:custGeom>
            <a:solidFill>
              <a:srgbClr val="FFFFFF"/>
            </a:solidFill>
          </p:spPr>
          <p:txBody>
            <a:bodyPr/>
            <a:lstStyle/>
            <a:p>
              <a:endParaRPr lang="en-US">
                <a:latin typeface="Cambria" panose="02040503050406030204" pitchFamily="18" charset="0"/>
              </a:endParaRPr>
            </a:p>
          </p:txBody>
        </p:sp>
        <p:sp>
          <p:nvSpPr>
            <p:cNvPr id="50" name="Freeform 50"/>
            <p:cNvSpPr/>
            <p:nvPr/>
          </p:nvSpPr>
          <p:spPr>
            <a:xfrm>
              <a:off x="0" y="0"/>
              <a:ext cx="22045676" cy="1342390"/>
            </a:xfrm>
            <a:custGeom>
              <a:avLst/>
              <a:gdLst/>
              <a:ahLst/>
              <a:cxnLst/>
              <a:rect l="l" t="t" r="r" b="b"/>
              <a:pathLst>
                <a:path w="22045676" h="1342390">
                  <a:moveTo>
                    <a:pt x="0" y="45593"/>
                  </a:moveTo>
                  <a:cubicBezTo>
                    <a:pt x="0" y="20193"/>
                    <a:pt x="20955" y="0"/>
                    <a:pt x="46228" y="0"/>
                  </a:cubicBezTo>
                  <a:lnTo>
                    <a:pt x="21999448" y="0"/>
                  </a:lnTo>
                  <a:lnTo>
                    <a:pt x="21999448" y="12700"/>
                  </a:lnTo>
                  <a:lnTo>
                    <a:pt x="21999448" y="0"/>
                  </a:lnTo>
                  <a:cubicBezTo>
                    <a:pt x="22024721" y="0"/>
                    <a:pt x="22045676" y="20193"/>
                    <a:pt x="22045676" y="45593"/>
                  </a:cubicBezTo>
                  <a:lnTo>
                    <a:pt x="22032976" y="45593"/>
                  </a:lnTo>
                  <a:lnTo>
                    <a:pt x="22045676" y="45593"/>
                  </a:lnTo>
                  <a:lnTo>
                    <a:pt x="22045676" y="1296797"/>
                  </a:lnTo>
                  <a:lnTo>
                    <a:pt x="22032976" y="1296797"/>
                  </a:lnTo>
                  <a:lnTo>
                    <a:pt x="22045676" y="1296797"/>
                  </a:lnTo>
                  <a:cubicBezTo>
                    <a:pt x="22045676" y="1322197"/>
                    <a:pt x="22024721" y="1342390"/>
                    <a:pt x="21999448" y="1342390"/>
                  </a:cubicBezTo>
                  <a:lnTo>
                    <a:pt x="21999448" y="1329690"/>
                  </a:lnTo>
                  <a:lnTo>
                    <a:pt x="21999448" y="1342390"/>
                  </a:lnTo>
                  <a:lnTo>
                    <a:pt x="46228" y="1342390"/>
                  </a:lnTo>
                  <a:lnTo>
                    <a:pt x="46228" y="1329690"/>
                  </a:lnTo>
                  <a:lnTo>
                    <a:pt x="46228" y="1342390"/>
                  </a:lnTo>
                  <a:cubicBezTo>
                    <a:pt x="20955" y="1342390"/>
                    <a:pt x="0" y="1322197"/>
                    <a:pt x="0" y="1296797"/>
                  </a:cubicBezTo>
                  <a:lnTo>
                    <a:pt x="0" y="45593"/>
                  </a:lnTo>
                  <a:lnTo>
                    <a:pt x="12700" y="45593"/>
                  </a:lnTo>
                  <a:lnTo>
                    <a:pt x="0" y="45593"/>
                  </a:lnTo>
                  <a:moveTo>
                    <a:pt x="25400" y="45593"/>
                  </a:moveTo>
                  <a:lnTo>
                    <a:pt x="25400" y="1296797"/>
                  </a:lnTo>
                  <a:lnTo>
                    <a:pt x="12700" y="1296797"/>
                  </a:lnTo>
                  <a:lnTo>
                    <a:pt x="25400" y="1296797"/>
                  </a:lnTo>
                  <a:cubicBezTo>
                    <a:pt x="25400" y="1307719"/>
                    <a:pt x="34544" y="1316990"/>
                    <a:pt x="46228" y="1316990"/>
                  </a:cubicBezTo>
                  <a:lnTo>
                    <a:pt x="21999448" y="1316990"/>
                  </a:lnTo>
                  <a:cubicBezTo>
                    <a:pt x="22011132" y="1316990"/>
                    <a:pt x="22020276" y="1307719"/>
                    <a:pt x="22020276" y="1296797"/>
                  </a:cubicBezTo>
                  <a:lnTo>
                    <a:pt x="22020276" y="45593"/>
                  </a:lnTo>
                  <a:cubicBezTo>
                    <a:pt x="22020276" y="34671"/>
                    <a:pt x="22011132" y="25400"/>
                    <a:pt x="21999448" y="25400"/>
                  </a:cubicBezTo>
                  <a:lnTo>
                    <a:pt x="46228" y="25400"/>
                  </a:lnTo>
                  <a:lnTo>
                    <a:pt x="46228" y="12700"/>
                  </a:lnTo>
                  <a:lnTo>
                    <a:pt x="46228" y="25400"/>
                  </a:lnTo>
                  <a:cubicBezTo>
                    <a:pt x="34544" y="25400"/>
                    <a:pt x="25400" y="34671"/>
                    <a:pt x="25400" y="45593"/>
                  </a:cubicBezTo>
                  <a:close/>
                </a:path>
              </a:pathLst>
            </a:custGeom>
            <a:solidFill>
              <a:srgbClr val="D8D4D4"/>
            </a:solidFill>
          </p:spPr>
          <p:txBody>
            <a:bodyPr/>
            <a:lstStyle/>
            <a:p>
              <a:endParaRPr lang="en-US">
                <a:latin typeface="Cambria" panose="02040503050406030204" pitchFamily="18" charset="0"/>
              </a:endParaRPr>
            </a:p>
          </p:txBody>
        </p:sp>
      </p:grpSp>
      <p:grpSp>
        <p:nvGrpSpPr>
          <p:cNvPr id="51" name="Group 51"/>
          <p:cNvGrpSpPr/>
          <p:nvPr/>
        </p:nvGrpSpPr>
        <p:grpSpPr>
          <a:xfrm>
            <a:off x="890538" y="8778007"/>
            <a:ext cx="709525" cy="1084001"/>
            <a:chOff x="0" y="0"/>
            <a:chExt cx="877888" cy="1266228"/>
          </a:xfrm>
          <a:solidFill>
            <a:schemeClr val="bg1">
              <a:lumMod val="85000"/>
            </a:schemeClr>
          </a:solidFill>
        </p:grpSpPr>
        <p:sp>
          <p:nvSpPr>
            <p:cNvPr id="52" name="Freeform 52"/>
            <p:cNvSpPr/>
            <p:nvPr/>
          </p:nvSpPr>
          <p:spPr>
            <a:xfrm>
              <a:off x="0" y="0"/>
              <a:ext cx="877824" cy="1266190"/>
            </a:xfrm>
            <a:custGeom>
              <a:avLst/>
              <a:gdLst/>
              <a:ahLst/>
              <a:cxnLst/>
              <a:rect l="l" t="t" r="r" b="b"/>
              <a:pathLst>
                <a:path w="877824" h="1266190">
                  <a:moveTo>
                    <a:pt x="0" y="2413"/>
                  </a:moveTo>
                  <a:cubicBezTo>
                    <a:pt x="0" y="1143"/>
                    <a:pt x="1143" y="0"/>
                    <a:pt x="2413" y="0"/>
                  </a:cubicBezTo>
                  <a:lnTo>
                    <a:pt x="875411" y="0"/>
                  </a:lnTo>
                  <a:cubicBezTo>
                    <a:pt x="876808" y="0"/>
                    <a:pt x="877824" y="1143"/>
                    <a:pt x="877824" y="2413"/>
                  </a:cubicBezTo>
                  <a:lnTo>
                    <a:pt x="877824" y="1263777"/>
                  </a:lnTo>
                  <a:cubicBezTo>
                    <a:pt x="877824" y="1265174"/>
                    <a:pt x="876681" y="1266190"/>
                    <a:pt x="875411" y="1266190"/>
                  </a:cubicBezTo>
                  <a:lnTo>
                    <a:pt x="2413" y="1266190"/>
                  </a:lnTo>
                  <a:cubicBezTo>
                    <a:pt x="1016" y="1266190"/>
                    <a:pt x="0" y="1265047"/>
                    <a:pt x="0" y="1263777"/>
                  </a:cubicBezTo>
                  <a:close/>
                </a:path>
              </a:pathLst>
            </a:custGeom>
            <a:grpFill/>
          </p:spPr>
          <p:txBody>
            <a:bodyPr/>
            <a:lstStyle/>
            <a:p>
              <a:endParaRPr lang="en-US">
                <a:latin typeface="Cambria" panose="02040503050406030204" pitchFamily="18" charset="0"/>
              </a:endParaRPr>
            </a:p>
          </p:txBody>
        </p:sp>
      </p:grpSp>
      <p:sp>
        <p:nvSpPr>
          <p:cNvPr id="53" name="TextBox 53"/>
          <p:cNvSpPr txBox="1"/>
          <p:nvPr/>
        </p:nvSpPr>
        <p:spPr>
          <a:xfrm>
            <a:off x="1103410" y="9190478"/>
            <a:ext cx="246907" cy="243656"/>
          </a:xfrm>
          <a:prstGeom prst="rect">
            <a:avLst/>
          </a:prstGeom>
        </p:spPr>
        <p:txBody>
          <a:bodyPr lIns="0" tIns="0" rIns="0" bIns="0" rtlCol="0" anchor="t">
            <a:spAutoFit/>
          </a:bodyPr>
          <a:lstStyle/>
          <a:p>
            <a:pPr algn="l">
              <a:lnSpc>
                <a:spcPts val="1937"/>
              </a:lnSpc>
            </a:pPr>
            <a:r>
              <a:rPr lang="en-US" sz="1937" b="1" dirty="0">
                <a:solidFill>
                  <a:srgbClr val="4C4C4D"/>
                </a:solidFill>
                <a:latin typeface="Cambria" panose="02040503050406030204" pitchFamily="18" charset="0"/>
                <a:ea typeface="Crimson Pro Bold"/>
                <a:cs typeface="Crimson Pro Bold"/>
                <a:sym typeface="Crimson Pro Bold"/>
              </a:rPr>
              <a:t>6</a:t>
            </a:r>
          </a:p>
        </p:txBody>
      </p:sp>
      <p:sp>
        <p:nvSpPr>
          <p:cNvPr id="54" name="TextBox 54"/>
          <p:cNvSpPr txBox="1"/>
          <p:nvPr/>
        </p:nvSpPr>
        <p:spPr>
          <a:xfrm>
            <a:off x="1642349" y="8829396"/>
            <a:ext cx="7499460" cy="237886"/>
          </a:xfrm>
          <a:prstGeom prst="rect">
            <a:avLst/>
          </a:prstGeom>
        </p:spPr>
        <p:txBody>
          <a:bodyPr wrap="square" lIns="0" tIns="0" rIns="0" bIns="0" rtlCol="0" anchor="t">
            <a:spAutoFit/>
          </a:bodyPr>
          <a:lstStyle/>
          <a:p>
            <a:pPr algn="l">
              <a:lnSpc>
                <a:spcPts val="2000"/>
              </a:lnSpc>
            </a:pPr>
            <a:r>
              <a:rPr lang="en-US" sz="1562" b="1" dirty="0">
                <a:solidFill>
                  <a:srgbClr val="4C4C4D"/>
                </a:solidFill>
                <a:latin typeface="Cambria" panose="02040503050406030204" pitchFamily="18" charset="0"/>
                <a:ea typeface="Crimson Pro Bold"/>
                <a:cs typeface="Crimson Pro Bold"/>
                <a:sym typeface="Crimson Pro Bold"/>
              </a:rPr>
              <a:t>About &amp; Footer</a:t>
            </a:r>
          </a:p>
        </p:txBody>
      </p:sp>
      <p:sp>
        <p:nvSpPr>
          <p:cNvPr id="55" name="TextBox 55"/>
          <p:cNvSpPr txBox="1"/>
          <p:nvPr/>
        </p:nvSpPr>
        <p:spPr>
          <a:xfrm>
            <a:off x="1642348" y="9155071"/>
            <a:ext cx="7255963" cy="615553"/>
          </a:xfrm>
          <a:prstGeom prst="rect">
            <a:avLst/>
          </a:prstGeom>
        </p:spPr>
        <p:txBody>
          <a:bodyPr wrap="square" lIns="0" tIns="0" rIns="0" bIns="0" rtlCol="0" anchor="t">
            <a:spAutoFit/>
          </a:bodyPr>
          <a:lstStyle/>
          <a:p>
            <a:pPr>
              <a:lnSpc>
                <a:spcPts val="1625"/>
              </a:lnSpc>
            </a:pPr>
            <a:r>
              <a:rPr lang="en-US" sz="1249" dirty="0">
                <a:solidFill>
                  <a:srgbClr val="4C4C4D"/>
                </a:solidFill>
                <a:latin typeface="Cambria" panose="02040503050406030204" pitchFamily="18" charset="0"/>
                <a:ea typeface="Heebo"/>
                <a:cs typeface="Heebo"/>
                <a:sym typeface="Heebo"/>
              </a:rPr>
              <a:t>Two-column about: platform description left (ThreatVault — Azure-native cyber evidence platform for SOC teams, MSSPs, and forensic investigators), shield icon right. Footer: ThreatVault links | Resources | Legal | Contact | © 2026 ThreatVault · Azure-Native · GDPR Compliant · UK Region Lock.</a:t>
            </a:r>
          </a:p>
        </p:txBody>
      </p:sp>
      <p:pic>
        <p:nvPicPr>
          <p:cNvPr id="57" name="Picture 56" descr="A screenshot of a computer&#10;&#10;AI-generated content may be incorrect.">
            <a:extLst>
              <a:ext uri="{FF2B5EF4-FFF2-40B4-BE49-F238E27FC236}">
                <a16:creationId xmlns:a16="http://schemas.microsoft.com/office/drawing/2014/main" id="{9132FDE9-70B3-F5E7-711E-6EC400997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9930" y="2578924"/>
            <a:ext cx="8507069" cy="72753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284BBDB3-3D31-D749-6E7C-75E08AE594A1}"/>
              </a:ext>
            </a:extLst>
          </p:cNvPr>
          <p:cNvSpPr txBox="1"/>
          <p:nvPr/>
        </p:nvSpPr>
        <p:spPr>
          <a:xfrm>
            <a:off x="777631" y="984647"/>
            <a:ext cx="16732748" cy="448841"/>
          </a:xfrm>
          <a:prstGeom prst="rect">
            <a:avLst/>
          </a:prstGeom>
        </p:spPr>
        <p:txBody>
          <a:bodyPr wrap="square" lIns="0" tIns="0" rIns="0" bIns="0" rtlCol="0" anchor="t">
            <a:spAutoFit/>
          </a:bodyPr>
          <a:lstStyle/>
          <a:p>
            <a:pPr>
              <a:lnSpc>
                <a:spcPts val="3499"/>
              </a:lnSpc>
            </a:pPr>
            <a:r>
              <a:rPr lang="en-US" sz="3200" b="1" dirty="0">
                <a:solidFill>
                  <a:srgbClr val="152D47"/>
                </a:solidFill>
                <a:latin typeface="Cambria" panose="02040503050406030204" pitchFamily="18" charset="0"/>
                <a:ea typeface="Crimson Pro Bold"/>
                <a:cs typeface="Crimson Pro Bold"/>
                <a:sym typeface="Crimson Pro Bold"/>
              </a:rPr>
              <a:t>REST API Design — CRUD Operations via Azure Logic Apps &amp; UML Sequence Diagram</a:t>
            </a:r>
          </a:p>
        </p:txBody>
      </p:sp>
      <p:sp>
        <p:nvSpPr>
          <p:cNvPr id="4" name="Freeform 9">
            <a:extLst>
              <a:ext uri="{FF2B5EF4-FFF2-40B4-BE49-F238E27FC236}">
                <a16:creationId xmlns:a16="http://schemas.microsoft.com/office/drawing/2014/main" id="{3B4CE458-B9F3-E83C-39AC-79FF081515DD}"/>
              </a:ext>
            </a:extLst>
          </p:cNvPr>
          <p:cNvSpPr/>
          <p:nvPr/>
        </p:nvSpPr>
        <p:spPr>
          <a:xfrm>
            <a:off x="903448" y="3161245"/>
            <a:ext cx="8366369" cy="448841"/>
          </a:xfrm>
          <a:custGeom>
            <a:avLst/>
            <a:gdLst/>
            <a:ahLst/>
            <a:cxnLst/>
            <a:rect l="l" t="t" r="r" b="b"/>
            <a:pathLst>
              <a:path w="7084568" h="3834638">
                <a:moveTo>
                  <a:pt x="0" y="45339"/>
                </a:moveTo>
                <a:cubicBezTo>
                  <a:pt x="0" y="20320"/>
                  <a:pt x="20320" y="0"/>
                  <a:pt x="45339" y="0"/>
                </a:cubicBezTo>
                <a:lnTo>
                  <a:pt x="7039229" y="0"/>
                </a:lnTo>
                <a:cubicBezTo>
                  <a:pt x="7064248" y="0"/>
                  <a:pt x="7084568" y="20320"/>
                  <a:pt x="7084568" y="45339"/>
                </a:cubicBezTo>
                <a:lnTo>
                  <a:pt x="7084568" y="3789299"/>
                </a:lnTo>
                <a:cubicBezTo>
                  <a:pt x="7084568" y="3814318"/>
                  <a:pt x="7064248" y="3834638"/>
                  <a:pt x="7039229" y="3834638"/>
                </a:cubicBezTo>
                <a:lnTo>
                  <a:pt x="45339" y="3834638"/>
                </a:lnTo>
                <a:cubicBezTo>
                  <a:pt x="20320" y="3834638"/>
                  <a:pt x="0" y="3814318"/>
                  <a:pt x="0" y="3789299"/>
                </a:cubicBezTo>
                <a:close/>
              </a:path>
            </a:pathLst>
          </a:custGeom>
          <a:solidFill>
            <a:schemeClr val="bg1">
              <a:lumMod val="85000"/>
            </a:schemeClr>
          </a:solidFill>
        </p:spPr>
        <p:txBody>
          <a:bodyPr/>
          <a:lstStyle/>
          <a:p>
            <a:endParaRPr lang="en-US" sz="1600" dirty="0">
              <a:latin typeface="Cambria" panose="02040503050406030204" pitchFamily="18" charset="0"/>
              <a:cs typeface="Heebo" pitchFamily="2" charset="-79"/>
            </a:endParaRPr>
          </a:p>
        </p:txBody>
      </p:sp>
      <p:pic>
        <p:nvPicPr>
          <p:cNvPr id="36" name="Picture 35" descr="A screenshot of a computer&#10;&#10;AI-generated content may be incorrect.">
            <a:extLst>
              <a:ext uri="{FF2B5EF4-FFF2-40B4-BE49-F238E27FC236}">
                <a16:creationId xmlns:a16="http://schemas.microsoft.com/office/drawing/2014/main" id="{C9E48F5C-A25C-211D-4A9A-7C98C681E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798" y="1943100"/>
            <a:ext cx="8458201" cy="7129035"/>
          </a:xfrm>
          <a:prstGeom prst="rect">
            <a:avLst/>
          </a:prstGeom>
        </p:spPr>
      </p:pic>
      <p:graphicFrame>
        <p:nvGraphicFramePr>
          <p:cNvPr id="5" name="Table 4">
            <a:extLst>
              <a:ext uri="{FF2B5EF4-FFF2-40B4-BE49-F238E27FC236}">
                <a16:creationId xmlns:a16="http://schemas.microsoft.com/office/drawing/2014/main" id="{7D3B3911-8E17-94D2-409B-2212364F6BAA}"/>
              </a:ext>
            </a:extLst>
          </p:cNvPr>
          <p:cNvGraphicFramePr>
            <a:graphicFrameLocks noGrp="1"/>
          </p:cNvGraphicFramePr>
          <p:nvPr>
            <p:extLst>
              <p:ext uri="{D42A27DB-BD31-4B8C-83A1-F6EECF244321}">
                <p14:modId xmlns:p14="http://schemas.microsoft.com/office/powerpoint/2010/main" val="1522791605"/>
              </p:ext>
            </p:extLst>
          </p:nvPr>
        </p:nvGraphicFramePr>
        <p:xfrm>
          <a:off x="919687" y="3204103"/>
          <a:ext cx="8366370" cy="3648460"/>
        </p:xfrm>
        <a:graphic>
          <a:graphicData uri="http://schemas.openxmlformats.org/drawingml/2006/table">
            <a:tbl>
              <a:tblPr/>
              <a:tblGrid>
                <a:gridCol w="1673274">
                  <a:extLst>
                    <a:ext uri="{9D8B030D-6E8A-4147-A177-3AD203B41FA5}">
                      <a16:colId xmlns:a16="http://schemas.microsoft.com/office/drawing/2014/main" val="71234860"/>
                    </a:ext>
                  </a:extLst>
                </a:gridCol>
                <a:gridCol w="1280748">
                  <a:extLst>
                    <a:ext uri="{9D8B030D-6E8A-4147-A177-3AD203B41FA5}">
                      <a16:colId xmlns:a16="http://schemas.microsoft.com/office/drawing/2014/main" val="1560831211"/>
                    </a:ext>
                  </a:extLst>
                </a:gridCol>
                <a:gridCol w="1905000">
                  <a:extLst>
                    <a:ext uri="{9D8B030D-6E8A-4147-A177-3AD203B41FA5}">
                      <a16:colId xmlns:a16="http://schemas.microsoft.com/office/drawing/2014/main" val="1769877748"/>
                    </a:ext>
                  </a:extLst>
                </a:gridCol>
                <a:gridCol w="1600200">
                  <a:extLst>
                    <a:ext uri="{9D8B030D-6E8A-4147-A177-3AD203B41FA5}">
                      <a16:colId xmlns:a16="http://schemas.microsoft.com/office/drawing/2014/main" val="1018335855"/>
                    </a:ext>
                  </a:extLst>
                </a:gridCol>
                <a:gridCol w="1907148">
                  <a:extLst>
                    <a:ext uri="{9D8B030D-6E8A-4147-A177-3AD203B41FA5}">
                      <a16:colId xmlns:a16="http://schemas.microsoft.com/office/drawing/2014/main" val="3020815251"/>
                    </a:ext>
                  </a:extLst>
                </a:gridCol>
              </a:tblGrid>
              <a:tr h="409520">
                <a:tc>
                  <a:txBody>
                    <a:bodyPr/>
                    <a:lstStyle/>
                    <a:p>
                      <a:pPr>
                        <a:buNone/>
                      </a:pPr>
                      <a:r>
                        <a:rPr lang="en-GB" sz="1600" b="1" dirty="0">
                          <a:latin typeface="Cambria" panose="02040503050406030204" pitchFamily="18" charset="0"/>
                        </a:rPr>
                        <a:t>Operation</a:t>
                      </a:r>
                      <a:endParaRPr lang="en-GB" sz="1600" dirty="0">
                        <a:latin typeface="Cambria" panose="02040503050406030204" pitchFamily="18" charset="0"/>
                      </a:endParaRPr>
                    </a:p>
                  </a:txBody>
                  <a:tcPr anchor="ctr">
                    <a:lnL>
                      <a:noFill/>
                    </a:lnL>
                    <a:lnR>
                      <a:noFill/>
                    </a:lnR>
                    <a:lnT>
                      <a:noFill/>
                    </a:lnT>
                    <a:lnB>
                      <a:noFill/>
                    </a:lnB>
                    <a:noFill/>
                  </a:tcPr>
                </a:tc>
                <a:tc>
                  <a:txBody>
                    <a:bodyPr/>
                    <a:lstStyle/>
                    <a:p>
                      <a:pPr>
                        <a:buNone/>
                      </a:pPr>
                      <a:r>
                        <a:rPr lang="en-GB" sz="1600" b="1" dirty="0">
                          <a:latin typeface="Cambria" panose="02040503050406030204" pitchFamily="18" charset="0"/>
                        </a:rPr>
                        <a:t>HTTP Verb</a:t>
                      </a:r>
                      <a:endParaRPr lang="en-GB" sz="1600" dirty="0">
                        <a:latin typeface="Cambria" panose="02040503050406030204" pitchFamily="18" charset="0"/>
                      </a:endParaRPr>
                    </a:p>
                  </a:txBody>
                  <a:tcPr anchor="ctr">
                    <a:lnL>
                      <a:noFill/>
                    </a:lnL>
                    <a:lnR>
                      <a:noFill/>
                    </a:lnR>
                    <a:lnT>
                      <a:noFill/>
                    </a:lnT>
                    <a:lnB>
                      <a:noFill/>
                    </a:lnB>
                    <a:noFill/>
                  </a:tcPr>
                </a:tc>
                <a:tc>
                  <a:txBody>
                    <a:bodyPr/>
                    <a:lstStyle/>
                    <a:p>
                      <a:pPr>
                        <a:buNone/>
                      </a:pPr>
                      <a:r>
                        <a:rPr lang="en-GB" sz="1600" b="1" dirty="0">
                          <a:latin typeface="Cambria" panose="02040503050406030204" pitchFamily="18" charset="0"/>
                        </a:rPr>
                        <a:t>URI</a:t>
                      </a:r>
                      <a:endParaRPr lang="en-GB" sz="1600" dirty="0">
                        <a:latin typeface="Cambria" panose="02040503050406030204" pitchFamily="18" charset="0"/>
                      </a:endParaRPr>
                    </a:p>
                  </a:txBody>
                  <a:tcPr anchor="ctr">
                    <a:lnL>
                      <a:noFill/>
                    </a:lnL>
                    <a:lnR>
                      <a:noFill/>
                    </a:lnR>
                    <a:lnT>
                      <a:noFill/>
                    </a:lnT>
                    <a:lnB>
                      <a:noFill/>
                    </a:lnB>
                    <a:noFill/>
                  </a:tcPr>
                </a:tc>
                <a:tc>
                  <a:txBody>
                    <a:bodyPr/>
                    <a:lstStyle/>
                    <a:p>
                      <a:pPr>
                        <a:buNone/>
                      </a:pPr>
                      <a:r>
                        <a:rPr lang="en-GB" sz="1600" b="1" dirty="0">
                          <a:latin typeface="Cambria" panose="02040503050406030204" pitchFamily="18" charset="0"/>
                        </a:rPr>
                        <a:t>Logic App</a:t>
                      </a:r>
                      <a:endParaRPr lang="en-GB" sz="1600" dirty="0">
                        <a:latin typeface="Cambria" panose="02040503050406030204" pitchFamily="18" charset="0"/>
                      </a:endParaRPr>
                    </a:p>
                  </a:txBody>
                  <a:tcPr anchor="ctr">
                    <a:lnL>
                      <a:noFill/>
                    </a:lnL>
                    <a:lnR>
                      <a:noFill/>
                    </a:lnR>
                    <a:lnT>
                      <a:noFill/>
                    </a:lnT>
                    <a:lnB>
                      <a:noFill/>
                    </a:lnB>
                    <a:noFill/>
                  </a:tcPr>
                </a:tc>
                <a:tc>
                  <a:txBody>
                    <a:bodyPr/>
                    <a:lstStyle/>
                    <a:p>
                      <a:pPr>
                        <a:buNone/>
                      </a:pPr>
                      <a:r>
                        <a:rPr lang="en-GB" sz="1600" b="1" dirty="0">
                          <a:latin typeface="Cambria" panose="02040503050406030204" pitchFamily="18" charset="0"/>
                        </a:rPr>
                        <a:t>HTTP Response</a:t>
                      </a:r>
                      <a:endParaRPr lang="en-GB" sz="1600" dirty="0">
                        <a:latin typeface="Cambria" panose="02040503050406030204" pitchFamily="18" charset="0"/>
                      </a:endParaRPr>
                    </a:p>
                  </a:txBody>
                  <a:tcPr anchor="ctr">
                    <a:lnL>
                      <a:noFill/>
                    </a:lnL>
                    <a:lnR>
                      <a:noFill/>
                    </a:lnR>
                    <a:lnT>
                      <a:noFill/>
                    </a:lnT>
                    <a:lnB>
                      <a:noFill/>
                    </a:lnB>
                    <a:noFill/>
                  </a:tcPr>
                </a:tc>
                <a:extLst>
                  <a:ext uri="{0D108BD9-81ED-4DB2-BD59-A6C34878D82A}">
                    <a16:rowId xmlns:a16="http://schemas.microsoft.com/office/drawing/2014/main" val="2876014734"/>
                  </a:ext>
                </a:extLst>
              </a:tr>
              <a:tr h="707355">
                <a:tc>
                  <a:txBody>
                    <a:bodyPr/>
                    <a:lstStyle/>
                    <a:p>
                      <a:pPr>
                        <a:buNone/>
                      </a:pPr>
                      <a:r>
                        <a:rPr lang="en-GB" sz="1600">
                          <a:latin typeface="Cambria" panose="02040503050406030204" pitchFamily="18" charset="0"/>
                        </a:rPr>
                        <a:t>Upload 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POST</a:t>
                      </a:r>
                    </a:p>
                  </a:txBody>
                  <a:tcPr anchor="ctr">
                    <a:lnL>
                      <a:noFill/>
                    </a:lnL>
                    <a:lnR>
                      <a:noFill/>
                    </a:lnR>
                    <a:lnT>
                      <a:noFill/>
                    </a:lnT>
                    <a:lnB>
                      <a:noFill/>
                    </a:lnB>
                    <a:noFill/>
                  </a:tcPr>
                </a:tc>
                <a:tc>
                  <a:txBody>
                    <a:bodyPr/>
                    <a:lstStyle/>
                    <a:p>
                      <a:pPr>
                        <a:buNone/>
                      </a:pPr>
                      <a:r>
                        <a:rPr lang="en-GB" sz="1600">
                          <a:latin typeface="Cambria" panose="02040503050406030204" pitchFamily="18" charset="0"/>
                        </a:rPr>
                        <a:t>/api/evidence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CreateEvidence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201 Created + evidenceId</a:t>
                      </a:r>
                    </a:p>
                  </a:txBody>
                  <a:tcPr anchor="ctr">
                    <a:lnL>
                      <a:noFill/>
                    </a:lnL>
                    <a:lnR>
                      <a:noFill/>
                    </a:lnR>
                    <a:lnT>
                      <a:noFill/>
                    </a:lnT>
                    <a:lnB>
                      <a:noFill/>
                    </a:lnB>
                    <a:noFill/>
                  </a:tcPr>
                </a:tc>
                <a:extLst>
                  <a:ext uri="{0D108BD9-81ED-4DB2-BD59-A6C34878D82A}">
                    <a16:rowId xmlns:a16="http://schemas.microsoft.com/office/drawing/2014/main" val="4093163020"/>
                  </a:ext>
                </a:extLst>
              </a:tr>
              <a:tr h="707355">
                <a:tc>
                  <a:txBody>
                    <a:bodyPr/>
                    <a:lstStyle/>
                    <a:p>
                      <a:pPr>
                        <a:buNone/>
                      </a:pPr>
                      <a:r>
                        <a:rPr lang="en-GB" sz="1600">
                          <a:latin typeface="Cambria" panose="02040503050406030204" pitchFamily="18" charset="0"/>
                        </a:rPr>
                        <a:t>Retrieve 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GET</a:t>
                      </a:r>
                    </a:p>
                  </a:txBody>
                  <a:tcPr anchor="ctr">
                    <a:lnL>
                      <a:noFill/>
                    </a:lnL>
                    <a:lnR>
                      <a:noFill/>
                    </a:lnR>
                    <a:lnT>
                      <a:noFill/>
                    </a:lnT>
                    <a:lnB>
                      <a:noFill/>
                    </a:lnB>
                    <a:noFill/>
                  </a:tcPr>
                </a:tc>
                <a:tc>
                  <a:txBody>
                    <a:bodyPr/>
                    <a:lstStyle/>
                    <a:p>
                      <a:pPr>
                        <a:buNone/>
                      </a:pPr>
                      <a:r>
                        <a:rPr lang="en-GB" sz="1600">
                          <a:latin typeface="Cambria" panose="02040503050406030204" pitchFamily="18" charset="0"/>
                        </a:rPr>
                        <a:t>/api/evidence/{id}</a:t>
                      </a:r>
                    </a:p>
                  </a:txBody>
                  <a:tcPr anchor="ctr">
                    <a:lnL>
                      <a:noFill/>
                    </a:lnL>
                    <a:lnR>
                      <a:noFill/>
                    </a:lnR>
                    <a:lnT>
                      <a:noFill/>
                    </a:lnT>
                    <a:lnB>
                      <a:noFill/>
                    </a:lnB>
                    <a:noFill/>
                  </a:tcPr>
                </a:tc>
                <a:tc>
                  <a:txBody>
                    <a:bodyPr/>
                    <a:lstStyle/>
                    <a:p>
                      <a:pPr>
                        <a:buNone/>
                      </a:pPr>
                      <a:r>
                        <a:rPr lang="en-GB" sz="1600" dirty="0" err="1">
                          <a:latin typeface="Cambria" panose="02040503050406030204" pitchFamily="18" charset="0"/>
                        </a:rPr>
                        <a:t>GetEvidence</a:t>
                      </a:r>
                      <a:endParaRPr lang="en-GB" sz="1600" dirty="0">
                        <a:latin typeface="Cambria" panose="02040503050406030204" pitchFamily="18" charset="0"/>
                      </a:endParaRP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200 OK + JSON + SAS URL</a:t>
                      </a:r>
                    </a:p>
                  </a:txBody>
                  <a:tcPr anchor="ctr">
                    <a:lnL>
                      <a:noFill/>
                    </a:lnL>
                    <a:lnR>
                      <a:noFill/>
                    </a:lnR>
                    <a:lnT>
                      <a:noFill/>
                    </a:lnT>
                    <a:lnB>
                      <a:noFill/>
                    </a:lnB>
                    <a:noFill/>
                  </a:tcPr>
                </a:tc>
                <a:extLst>
                  <a:ext uri="{0D108BD9-81ED-4DB2-BD59-A6C34878D82A}">
                    <a16:rowId xmlns:a16="http://schemas.microsoft.com/office/drawing/2014/main" val="2195074808"/>
                  </a:ext>
                </a:extLst>
              </a:tr>
              <a:tr h="409520">
                <a:tc>
                  <a:txBody>
                    <a:bodyPr/>
                    <a:lstStyle/>
                    <a:p>
                      <a:pPr>
                        <a:buNone/>
                      </a:pPr>
                      <a:r>
                        <a:rPr lang="en-GB" sz="1600">
                          <a:latin typeface="Cambria" panose="02040503050406030204" pitchFamily="18" charset="0"/>
                        </a:rPr>
                        <a:t>List All Evidence</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GET</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a:t>
                      </a:r>
                      <a:r>
                        <a:rPr lang="en-GB" sz="1600" dirty="0" err="1">
                          <a:latin typeface="Cambria" panose="02040503050406030204" pitchFamily="18" charset="0"/>
                        </a:rPr>
                        <a:t>api</a:t>
                      </a:r>
                      <a:r>
                        <a:rPr lang="en-GB" sz="1600" dirty="0">
                          <a:latin typeface="Cambria" panose="02040503050406030204" pitchFamily="18" charset="0"/>
                        </a:rPr>
                        <a:t>/evidence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GetEvidence</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200 OK + array</a:t>
                      </a:r>
                    </a:p>
                  </a:txBody>
                  <a:tcPr anchor="ctr">
                    <a:lnL>
                      <a:noFill/>
                    </a:lnL>
                    <a:lnR>
                      <a:noFill/>
                    </a:lnR>
                    <a:lnT>
                      <a:noFill/>
                    </a:lnT>
                    <a:lnB>
                      <a:noFill/>
                    </a:lnB>
                    <a:noFill/>
                  </a:tcPr>
                </a:tc>
                <a:extLst>
                  <a:ext uri="{0D108BD9-81ED-4DB2-BD59-A6C34878D82A}">
                    <a16:rowId xmlns:a16="http://schemas.microsoft.com/office/drawing/2014/main" val="2569452220"/>
                  </a:ext>
                </a:extLst>
              </a:tr>
              <a:tr h="707355">
                <a:tc>
                  <a:txBody>
                    <a:bodyPr/>
                    <a:lstStyle/>
                    <a:p>
                      <a:pPr>
                        <a:buNone/>
                      </a:pPr>
                      <a:r>
                        <a:rPr lang="en-GB" sz="1600">
                          <a:latin typeface="Cambria" panose="02040503050406030204" pitchFamily="18" charset="0"/>
                        </a:rPr>
                        <a:t>Update Metadata</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PATCH</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a:t>
                      </a:r>
                      <a:r>
                        <a:rPr lang="en-GB" sz="1600" dirty="0" err="1">
                          <a:latin typeface="Cambria" panose="02040503050406030204" pitchFamily="18" charset="0"/>
                        </a:rPr>
                        <a:t>api</a:t>
                      </a:r>
                      <a:r>
                        <a:rPr lang="en-GB" sz="1600" dirty="0">
                          <a:latin typeface="Cambria" panose="02040503050406030204" pitchFamily="18" charset="0"/>
                        </a:rPr>
                        <a:t>/evidence/{id}</a:t>
                      </a:r>
                    </a:p>
                  </a:txBody>
                  <a:tcPr anchor="ctr">
                    <a:lnL>
                      <a:noFill/>
                    </a:lnL>
                    <a:lnR>
                      <a:noFill/>
                    </a:lnR>
                    <a:lnT>
                      <a:noFill/>
                    </a:lnT>
                    <a:lnB>
                      <a:noFill/>
                    </a:lnB>
                    <a:noFill/>
                  </a:tcPr>
                </a:tc>
                <a:tc>
                  <a:txBody>
                    <a:bodyPr/>
                    <a:lstStyle/>
                    <a:p>
                      <a:pPr>
                        <a:buNone/>
                      </a:pPr>
                      <a:r>
                        <a:rPr lang="en-GB" sz="1600">
                          <a:latin typeface="Cambria" panose="02040503050406030204" pitchFamily="18" charset="0"/>
                        </a:rPr>
                        <a:t>UpdateEvidence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200 OK</a:t>
                      </a:r>
                    </a:p>
                  </a:txBody>
                  <a:tcPr anchor="ctr">
                    <a:lnL>
                      <a:noFill/>
                    </a:lnL>
                    <a:lnR>
                      <a:noFill/>
                    </a:lnR>
                    <a:lnT>
                      <a:noFill/>
                    </a:lnT>
                    <a:lnB>
                      <a:noFill/>
                    </a:lnB>
                    <a:noFill/>
                  </a:tcPr>
                </a:tc>
                <a:extLst>
                  <a:ext uri="{0D108BD9-81ED-4DB2-BD59-A6C34878D82A}">
                    <a16:rowId xmlns:a16="http://schemas.microsoft.com/office/drawing/2014/main" val="3804370088"/>
                  </a:ext>
                </a:extLst>
              </a:tr>
              <a:tr h="707355">
                <a:tc>
                  <a:txBody>
                    <a:bodyPr/>
                    <a:lstStyle/>
                    <a:p>
                      <a:pPr>
                        <a:buNone/>
                      </a:pPr>
                      <a:r>
                        <a:rPr lang="en-GB" sz="1600">
                          <a:latin typeface="Cambria" panose="02040503050406030204" pitchFamily="18" charset="0"/>
                        </a:rPr>
                        <a:t>Delete Evidence</a:t>
                      </a:r>
                    </a:p>
                  </a:txBody>
                  <a:tcPr anchor="ctr">
                    <a:lnL>
                      <a:noFill/>
                    </a:lnL>
                    <a:lnR>
                      <a:noFill/>
                    </a:lnR>
                    <a:lnT>
                      <a:noFill/>
                    </a:lnT>
                    <a:lnB>
                      <a:noFill/>
                    </a:lnB>
                    <a:noFill/>
                  </a:tcPr>
                </a:tc>
                <a:tc>
                  <a:txBody>
                    <a:bodyPr/>
                    <a:lstStyle/>
                    <a:p>
                      <a:pPr>
                        <a:buNone/>
                      </a:pPr>
                      <a:r>
                        <a:rPr lang="en-GB" sz="1600">
                          <a:latin typeface="Cambria" panose="02040503050406030204" pitchFamily="18" charset="0"/>
                        </a:rPr>
                        <a:t>DELETE</a:t>
                      </a:r>
                    </a:p>
                  </a:txBody>
                  <a:tcPr anchor="ctr">
                    <a:lnL>
                      <a:noFill/>
                    </a:lnL>
                    <a:lnR>
                      <a:noFill/>
                    </a:lnR>
                    <a:lnT>
                      <a:noFill/>
                    </a:lnT>
                    <a:lnB>
                      <a:noFill/>
                    </a:lnB>
                    <a:noFill/>
                  </a:tcPr>
                </a:tc>
                <a:tc>
                  <a:txBody>
                    <a:bodyPr/>
                    <a:lstStyle/>
                    <a:p>
                      <a:pPr>
                        <a:buNone/>
                      </a:pPr>
                      <a:r>
                        <a:rPr lang="en-GB" sz="1600">
                          <a:latin typeface="Cambria" panose="02040503050406030204" pitchFamily="18" charset="0"/>
                        </a:rPr>
                        <a:t>/api/evidence/{id}</a:t>
                      </a:r>
                    </a:p>
                  </a:txBody>
                  <a:tcPr anchor="ctr">
                    <a:lnL>
                      <a:noFill/>
                    </a:lnL>
                    <a:lnR>
                      <a:noFill/>
                    </a:lnR>
                    <a:lnT>
                      <a:noFill/>
                    </a:lnT>
                    <a:lnB>
                      <a:noFill/>
                    </a:lnB>
                    <a:noFill/>
                  </a:tcPr>
                </a:tc>
                <a:tc>
                  <a:txBody>
                    <a:bodyPr/>
                    <a:lstStyle/>
                    <a:p>
                      <a:pPr>
                        <a:buNone/>
                      </a:pPr>
                      <a:r>
                        <a:rPr lang="en-GB" sz="1600">
                          <a:latin typeface="Cambria" panose="02040503050406030204" pitchFamily="18" charset="0"/>
                        </a:rPr>
                        <a:t>DeleteEvidence</a:t>
                      </a:r>
                    </a:p>
                  </a:txBody>
                  <a:tcPr anchor="ctr">
                    <a:lnL>
                      <a:noFill/>
                    </a:lnL>
                    <a:lnR>
                      <a:noFill/>
                    </a:lnR>
                    <a:lnT>
                      <a:noFill/>
                    </a:lnT>
                    <a:lnB>
                      <a:noFill/>
                    </a:lnB>
                    <a:noFill/>
                  </a:tcPr>
                </a:tc>
                <a:tc>
                  <a:txBody>
                    <a:bodyPr/>
                    <a:lstStyle/>
                    <a:p>
                      <a:pPr>
                        <a:buNone/>
                      </a:pPr>
                      <a:r>
                        <a:rPr lang="en-GB" sz="1600" dirty="0">
                          <a:latin typeface="Cambria" panose="02040503050406030204" pitchFamily="18" charset="0"/>
                        </a:rPr>
                        <a:t>204 No Content</a:t>
                      </a:r>
                    </a:p>
                  </a:txBody>
                  <a:tcPr anchor="ctr">
                    <a:lnL>
                      <a:noFill/>
                    </a:lnL>
                    <a:lnR>
                      <a:noFill/>
                    </a:lnR>
                    <a:lnT>
                      <a:noFill/>
                    </a:lnT>
                    <a:lnB>
                      <a:noFill/>
                    </a:lnB>
                    <a:noFill/>
                  </a:tcPr>
                </a:tc>
                <a:extLst>
                  <a:ext uri="{0D108BD9-81ED-4DB2-BD59-A6C34878D82A}">
                    <a16:rowId xmlns:a16="http://schemas.microsoft.com/office/drawing/2014/main" val="3334583923"/>
                  </a:ext>
                </a:extLst>
              </a:tr>
            </a:tbl>
          </a:graphicData>
        </a:graphic>
      </p:graphicFrame>
      <p:grpSp>
        <p:nvGrpSpPr>
          <p:cNvPr id="12" name="Group 58">
            <a:extLst>
              <a:ext uri="{FF2B5EF4-FFF2-40B4-BE49-F238E27FC236}">
                <a16:creationId xmlns:a16="http://schemas.microsoft.com/office/drawing/2014/main" id="{8DC0D888-893F-9F67-996D-B3B9B7FA6BDE}"/>
              </a:ext>
            </a:extLst>
          </p:cNvPr>
          <p:cNvGrpSpPr/>
          <p:nvPr/>
        </p:nvGrpSpPr>
        <p:grpSpPr>
          <a:xfrm>
            <a:off x="897209" y="8315501"/>
            <a:ext cx="8458201" cy="952500"/>
            <a:chOff x="0" y="0"/>
            <a:chExt cx="21738031" cy="1270000"/>
          </a:xfrm>
          <a:solidFill>
            <a:schemeClr val="bg1">
              <a:lumMod val="95000"/>
            </a:schemeClr>
          </a:solidFill>
        </p:grpSpPr>
        <p:sp>
          <p:nvSpPr>
            <p:cNvPr id="13" name="Freeform 59">
              <a:extLst>
                <a:ext uri="{FF2B5EF4-FFF2-40B4-BE49-F238E27FC236}">
                  <a16:creationId xmlns:a16="http://schemas.microsoft.com/office/drawing/2014/main" id="{56233274-CC95-8A2B-4423-DF730C084762}"/>
                </a:ext>
              </a:extLst>
            </p:cNvPr>
            <p:cNvSpPr/>
            <p:nvPr/>
          </p:nvSpPr>
          <p:spPr>
            <a:xfrm>
              <a:off x="0" y="0"/>
              <a:ext cx="21738082" cy="1270000"/>
            </a:xfrm>
            <a:custGeom>
              <a:avLst/>
              <a:gdLst/>
              <a:ahLst/>
              <a:cxnLst/>
              <a:rect l="l" t="t" r="r" b="b"/>
              <a:pathLst>
                <a:path w="21738082" h="1270000">
                  <a:moveTo>
                    <a:pt x="0" y="39751"/>
                  </a:moveTo>
                  <a:cubicBezTo>
                    <a:pt x="0" y="17780"/>
                    <a:pt x="17780" y="0"/>
                    <a:pt x="39751" y="0"/>
                  </a:cubicBezTo>
                  <a:lnTo>
                    <a:pt x="21698331" y="0"/>
                  </a:lnTo>
                  <a:cubicBezTo>
                    <a:pt x="21720302" y="0"/>
                    <a:pt x="21738082" y="17780"/>
                    <a:pt x="21738082" y="39751"/>
                  </a:cubicBezTo>
                  <a:lnTo>
                    <a:pt x="21738082" y="1230249"/>
                  </a:lnTo>
                  <a:cubicBezTo>
                    <a:pt x="21738082" y="1252220"/>
                    <a:pt x="21720302" y="1270000"/>
                    <a:pt x="21698331" y="1270000"/>
                  </a:cubicBezTo>
                  <a:lnTo>
                    <a:pt x="39751" y="1270000"/>
                  </a:lnTo>
                  <a:cubicBezTo>
                    <a:pt x="17780" y="1270000"/>
                    <a:pt x="0" y="1252220"/>
                    <a:pt x="0" y="1230249"/>
                  </a:cubicBezTo>
                  <a:close/>
                </a:path>
              </a:pathLst>
            </a:custGeom>
            <a:grpFill/>
          </p:spPr>
          <p:txBody>
            <a:bodyPr/>
            <a:lstStyle/>
            <a:p>
              <a:endParaRPr lang="en-US">
                <a:latin typeface="Cambria" panose="02040503050406030204" pitchFamily="18" charset="0"/>
              </a:endParaRPr>
            </a:p>
          </p:txBody>
        </p:sp>
      </p:grpSp>
      <p:sp>
        <p:nvSpPr>
          <p:cNvPr id="16" name="TextBox 15">
            <a:extLst>
              <a:ext uri="{FF2B5EF4-FFF2-40B4-BE49-F238E27FC236}">
                <a16:creationId xmlns:a16="http://schemas.microsoft.com/office/drawing/2014/main" id="{3D556B16-B5B9-F557-EAC2-3D6ABE74D541}"/>
              </a:ext>
            </a:extLst>
          </p:cNvPr>
          <p:cNvSpPr txBox="1"/>
          <p:nvPr/>
        </p:nvSpPr>
        <p:spPr>
          <a:xfrm>
            <a:off x="1319422" y="8306085"/>
            <a:ext cx="8138120" cy="1200329"/>
          </a:xfrm>
          <a:prstGeom prst="rect">
            <a:avLst/>
          </a:prstGeom>
          <a:noFill/>
        </p:spPr>
        <p:txBody>
          <a:bodyPr wrap="square" rtlCol="0">
            <a:spAutoFit/>
          </a:bodyPr>
          <a:lstStyle/>
          <a:p>
            <a:r>
              <a:rPr lang="en-GB" b="1" dirty="0">
                <a:latin typeface="Cambria" panose="02040503050406030204" pitchFamily="18" charset="0"/>
              </a:rPr>
              <a:t>URI Design Principles:</a:t>
            </a:r>
            <a:r>
              <a:rPr lang="en-GB" dirty="0">
                <a:latin typeface="Cambria" panose="02040503050406030204" pitchFamily="18" charset="0"/>
              </a:rPr>
              <a:t> Noun-based routing (/</a:t>
            </a:r>
            <a:r>
              <a:rPr lang="en-GB" dirty="0" err="1">
                <a:latin typeface="Cambria" panose="02040503050406030204" pitchFamily="18" charset="0"/>
              </a:rPr>
              <a:t>api</a:t>
            </a:r>
            <a:r>
              <a:rPr lang="en-GB" dirty="0">
                <a:latin typeface="Cambria" panose="02040503050406030204" pitchFamily="18" charset="0"/>
              </a:rPr>
              <a:t>/evidence </a:t>
            </a:r>
            <a:r>
              <a:rPr lang="en-GB" b="1" dirty="0">
                <a:latin typeface="Cambria" panose="02040503050406030204" pitchFamily="18" charset="0"/>
              </a:rPr>
              <a:t>not</a:t>
            </a:r>
            <a:r>
              <a:rPr lang="en-GB" dirty="0">
                <a:latin typeface="Cambria" panose="02040503050406030204" pitchFamily="18" charset="0"/>
              </a:rPr>
              <a:t> /</a:t>
            </a:r>
            <a:r>
              <a:rPr lang="en-GB" dirty="0" err="1">
                <a:latin typeface="Cambria" panose="02040503050406030204" pitchFamily="18" charset="0"/>
              </a:rPr>
              <a:t>api</a:t>
            </a:r>
            <a:r>
              <a:rPr lang="en-GB" dirty="0">
                <a:latin typeface="Cambria" panose="02040503050406030204" pitchFamily="18" charset="0"/>
              </a:rPr>
              <a:t>/create-evidence) | Plural collections | Hierarchical structure | Decoupled from internal DB schema</a:t>
            </a:r>
          </a:p>
          <a:p>
            <a:endParaRPr lang="en-US" dirty="0"/>
          </a:p>
        </p:txBody>
      </p:sp>
      <p:grpSp>
        <p:nvGrpSpPr>
          <p:cNvPr id="17" name="Group 60">
            <a:extLst>
              <a:ext uri="{FF2B5EF4-FFF2-40B4-BE49-F238E27FC236}">
                <a16:creationId xmlns:a16="http://schemas.microsoft.com/office/drawing/2014/main" id="{165E2AFB-14EC-BBFF-76B7-D1E8087BA7C2}"/>
              </a:ext>
            </a:extLst>
          </p:cNvPr>
          <p:cNvGrpSpPr/>
          <p:nvPr/>
        </p:nvGrpSpPr>
        <p:grpSpPr>
          <a:xfrm>
            <a:off x="1030259" y="8692557"/>
            <a:ext cx="247945" cy="198387"/>
            <a:chOff x="0" y="0"/>
            <a:chExt cx="330594" cy="264516"/>
          </a:xfrm>
        </p:grpSpPr>
        <p:sp>
          <p:nvSpPr>
            <p:cNvPr id="18" name="Freeform 61" descr="preencoded.png">
              <a:extLst>
                <a:ext uri="{FF2B5EF4-FFF2-40B4-BE49-F238E27FC236}">
                  <a16:creationId xmlns:a16="http://schemas.microsoft.com/office/drawing/2014/main" id="{A4B6A9AB-DD69-9D75-5A74-F79B07546F5C}"/>
                </a:ext>
              </a:extLst>
            </p:cNvPr>
            <p:cNvSpPr/>
            <p:nvPr/>
          </p:nvSpPr>
          <p:spPr>
            <a:xfrm>
              <a:off x="0" y="0"/>
              <a:ext cx="330581" cy="264541"/>
            </a:xfrm>
            <a:custGeom>
              <a:avLst/>
              <a:gdLst/>
              <a:ahLst/>
              <a:cxnLst/>
              <a:rect l="l" t="t" r="r" b="b"/>
              <a:pathLst>
                <a:path w="330581" h="264541">
                  <a:moveTo>
                    <a:pt x="0" y="0"/>
                  </a:moveTo>
                  <a:lnTo>
                    <a:pt x="330581" y="0"/>
                  </a:lnTo>
                  <a:lnTo>
                    <a:pt x="330581" y="264541"/>
                  </a:lnTo>
                  <a:lnTo>
                    <a:pt x="0" y="264541"/>
                  </a:lnTo>
                  <a:lnTo>
                    <a:pt x="0" y="0"/>
                  </a:lnTo>
                  <a:close/>
                </a:path>
              </a:pathLst>
            </a:custGeom>
            <a:blipFill>
              <a:blip r:embed="rId3"/>
              <a:stretch>
                <a:fillRect t="-475" r="-3" b="-460"/>
              </a:stretch>
            </a:blipFill>
          </p:spPr>
          <p:txBody>
            <a:bodyPr/>
            <a:lstStyle/>
            <a:p>
              <a:endParaRPr lang="en-US">
                <a:latin typeface="Cambria" panose="02040503050406030204" pitchFamily="18" charset="0"/>
              </a:endParaRPr>
            </a:p>
          </p:txBody>
        </p:sp>
      </p:grpSp>
      <p:sp>
        <p:nvSpPr>
          <p:cNvPr id="20" name="TextBox 19">
            <a:extLst>
              <a:ext uri="{FF2B5EF4-FFF2-40B4-BE49-F238E27FC236}">
                <a16:creationId xmlns:a16="http://schemas.microsoft.com/office/drawing/2014/main" id="{A3348A47-F220-5324-5A09-AAD88CBFD210}"/>
              </a:ext>
            </a:extLst>
          </p:cNvPr>
          <p:cNvSpPr txBox="1"/>
          <p:nvPr/>
        </p:nvSpPr>
        <p:spPr>
          <a:xfrm>
            <a:off x="737389" y="1636850"/>
            <a:ext cx="8532428" cy="523220"/>
          </a:xfrm>
          <a:prstGeom prst="rect">
            <a:avLst/>
          </a:prstGeom>
          <a:noFill/>
        </p:spPr>
        <p:txBody>
          <a:bodyPr wrap="square">
            <a:spAutoFit/>
          </a:bodyPr>
          <a:lstStyle/>
          <a:p>
            <a:pPr>
              <a:buNone/>
            </a:pPr>
            <a:r>
              <a:rPr lang="en-GB" sz="1400" dirty="0">
                <a:latin typeface="Cambria" panose="02040503050406030204" pitchFamily="18" charset="0"/>
              </a:rPr>
              <a:t>REST (Representational State Transfer) uses a stateless client-server model with standard HTTP verbs for CRUD operations on resources identified by noun-based URIs [15].</a:t>
            </a:r>
          </a:p>
        </p:txBody>
      </p:sp>
    </p:spTree>
    <p:extLst>
      <p:ext uri="{BB962C8B-B14F-4D97-AF65-F5344CB8AC3E}">
        <p14:creationId xmlns:p14="http://schemas.microsoft.com/office/powerpoint/2010/main" val="425909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28570" y="-13463"/>
            <a:ext cx="18288000" cy="10287000"/>
            <a:chOff x="0" y="322036"/>
            <a:chExt cx="24384000" cy="13716000"/>
          </a:xfrm>
        </p:grpSpPr>
        <p:sp>
          <p:nvSpPr>
            <p:cNvPr id="5" name="Freeform 5"/>
            <p:cNvSpPr/>
            <p:nvPr/>
          </p:nvSpPr>
          <p:spPr>
            <a:xfrm>
              <a:off x="0" y="322036"/>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dirty="0">
                <a:latin typeface="Cambria" panose="02040503050406030204" pitchFamily="18" charset="0"/>
              </a:endParaRPr>
            </a:p>
          </p:txBody>
        </p:sp>
      </p:grpSp>
      <p:sp>
        <p:nvSpPr>
          <p:cNvPr id="6" name="TextBox 6"/>
          <p:cNvSpPr txBox="1"/>
          <p:nvPr/>
        </p:nvSpPr>
        <p:spPr>
          <a:xfrm>
            <a:off x="992238" y="654021"/>
            <a:ext cx="16246384" cy="666849"/>
          </a:xfrm>
          <a:prstGeom prst="rect">
            <a:avLst/>
          </a:prstGeom>
        </p:spPr>
        <p:txBody>
          <a:bodyPr wrap="square" lIns="0" tIns="0" rIns="0" bIns="0" rtlCol="0" anchor="t">
            <a:spAutoFit/>
          </a:bodyPr>
          <a:lstStyle/>
          <a:p>
            <a:pPr algn="l">
              <a:lnSpc>
                <a:spcPts val="5187"/>
              </a:lnSpc>
            </a:pPr>
            <a:r>
              <a:rPr lang="en-US" sz="4400" b="1" dirty="0">
                <a:solidFill>
                  <a:srgbClr val="152D47"/>
                </a:solidFill>
                <a:latin typeface="Cambria" panose="02040503050406030204" pitchFamily="18" charset="0"/>
                <a:ea typeface="Crimson Pro Bold"/>
                <a:cs typeface="Crimson Pro Bold"/>
                <a:sym typeface="Crimson Pro Bold"/>
              </a:rPr>
              <a:t>Advanced Features</a:t>
            </a:r>
          </a:p>
        </p:txBody>
      </p:sp>
      <p:sp>
        <p:nvSpPr>
          <p:cNvPr id="7" name="TextBox 7"/>
          <p:cNvSpPr txBox="1"/>
          <p:nvPr/>
        </p:nvSpPr>
        <p:spPr>
          <a:xfrm>
            <a:off x="980163" y="1423316"/>
            <a:ext cx="16246384" cy="563552"/>
          </a:xfrm>
          <a:prstGeom prst="rect">
            <a:avLst/>
          </a:prstGeom>
        </p:spPr>
        <p:txBody>
          <a:bodyPr wrap="square"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Four advanced cloud-native platform features planned for the final ThreatVault implementation — shifting the platform from passive evidence storage to intelligent, self-defending forensic infrastructure.</a:t>
            </a:r>
          </a:p>
        </p:txBody>
      </p:sp>
      <p:grpSp>
        <p:nvGrpSpPr>
          <p:cNvPr id="8" name="Group 8"/>
          <p:cNvGrpSpPr/>
          <p:nvPr/>
        </p:nvGrpSpPr>
        <p:grpSpPr>
          <a:xfrm>
            <a:off x="1002723" y="2309533"/>
            <a:ext cx="8100565" cy="3498258"/>
            <a:chOff x="0" y="0"/>
            <a:chExt cx="10800753" cy="4015384"/>
          </a:xfrm>
        </p:grpSpPr>
        <p:sp>
          <p:nvSpPr>
            <p:cNvPr id="9" name="Freeform 9"/>
            <p:cNvSpPr/>
            <p:nvPr/>
          </p:nvSpPr>
          <p:spPr>
            <a:xfrm>
              <a:off x="19050" y="19050"/>
              <a:ext cx="10762742" cy="3977259"/>
            </a:xfrm>
            <a:custGeom>
              <a:avLst/>
              <a:gdLst/>
              <a:ahLst/>
              <a:cxnLst/>
              <a:rect l="l" t="t" r="r" b="b"/>
              <a:pathLst>
                <a:path w="10762742" h="3977259">
                  <a:moveTo>
                    <a:pt x="0" y="42545"/>
                  </a:moveTo>
                  <a:cubicBezTo>
                    <a:pt x="0" y="19050"/>
                    <a:pt x="19177" y="0"/>
                    <a:pt x="42799" y="0"/>
                  </a:cubicBezTo>
                  <a:lnTo>
                    <a:pt x="10719943" y="0"/>
                  </a:lnTo>
                  <a:cubicBezTo>
                    <a:pt x="10743565" y="0"/>
                    <a:pt x="10762742" y="19050"/>
                    <a:pt x="10762742" y="42545"/>
                  </a:cubicBezTo>
                  <a:lnTo>
                    <a:pt x="10762742" y="3934714"/>
                  </a:lnTo>
                  <a:cubicBezTo>
                    <a:pt x="10762742" y="3958209"/>
                    <a:pt x="10743565" y="3977259"/>
                    <a:pt x="10719943" y="3977259"/>
                  </a:cubicBezTo>
                  <a:lnTo>
                    <a:pt x="42799" y="3977259"/>
                  </a:lnTo>
                  <a:cubicBezTo>
                    <a:pt x="19177" y="3977259"/>
                    <a:pt x="0" y="3958209"/>
                    <a:pt x="0" y="3934714"/>
                  </a:cubicBezTo>
                  <a:close/>
                </a:path>
              </a:pathLst>
            </a:custGeom>
            <a:solidFill>
              <a:srgbClr val="FFFFFF"/>
            </a:solidFill>
          </p:spPr>
          <p:txBody>
            <a:bodyPr/>
            <a:lstStyle/>
            <a:p>
              <a:endParaRPr lang="en-US">
                <a:latin typeface="Cambria" panose="02040503050406030204" pitchFamily="18" charset="0"/>
              </a:endParaRPr>
            </a:p>
          </p:txBody>
        </p:sp>
        <p:sp>
          <p:nvSpPr>
            <p:cNvPr id="10" name="Freeform 10"/>
            <p:cNvSpPr/>
            <p:nvPr/>
          </p:nvSpPr>
          <p:spPr>
            <a:xfrm>
              <a:off x="0" y="0"/>
              <a:ext cx="10800842" cy="4015359"/>
            </a:xfrm>
            <a:custGeom>
              <a:avLst/>
              <a:gdLst/>
              <a:ahLst/>
              <a:cxnLst/>
              <a:rect l="l" t="t" r="r" b="b"/>
              <a:pathLst>
                <a:path w="10800842" h="4015359">
                  <a:moveTo>
                    <a:pt x="0" y="61595"/>
                  </a:moveTo>
                  <a:cubicBezTo>
                    <a:pt x="0" y="27432"/>
                    <a:pt x="27813" y="0"/>
                    <a:pt x="61849" y="0"/>
                  </a:cubicBezTo>
                  <a:lnTo>
                    <a:pt x="10738993" y="0"/>
                  </a:lnTo>
                  <a:lnTo>
                    <a:pt x="10738993" y="19050"/>
                  </a:lnTo>
                  <a:lnTo>
                    <a:pt x="10738993" y="0"/>
                  </a:lnTo>
                  <a:cubicBezTo>
                    <a:pt x="10773029" y="0"/>
                    <a:pt x="10800842" y="27432"/>
                    <a:pt x="10800842" y="61595"/>
                  </a:cubicBezTo>
                  <a:lnTo>
                    <a:pt x="10781792" y="61595"/>
                  </a:lnTo>
                  <a:lnTo>
                    <a:pt x="10800842" y="61595"/>
                  </a:lnTo>
                  <a:lnTo>
                    <a:pt x="10800842" y="3953764"/>
                  </a:lnTo>
                  <a:lnTo>
                    <a:pt x="10781792" y="3953764"/>
                  </a:lnTo>
                  <a:lnTo>
                    <a:pt x="10800842" y="3953764"/>
                  </a:lnTo>
                  <a:cubicBezTo>
                    <a:pt x="10800842" y="3987927"/>
                    <a:pt x="10773029" y="4015359"/>
                    <a:pt x="10738993" y="4015359"/>
                  </a:cubicBezTo>
                  <a:lnTo>
                    <a:pt x="10738993" y="3996309"/>
                  </a:lnTo>
                  <a:lnTo>
                    <a:pt x="10738993" y="4015359"/>
                  </a:lnTo>
                  <a:lnTo>
                    <a:pt x="61849" y="4015359"/>
                  </a:lnTo>
                  <a:lnTo>
                    <a:pt x="61849" y="3996309"/>
                  </a:lnTo>
                  <a:lnTo>
                    <a:pt x="61849" y="4015359"/>
                  </a:lnTo>
                  <a:cubicBezTo>
                    <a:pt x="27813" y="4015359"/>
                    <a:pt x="0" y="3987927"/>
                    <a:pt x="0" y="3953764"/>
                  </a:cubicBezTo>
                  <a:lnTo>
                    <a:pt x="0" y="61595"/>
                  </a:lnTo>
                  <a:lnTo>
                    <a:pt x="19050" y="61595"/>
                  </a:lnTo>
                  <a:lnTo>
                    <a:pt x="0" y="61595"/>
                  </a:lnTo>
                  <a:moveTo>
                    <a:pt x="38100" y="61595"/>
                  </a:moveTo>
                  <a:lnTo>
                    <a:pt x="38100" y="3953764"/>
                  </a:lnTo>
                  <a:lnTo>
                    <a:pt x="19050" y="3953764"/>
                  </a:lnTo>
                  <a:lnTo>
                    <a:pt x="38100" y="3953764"/>
                  </a:lnTo>
                  <a:cubicBezTo>
                    <a:pt x="38100" y="3966591"/>
                    <a:pt x="48641" y="3977259"/>
                    <a:pt x="61849" y="3977259"/>
                  </a:cubicBezTo>
                  <a:lnTo>
                    <a:pt x="10738993" y="3977259"/>
                  </a:lnTo>
                  <a:cubicBezTo>
                    <a:pt x="10752201" y="3977259"/>
                    <a:pt x="10762742" y="3966591"/>
                    <a:pt x="10762742" y="3953764"/>
                  </a:cubicBezTo>
                  <a:lnTo>
                    <a:pt x="10762742" y="61595"/>
                  </a:lnTo>
                  <a:cubicBezTo>
                    <a:pt x="10762742" y="48768"/>
                    <a:pt x="10752201" y="38100"/>
                    <a:pt x="10738993" y="38100"/>
                  </a:cubicBezTo>
                  <a:lnTo>
                    <a:pt x="61849" y="38100"/>
                  </a:lnTo>
                  <a:lnTo>
                    <a:pt x="61849" y="19050"/>
                  </a:lnTo>
                  <a:lnTo>
                    <a:pt x="61849" y="38100"/>
                  </a:lnTo>
                  <a:cubicBezTo>
                    <a:pt x="48641" y="38100"/>
                    <a:pt x="38100" y="48768"/>
                    <a:pt x="38100" y="61595"/>
                  </a:cubicBezTo>
                  <a:close/>
                </a:path>
              </a:pathLst>
            </a:custGeom>
            <a:solidFill>
              <a:srgbClr val="D8D4D4"/>
            </a:solidFill>
          </p:spPr>
          <p:txBody>
            <a:bodyPr/>
            <a:lstStyle/>
            <a:p>
              <a:endParaRPr lang="en-US">
                <a:latin typeface="Cambria" panose="02040503050406030204" pitchFamily="18" charset="0"/>
              </a:endParaRPr>
            </a:p>
          </p:txBody>
        </p:sp>
      </p:grpSp>
      <p:grpSp>
        <p:nvGrpSpPr>
          <p:cNvPr id="11" name="Group 11"/>
          <p:cNvGrpSpPr/>
          <p:nvPr/>
        </p:nvGrpSpPr>
        <p:grpSpPr>
          <a:xfrm>
            <a:off x="1033699" y="2342487"/>
            <a:ext cx="8014840" cy="637880"/>
            <a:chOff x="0" y="0"/>
            <a:chExt cx="10686453" cy="850506"/>
          </a:xfrm>
          <a:solidFill>
            <a:schemeClr val="bg1">
              <a:lumMod val="85000"/>
            </a:schemeClr>
          </a:solidFill>
        </p:grpSpPr>
        <p:sp>
          <p:nvSpPr>
            <p:cNvPr id="12" name="Freeform 12"/>
            <p:cNvSpPr/>
            <p:nvPr/>
          </p:nvSpPr>
          <p:spPr>
            <a:xfrm>
              <a:off x="0" y="0"/>
              <a:ext cx="10686415" cy="850519"/>
            </a:xfrm>
            <a:custGeom>
              <a:avLst/>
              <a:gdLst/>
              <a:ahLst/>
              <a:cxnLst/>
              <a:rect l="l" t="t" r="r" b="b"/>
              <a:pathLst>
                <a:path w="10686415" h="850519">
                  <a:moveTo>
                    <a:pt x="0" y="0"/>
                  </a:moveTo>
                  <a:lnTo>
                    <a:pt x="10686415" y="0"/>
                  </a:lnTo>
                  <a:lnTo>
                    <a:pt x="10686415" y="850519"/>
                  </a:lnTo>
                  <a:lnTo>
                    <a:pt x="0" y="850519"/>
                  </a:lnTo>
                  <a:close/>
                </a:path>
              </a:pathLst>
            </a:custGeom>
            <a:grpFill/>
          </p:spPr>
          <p:txBody>
            <a:bodyPr/>
            <a:lstStyle/>
            <a:p>
              <a:endParaRPr lang="en-US">
                <a:latin typeface="Cambria" panose="02040503050406030204" pitchFamily="18" charset="0"/>
              </a:endParaRPr>
            </a:p>
          </p:txBody>
        </p:sp>
      </p:grpSp>
      <p:sp>
        <p:nvSpPr>
          <p:cNvPr id="13" name="Freeform 13" descr="preencoded.png"/>
          <p:cNvSpPr/>
          <p:nvPr/>
        </p:nvSpPr>
        <p:spPr>
          <a:xfrm>
            <a:off x="4734104" y="2503620"/>
            <a:ext cx="318935" cy="318935"/>
          </a:xfrm>
          <a:custGeom>
            <a:avLst/>
            <a:gdLst/>
            <a:ahLst/>
            <a:cxnLst/>
            <a:rect l="l" t="t" r="r" b="b"/>
            <a:pathLst>
              <a:path w="318935" h="318935">
                <a:moveTo>
                  <a:pt x="0" y="0"/>
                </a:moveTo>
                <a:lnTo>
                  <a:pt x="318935" y="0"/>
                </a:lnTo>
                <a:lnTo>
                  <a:pt x="318935" y="318935"/>
                </a:lnTo>
                <a:lnTo>
                  <a:pt x="0" y="318935"/>
                </a:lnTo>
                <a:lnTo>
                  <a:pt x="0" y="0"/>
                </a:lnTo>
                <a:close/>
              </a:path>
            </a:pathLst>
          </a:custGeom>
          <a:blipFill>
            <a:blip>
              <a:extLst>
                <a:ext uri="{96DAC541-7B7A-43D3-8B79-37D633B846F1}">
                  <asvg:svgBlip xmlns:asvg="http://schemas.microsoft.com/office/drawing/2016/SVG/main" r:embed="rId3"/>
                </a:ext>
              </a:extLst>
            </a:blip>
            <a:stretch>
              <a:fillRect t="-16177" b="-16177"/>
            </a:stretch>
          </a:blipFill>
        </p:spPr>
        <p:txBody>
          <a:bodyPr/>
          <a:lstStyle/>
          <a:p>
            <a:endParaRPr lang="en-US">
              <a:latin typeface="Cambria" panose="02040503050406030204" pitchFamily="18" charset="0"/>
            </a:endParaRPr>
          </a:p>
        </p:txBody>
      </p:sp>
      <p:sp>
        <p:nvSpPr>
          <p:cNvPr id="14" name="TextBox 14"/>
          <p:cNvSpPr txBox="1"/>
          <p:nvPr/>
        </p:nvSpPr>
        <p:spPr>
          <a:xfrm>
            <a:off x="1210088" y="3099890"/>
            <a:ext cx="7613034" cy="643638"/>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ea typeface="Crimson Pro Bold"/>
                <a:cs typeface="Crimson Pro Bold"/>
                <a:sym typeface="Crimson Pro Bold"/>
              </a:rPr>
              <a:t>Azure Application Insights — Distributed Telemetry &amp; Anomaly Detection</a:t>
            </a:r>
          </a:p>
        </p:txBody>
      </p:sp>
      <p:sp>
        <p:nvSpPr>
          <p:cNvPr id="15" name="TextBox 15"/>
          <p:cNvSpPr txBox="1"/>
          <p:nvPr/>
        </p:nvSpPr>
        <p:spPr>
          <a:xfrm>
            <a:off x="1210087" y="3796146"/>
            <a:ext cx="7589787" cy="1743362"/>
          </a:xfrm>
          <a:prstGeom prst="rect">
            <a:avLst/>
          </a:prstGeom>
        </p:spPr>
        <p:txBody>
          <a:bodyPr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Tracks API latency, upload failure rates, and Logic App execution times across all platform endpoints via distributed tracing. Correlation IDs link a single evidence upload across App Service, Logic Apps, Cosmos DB, and Blob Storage into one unified trace — making cross-service incident investigation possible. Automatic performance anomaly detection alerts on-call analysts to degraded response times during active incident response operations [05].</a:t>
            </a:r>
          </a:p>
        </p:txBody>
      </p:sp>
      <p:grpSp>
        <p:nvGrpSpPr>
          <p:cNvPr id="16" name="Group 16"/>
          <p:cNvGrpSpPr/>
          <p:nvPr/>
        </p:nvGrpSpPr>
        <p:grpSpPr>
          <a:xfrm>
            <a:off x="9195044" y="2315173"/>
            <a:ext cx="8100717" cy="3492579"/>
            <a:chOff x="0" y="0"/>
            <a:chExt cx="10800956" cy="4015384"/>
          </a:xfrm>
        </p:grpSpPr>
        <p:sp>
          <p:nvSpPr>
            <p:cNvPr id="17" name="Freeform 17"/>
            <p:cNvSpPr/>
            <p:nvPr/>
          </p:nvSpPr>
          <p:spPr>
            <a:xfrm>
              <a:off x="19050" y="19050"/>
              <a:ext cx="10762869" cy="3977259"/>
            </a:xfrm>
            <a:custGeom>
              <a:avLst/>
              <a:gdLst/>
              <a:ahLst/>
              <a:cxnLst/>
              <a:rect l="l" t="t" r="r" b="b"/>
              <a:pathLst>
                <a:path w="10762869" h="3977259">
                  <a:moveTo>
                    <a:pt x="0" y="42545"/>
                  </a:moveTo>
                  <a:cubicBezTo>
                    <a:pt x="0" y="19050"/>
                    <a:pt x="19177" y="0"/>
                    <a:pt x="42799" y="0"/>
                  </a:cubicBezTo>
                  <a:lnTo>
                    <a:pt x="10720070" y="0"/>
                  </a:lnTo>
                  <a:cubicBezTo>
                    <a:pt x="10743692" y="0"/>
                    <a:pt x="10762869" y="19050"/>
                    <a:pt x="10762869" y="42545"/>
                  </a:cubicBezTo>
                  <a:lnTo>
                    <a:pt x="10762869" y="3934714"/>
                  </a:lnTo>
                  <a:cubicBezTo>
                    <a:pt x="10762869" y="3958209"/>
                    <a:pt x="10743692" y="3977259"/>
                    <a:pt x="10720070" y="3977259"/>
                  </a:cubicBezTo>
                  <a:lnTo>
                    <a:pt x="42799" y="3977259"/>
                  </a:lnTo>
                  <a:cubicBezTo>
                    <a:pt x="19177" y="3977259"/>
                    <a:pt x="0" y="3958209"/>
                    <a:pt x="0" y="3934714"/>
                  </a:cubicBezTo>
                  <a:close/>
                </a:path>
              </a:pathLst>
            </a:custGeom>
            <a:solidFill>
              <a:srgbClr val="FFFFFF"/>
            </a:solidFill>
          </p:spPr>
          <p:txBody>
            <a:bodyPr/>
            <a:lstStyle/>
            <a:p>
              <a:endParaRPr lang="en-US">
                <a:latin typeface="Cambria" panose="02040503050406030204" pitchFamily="18" charset="0"/>
              </a:endParaRPr>
            </a:p>
          </p:txBody>
        </p:sp>
        <p:sp>
          <p:nvSpPr>
            <p:cNvPr id="18" name="Freeform 18"/>
            <p:cNvSpPr/>
            <p:nvPr/>
          </p:nvSpPr>
          <p:spPr>
            <a:xfrm>
              <a:off x="0" y="0"/>
              <a:ext cx="10800969" cy="4015359"/>
            </a:xfrm>
            <a:custGeom>
              <a:avLst/>
              <a:gdLst/>
              <a:ahLst/>
              <a:cxnLst/>
              <a:rect l="l" t="t" r="r" b="b"/>
              <a:pathLst>
                <a:path w="10800969" h="4015359">
                  <a:moveTo>
                    <a:pt x="0" y="61595"/>
                  </a:moveTo>
                  <a:cubicBezTo>
                    <a:pt x="0" y="27432"/>
                    <a:pt x="27813" y="0"/>
                    <a:pt x="61849" y="0"/>
                  </a:cubicBezTo>
                  <a:lnTo>
                    <a:pt x="10739120" y="0"/>
                  </a:lnTo>
                  <a:lnTo>
                    <a:pt x="10739120" y="19050"/>
                  </a:lnTo>
                  <a:lnTo>
                    <a:pt x="10739120" y="0"/>
                  </a:lnTo>
                  <a:cubicBezTo>
                    <a:pt x="10773156" y="0"/>
                    <a:pt x="10800969" y="27432"/>
                    <a:pt x="10800969" y="61595"/>
                  </a:cubicBezTo>
                  <a:lnTo>
                    <a:pt x="10781919" y="61595"/>
                  </a:lnTo>
                  <a:lnTo>
                    <a:pt x="10800969" y="61595"/>
                  </a:lnTo>
                  <a:lnTo>
                    <a:pt x="10800969" y="3953764"/>
                  </a:lnTo>
                  <a:lnTo>
                    <a:pt x="10781919" y="3953764"/>
                  </a:lnTo>
                  <a:lnTo>
                    <a:pt x="10800969" y="3953764"/>
                  </a:lnTo>
                  <a:cubicBezTo>
                    <a:pt x="10800969" y="3987927"/>
                    <a:pt x="10773156" y="4015359"/>
                    <a:pt x="10739120" y="4015359"/>
                  </a:cubicBezTo>
                  <a:lnTo>
                    <a:pt x="10739120" y="3996309"/>
                  </a:lnTo>
                  <a:lnTo>
                    <a:pt x="10739120" y="4015359"/>
                  </a:lnTo>
                  <a:lnTo>
                    <a:pt x="61849" y="4015359"/>
                  </a:lnTo>
                  <a:lnTo>
                    <a:pt x="61849" y="3996309"/>
                  </a:lnTo>
                  <a:lnTo>
                    <a:pt x="61849" y="4015359"/>
                  </a:lnTo>
                  <a:cubicBezTo>
                    <a:pt x="27813" y="4015359"/>
                    <a:pt x="0" y="3987927"/>
                    <a:pt x="0" y="3953764"/>
                  </a:cubicBezTo>
                  <a:lnTo>
                    <a:pt x="0" y="61595"/>
                  </a:lnTo>
                  <a:lnTo>
                    <a:pt x="19050" y="61595"/>
                  </a:lnTo>
                  <a:lnTo>
                    <a:pt x="0" y="61595"/>
                  </a:lnTo>
                  <a:moveTo>
                    <a:pt x="38100" y="61595"/>
                  </a:moveTo>
                  <a:lnTo>
                    <a:pt x="38100" y="3953764"/>
                  </a:lnTo>
                  <a:lnTo>
                    <a:pt x="19050" y="3953764"/>
                  </a:lnTo>
                  <a:lnTo>
                    <a:pt x="38100" y="3953764"/>
                  </a:lnTo>
                  <a:cubicBezTo>
                    <a:pt x="38100" y="3966591"/>
                    <a:pt x="48641" y="3977259"/>
                    <a:pt x="61849" y="3977259"/>
                  </a:cubicBezTo>
                  <a:lnTo>
                    <a:pt x="10739120" y="3977259"/>
                  </a:lnTo>
                  <a:cubicBezTo>
                    <a:pt x="10752327" y="3977259"/>
                    <a:pt x="10762869" y="3966591"/>
                    <a:pt x="10762869" y="3953764"/>
                  </a:cubicBezTo>
                  <a:lnTo>
                    <a:pt x="10762869" y="61595"/>
                  </a:lnTo>
                  <a:cubicBezTo>
                    <a:pt x="10762869" y="48768"/>
                    <a:pt x="10752327" y="38100"/>
                    <a:pt x="10739120" y="38100"/>
                  </a:cubicBezTo>
                  <a:lnTo>
                    <a:pt x="61849" y="38100"/>
                  </a:lnTo>
                  <a:lnTo>
                    <a:pt x="61849" y="19050"/>
                  </a:lnTo>
                  <a:lnTo>
                    <a:pt x="61849" y="38100"/>
                  </a:lnTo>
                  <a:cubicBezTo>
                    <a:pt x="48641" y="38100"/>
                    <a:pt x="38100" y="48768"/>
                    <a:pt x="38100" y="61595"/>
                  </a:cubicBezTo>
                  <a:close/>
                </a:path>
              </a:pathLst>
            </a:custGeom>
            <a:solidFill>
              <a:srgbClr val="D8D4D4"/>
            </a:solidFill>
          </p:spPr>
          <p:txBody>
            <a:bodyPr/>
            <a:lstStyle/>
            <a:p>
              <a:endParaRPr lang="en-US">
                <a:latin typeface="Cambria" panose="02040503050406030204" pitchFamily="18" charset="0"/>
              </a:endParaRPr>
            </a:p>
          </p:txBody>
        </p:sp>
      </p:grpSp>
      <p:grpSp>
        <p:nvGrpSpPr>
          <p:cNvPr id="19" name="Group 19"/>
          <p:cNvGrpSpPr/>
          <p:nvPr/>
        </p:nvGrpSpPr>
        <p:grpSpPr>
          <a:xfrm>
            <a:off x="9223620" y="2360650"/>
            <a:ext cx="8014992" cy="637880"/>
            <a:chOff x="0" y="0"/>
            <a:chExt cx="10686656" cy="850506"/>
          </a:xfrm>
          <a:solidFill>
            <a:schemeClr val="bg1">
              <a:lumMod val="85000"/>
            </a:schemeClr>
          </a:solidFill>
        </p:grpSpPr>
        <p:sp>
          <p:nvSpPr>
            <p:cNvPr id="20" name="Freeform 20"/>
            <p:cNvSpPr/>
            <p:nvPr/>
          </p:nvSpPr>
          <p:spPr>
            <a:xfrm>
              <a:off x="0" y="0"/>
              <a:ext cx="10686669" cy="850519"/>
            </a:xfrm>
            <a:custGeom>
              <a:avLst/>
              <a:gdLst/>
              <a:ahLst/>
              <a:cxnLst/>
              <a:rect l="l" t="t" r="r" b="b"/>
              <a:pathLst>
                <a:path w="10686669" h="850519">
                  <a:moveTo>
                    <a:pt x="0" y="0"/>
                  </a:moveTo>
                  <a:lnTo>
                    <a:pt x="10686669" y="0"/>
                  </a:lnTo>
                  <a:lnTo>
                    <a:pt x="10686669" y="850519"/>
                  </a:lnTo>
                  <a:lnTo>
                    <a:pt x="0" y="850519"/>
                  </a:lnTo>
                  <a:close/>
                </a:path>
              </a:pathLst>
            </a:custGeom>
            <a:grpFill/>
          </p:spPr>
          <p:txBody>
            <a:bodyPr/>
            <a:lstStyle/>
            <a:p>
              <a:endParaRPr lang="en-US">
                <a:latin typeface="Cambria" panose="02040503050406030204" pitchFamily="18" charset="0"/>
              </a:endParaRPr>
            </a:p>
          </p:txBody>
        </p:sp>
      </p:grpSp>
      <p:sp>
        <p:nvSpPr>
          <p:cNvPr id="21" name="Freeform 21" descr="preencoded.png"/>
          <p:cNvSpPr/>
          <p:nvPr/>
        </p:nvSpPr>
        <p:spPr>
          <a:xfrm>
            <a:off x="13071653" y="2531136"/>
            <a:ext cx="318935" cy="318935"/>
          </a:xfrm>
          <a:custGeom>
            <a:avLst/>
            <a:gdLst/>
            <a:ahLst/>
            <a:cxnLst/>
            <a:rect l="l" t="t" r="r" b="b"/>
            <a:pathLst>
              <a:path w="318935" h="318935">
                <a:moveTo>
                  <a:pt x="0" y="0"/>
                </a:moveTo>
                <a:lnTo>
                  <a:pt x="318935" y="0"/>
                </a:lnTo>
                <a:lnTo>
                  <a:pt x="318935" y="318935"/>
                </a:lnTo>
                <a:lnTo>
                  <a:pt x="0" y="3189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latin typeface="Cambria" panose="02040503050406030204" pitchFamily="18" charset="0"/>
            </a:endParaRPr>
          </a:p>
        </p:txBody>
      </p:sp>
      <p:sp>
        <p:nvSpPr>
          <p:cNvPr id="22" name="TextBox 22"/>
          <p:cNvSpPr txBox="1"/>
          <p:nvPr/>
        </p:nvSpPr>
        <p:spPr>
          <a:xfrm>
            <a:off x="9436150" y="3091598"/>
            <a:ext cx="7589939" cy="310213"/>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ea typeface="Crimson Pro Bold"/>
                <a:cs typeface="Crimson Pro Bold"/>
                <a:sym typeface="Crimson Pro Bold"/>
              </a:rPr>
              <a:t>Azure Content Moderator — Automated Evidence Flagging</a:t>
            </a:r>
          </a:p>
        </p:txBody>
      </p:sp>
      <p:sp>
        <p:nvSpPr>
          <p:cNvPr id="23" name="TextBox 23"/>
          <p:cNvSpPr txBox="1"/>
          <p:nvPr/>
        </p:nvSpPr>
        <p:spPr>
          <a:xfrm>
            <a:off x="9450416" y="3743528"/>
            <a:ext cx="7589939" cy="1743362"/>
          </a:xfrm>
          <a:prstGeom prst="rect">
            <a:avLst/>
          </a:prstGeom>
        </p:spPr>
        <p:txBody>
          <a:bodyPr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Investigators routinely upload evidence from dark web operations, malware campaigns, or compromised endpoints. Content Moderator's computer vision API automatically scans uploaded images and video frames for potentially illegal or harmful material before the file is written to Blob Storage. Flagged content is quarantined and routed to a senior analyst review queue - protecting the platform's legal integrity and ensuring regulatory compliance [18].</a:t>
            </a:r>
          </a:p>
        </p:txBody>
      </p:sp>
      <p:grpSp>
        <p:nvGrpSpPr>
          <p:cNvPr id="24" name="Group 24"/>
          <p:cNvGrpSpPr/>
          <p:nvPr/>
        </p:nvGrpSpPr>
        <p:grpSpPr>
          <a:xfrm>
            <a:off x="1002723" y="5978269"/>
            <a:ext cx="8100565" cy="2976855"/>
            <a:chOff x="0" y="0"/>
            <a:chExt cx="10800753" cy="4015384"/>
          </a:xfrm>
        </p:grpSpPr>
        <p:sp>
          <p:nvSpPr>
            <p:cNvPr id="25" name="Freeform 25"/>
            <p:cNvSpPr/>
            <p:nvPr/>
          </p:nvSpPr>
          <p:spPr>
            <a:xfrm>
              <a:off x="19050" y="19050"/>
              <a:ext cx="10762742" cy="3977259"/>
            </a:xfrm>
            <a:custGeom>
              <a:avLst/>
              <a:gdLst/>
              <a:ahLst/>
              <a:cxnLst/>
              <a:rect l="l" t="t" r="r" b="b"/>
              <a:pathLst>
                <a:path w="10762742" h="3977259">
                  <a:moveTo>
                    <a:pt x="0" y="42545"/>
                  </a:moveTo>
                  <a:cubicBezTo>
                    <a:pt x="0" y="19050"/>
                    <a:pt x="19177" y="0"/>
                    <a:pt x="42799" y="0"/>
                  </a:cubicBezTo>
                  <a:lnTo>
                    <a:pt x="10719943" y="0"/>
                  </a:lnTo>
                  <a:cubicBezTo>
                    <a:pt x="10743565" y="0"/>
                    <a:pt x="10762742" y="19050"/>
                    <a:pt x="10762742" y="42545"/>
                  </a:cubicBezTo>
                  <a:lnTo>
                    <a:pt x="10762742" y="3934714"/>
                  </a:lnTo>
                  <a:cubicBezTo>
                    <a:pt x="10762742" y="3958209"/>
                    <a:pt x="10743565" y="3977259"/>
                    <a:pt x="10719943" y="3977259"/>
                  </a:cubicBezTo>
                  <a:lnTo>
                    <a:pt x="42799" y="3977259"/>
                  </a:lnTo>
                  <a:cubicBezTo>
                    <a:pt x="19177" y="3977259"/>
                    <a:pt x="0" y="3958209"/>
                    <a:pt x="0" y="3934714"/>
                  </a:cubicBezTo>
                  <a:close/>
                </a:path>
              </a:pathLst>
            </a:custGeom>
            <a:solidFill>
              <a:srgbClr val="FFFFFF"/>
            </a:solidFill>
          </p:spPr>
          <p:txBody>
            <a:bodyPr/>
            <a:lstStyle/>
            <a:p>
              <a:endParaRPr lang="en-US">
                <a:latin typeface="Cambria" panose="02040503050406030204" pitchFamily="18" charset="0"/>
              </a:endParaRPr>
            </a:p>
          </p:txBody>
        </p:sp>
        <p:sp>
          <p:nvSpPr>
            <p:cNvPr id="26" name="Freeform 26"/>
            <p:cNvSpPr/>
            <p:nvPr/>
          </p:nvSpPr>
          <p:spPr>
            <a:xfrm>
              <a:off x="0" y="0"/>
              <a:ext cx="10800842" cy="4015359"/>
            </a:xfrm>
            <a:custGeom>
              <a:avLst/>
              <a:gdLst/>
              <a:ahLst/>
              <a:cxnLst/>
              <a:rect l="l" t="t" r="r" b="b"/>
              <a:pathLst>
                <a:path w="10800842" h="4015359">
                  <a:moveTo>
                    <a:pt x="0" y="61595"/>
                  </a:moveTo>
                  <a:cubicBezTo>
                    <a:pt x="0" y="27432"/>
                    <a:pt x="27813" y="0"/>
                    <a:pt x="61849" y="0"/>
                  </a:cubicBezTo>
                  <a:lnTo>
                    <a:pt x="10738993" y="0"/>
                  </a:lnTo>
                  <a:lnTo>
                    <a:pt x="10738993" y="19050"/>
                  </a:lnTo>
                  <a:lnTo>
                    <a:pt x="10738993" y="0"/>
                  </a:lnTo>
                  <a:cubicBezTo>
                    <a:pt x="10773029" y="0"/>
                    <a:pt x="10800842" y="27432"/>
                    <a:pt x="10800842" y="61595"/>
                  </a:cubicBezTo>
                  <a:lnTo>
                    <a:pt x="10781792" y="61595"/>
                  </a:lnTo>
                  <a:lnTo>
                    <a:pt x="10800842" y="61595"/>
                  </a:lnTo>
                  <a:lnTo>
                    <a:pt x="10800842" y="3953764"/>
                  </a:lnTo>
                  <a:lnTo>
                    <a:pt x="10781792" y="3953764"/>
                  </a:lnTo>
                  <a:lnTo>
                    <a:pt x="10800842" y="3953764"/>
                  </a:lnTo>
                  <a:cubicBezTo>
                    <a:pt x="10800842" y="3987927"/>
                    <a:pt x="10773029" y="4015359"/>
                    <a:pt x="10738993" y="4015359"/>
                  </a:cubicBezTo>
                  <a:lnTo>
                    <a:pt x="10738993" y="3996309"/>
                  </a:lnTo>
                  <a:lnTo>
                    <a:pt x="10738993" y="4015359"/>
                  </a:lnTo>
                  <a:lnTo>
                    <a:pt x="61849" y="4015359"/>
                  </a:lnTo>
                  <a:lnTo>
                    <a:pt x="61849" y="3996309"/>
                  </a:lnTo>
                  <a:lnTo>
                    <a:pt x="61849" y="4015359"/>
                  </a:lnTo>
                  <a:cubicBezTo>
                    <a:pt x="27813" y="4015359"/>
                    <a:pt x="0" y="3987927"/>
                    <a:pt x="0" y="3953764"/>
                  </a:cubicBezTo>
                  <a:lnTo>
                    <a:pt x="0" y="61595"/>
                  </a:lnTo>
                  <a:lnTo>
                    <a:pt x="19050" y="61595"/>
                  </a:lnTo>
                  <a:lnTo>
                    <a:pt x="0" y="61595"/>
                  </a:lnTo>
                  <a:moveTo>
                    <a:pt x="38100" y="61595"/>
                  </a:moveTo>
                  <a:lnTo>
                    <a:pt x="38100" y="3953764"/>
                  </a:lnTo>
                  <a:lnTo>
                    <a:pt x="19050" y="3953764"/>
                  </a:lnTo>
                  <a:lnTo>
                    <a:pt x="38100" y="3953764"/>
                  </a:lnTo>
                  <a:cubicBezTo>
                    <a:pt x="38100" y="3966591"/>
                    <a:pt x="48641" y="3977259"/>
                    <a:pt x="61849" y="3977259"/>
                  </a:cubicBezTo>
                  <a:lnTo>
                    <a:pt x="10738993" y="3977259"/>
                  </a:lnTo>
                  <a:cubicBezTo>
                    <a:pt x="10752201" y="3977259"/>
                    <a:pt x="10762742" y="3966591"/>
                    <a:pt x="10762742" y="3953764"/>
                  </a:cubicBezTo>
                  <a:lnTo>
                    <a:pt x="10762742" y="61595"/>
                  </a:lnTo>
                  <a:cubicBezTo>
                    <a:pt x="10762742" y="48768"/>
                    <a:pt x="10752201" y="38100"/>
                    <a:pt x="10738993" y="38100"/>
                  </a:cubicBezTo>
                  <a:lnTo>
                    <a:pt x="61849" y="38100"/>
                  </a:lnTo>
                  <a:lnTo>
                    <a:pt x="61849" y="19050"/>
                  </a:lnTo>
                  <a:lnTo>
                    <a:pt x="61849" y="38100"/>
                  </a:lnTo>
                  <a:cubicBezTo>
                    <a:pt x="48641" y="38100"/>
                    <a:pt x="38100" y="48768"/>
                    <a:pt x="38100" y="61595"/>
                  </a:cubicBezTo>
                  <a:close/>
                </a:path>
              </a:pathLst>
            </a:custGeom>
            <a:solidFill>
              <a:srgbClr val="D8D4D4"/>
            </a:solidFill>
          </p:spPr>
          <p:txBody>
            <a:bodyPr/>
            <a:lstStyle/>
            <a:p>
              <a:endParaRPr lang="en-US">
                <a:latin typeface="Cambria" panose="02040503050406030204" pitchFamily="18" charset="0"/>
              </a:endParaRPr>
            </a:p>
          </p:txBody>
        </p:sp>
      </p:grpSp>
      <p:grpSp>
        <p:nvGrpSpPr>
          <p:cNvPr id="27" name="Group 27"/>
          <p:cNvGrpSpPr/>
          <p:nvPr/>
        </p:nvGrpSpPr>
        <p:grpSpPr>
          <a:xfrm>
            <a:off x="1033699" y="5992392"/>
            <a:ext cx="8014840" cy="637880"/>
            <a:chOff x="0" y="0"/>
            <a:chExt cx="10686453" cy="850506"/>
          </a:xfrm>
          <a:solidFill>
            <a:schemeClr val="bg1">
              <a:lumMod val="85000"/>
            </a:schemeClr>
          </a:solidFill>
        </p:grpSpPr>
        <p:sp>
          <p:nvSpPr>
            <p:cNvPr id="28" name="Freeform 28"/>
            <p:cNvSpPr/>
            <p:nvPr/>
          </p:nvSpPr>
          <p:spPr>
            <a:xfrm>
              <a:off x="0" y="0"/>
              <a:ext cx="10686415" cy="850519"/>
            </a:xfrm>
            <a:custGeom>
              <a:avLst/>
              <a:gdLst/>
              <a:ahLst/>
              <a:cxnLst/>
              <a:rect l="l" t="t" r="r" b="b"/>
              <a:pathLst>
                <a:path w="10686415" h="850519">
                  <a:moveTo>
                    <a:pt x="0" y="0"/>
                  </a:moveTo>
                  <a:lnTo>
                    <a:pt x="10686415" y="0"/>
                  </a:lnTo>
                  <a:lnTo>
                    <a:pt x="10686415" y="850519"/>
                  </a:lnTo>
                  <a:lnTo>
                    <a:pt x="0" y="850519"/>
                  </a:lnTo>
                  <a:close/>
                </a:path>
              </a:pathLst>
            </a:custGeom>
            <a:grpFill/>
          </p:spPr>
          <p:txBody>
            <a:bodyPr/>
            <a:lstStyle/>
            <a:p>
              <a:endParaRPr lang="en-US" dirty="0">
                <a:latin typeface="Cambria" panose="02040503050406030204" pitchFamily="18" charset="0"/>
              </a:endParaRPr>
            </a:p>
          </p:txBody>
        </p:sp>
      </p:grpSp>
      <p:sp>
        <p:nvSpPr>
          <p:cNvPr id="29" name="Freeform 29" descr="preencoded.png"/>
          <p:cNvSpPr/>
          <p:nvPr/>
        </p:nvSpPr>
        <p:spPr>
          <a:xfrm>
            <a:off x="4734103" y="6126746"/>
            <a:ext cx="318935" cy="318935"/>
          </a:xfrm>
          <a:custGeom>
            <a:avLst/>
            <a:gdLst/>
            <a:ahLst/>
            <a:cxnLst/>
            <a:rect l="l" t="t" r="r" b="b"/>
            <a:pathLst>
              <a:path w="318935" h="318935">
                <a:moveTo>
                  <a:pt x="0" y="0"/>
                </a:moveTo>
                <a:lnTo>
                  <a:pt x="318935" y="0"/>
                </a:lnTo>
                <a:lnTo>
                  <a:pt x="318935" y="318935"/>
                </a:lnTo>
                <a:lnTo>
                  <a:pt x="0" y="31893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latin typeface="Cambria" panose="02040503050406030204" pitchFamily="18" charset="0"/>
            </a:endParaRPr>
          </a:p>
        </p:txBody>
      </p:sp>
      <p:sp>
        <p:nvSpPr>
          <p:cNvPr id="30" name="TextBox 30"/>
          <p:cNvSpPr txBox="1"/>
          <p:nvPr/>
        </p:nvSpPr>
        <p:spPr>
          <a:xfrm>
            <a:off x="1247624" y="6651635"/>
            <a:ext cx="7825348" cy="310213"/>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ea typeface="Crimson Pro Bold"/>
                <a:cs typeface="Crimson Pro Bold"/>
                <a:sym typeface="Crimson Pro Bold"/>
              </a:rPr>
              <a:t>Shared Access Signature (SAS) Tokens — Zero-Trust Blob Access</a:t>
            </a:r>
          </a:p>
        </p:txBody>
      </p:sp>
      <p:sp>
        <p:nvSpPr>
          <p:cNvPr id="31" name="TextBox 31"/>
          <p:cNvSpPr txBox="1"/>
          <p:nvPr/>
        </p:nvSpPr>
        <p:spPr>
          <a:xfrm>
            <a:off x="1233335" y="7132348"/>
            <a:ext cx="7589787" cy="1447640"/>
          </a:xfrm>
          <a:prstGeom prst="rect">
            <a:avLst/>
          </a:prstGeom>
        </p:spPr>
        <p:txBody>
          <a:bodyPr lIns="0" tIns="0" rIns="0" bIns="0" rtlCol="0" anchor="t">
            <a:spAutoFit/>
          </a:bodyPr>
          <a:lstStyle/>
          <a:p>
            <a:pPr>
              <a:lnSpc>
                <a:spcPts val="2312"/>
              </a:lnSpc>
            </a:pPr>
            <a:r>
              <a:rPr lang="en-GB" sz="1600" dirty="0">
                <a:latin typeface="Cambria" panose="02040503050406030204" pitchFamily="18" charset="0"/>
              </a:rPr>
              <a:t>Evidence files are never exposed via public URL. Each Logic App generates a time-limited, analyst-scoped SAS URL (1-hour expiry) per request, scoped to read-only permissions for the specific blob. Azure Key Vault stores all storage account keys and Cosmos DB connection strings — eliminating hardcoded credentials, providing automatic key rotation, and maintaining a full secret-access audit log [11][16].</a:t>
            </a:r>
          </a:p>
        </p:txBody>
      </p:sp>
      <p:grpSp>
        <p:nvGrpSpPr>
          <p:cNvPr id="32" name="Group 32"/>
          <p:cNvGrpSpPr/>
          <p:nvPr/>
        </p:nvGrpSpPr>
        <p:grpSpPr>
          <a:xfrm>
            <a:off x="9209332" y="5986771"/>
            <a:ext cx="8100717" cy="2976836"/>
            <a:chOff x="0" y="0"/>
            <a:chExt cx="10800956" cy="4015384"/>
          </a:xfrm>
        </p:grpSpPr>
        <p:sp>
          <p:nvSpPr>
            <p:cNvPr id="33" name="Freeform 33"/>
            <p:cNvSpPr/>
            <p:nvPr/>
          </p:nvSpPr>
          <p:spPr>
            <a:xfrm>
              <a:off x="19050" y="19050"/>
              <a:ext cx="10762869" cy="3977259"/>
            </a:xfrm>
            <a:custGeom>
              <a:avLst/>
              <a:gdLst/>
              <a:ahLst/>
              <a:cxnLst/>
              <a:rect l="l" t="t" r="r" b="b"/>
              <a:pathLst>
                <a:path w="10762869" h="3977259">
                  <a:moveTo>
                    <a:pt x="0" y="42545"/>
                  </a:moveTo>
                  <a:cubicBezTo>
                    <a:pt x="0" y="19050"/>
                    <a:pt x="19177" y="0"/>
                    <a:pt x="42799" y="0"/>
                  </a:cubicBezTo>
                  <a:lnTo>
                    <a:pt x="10720070" y="0"/>
                  </a:lnTo>
                  <a:cubicBezTo>
                    <a:pt x="10743692" y="0"/>
                    <a:pt x="10762869" y="19050"/>
                    <a:pt x="10762869" y="42545"/>
                  </a:cubicBezTo>
                  <a:lnTo>
                    <a:pt x="10762869" y="3934714"/>
                  </a:lnTo>
                  <a:cubicBezTo>
                    <a:pt x="10762869" y="3958209"/>
                    <a:pt x="10743692" y="3977259"/>
                    <a:pt x="10720070" y="3977259"/>
                  </a:cubicBezTo>
                  <a:lnTo>
                    <a:pt x="42799" y="3977259"/>
                  </a:lnTo>
                  <a:cubicBezTo>
                    <a:pt x="19177" y="3977259"/>
                    <a:pt x="0" y="3958209"/>
                    <a:pt x="0" y="3934714"/>
                  </a:cubicBezTo>
                  <a:close/>
                </a:path>
              </a:pathLst>
            </a:custGeom>
            <a:solidFill>
              <a:srgbClr val="FFFFFF"/>
            </a:solidFill>
          </p:spPr>
          <p:txBody>
            <a:bodyPr/>
            <a:lstStyle/>
            <a:p>
              <a:endParaRPr lang="en-US">
                <a:latin typeface="Cambria" panose="02040503050406030204" pitchFamily="18" charset="0"/>
              </a:endParaRPr>
            </a:p>
          </p:txBody>
        </p:sp>
        <p:sp>
          <p:nvSpPr>
            <p:cNvPr id="34" name="Freeform 34"/>
            <p:cNvSpPr/>
            <p:nvPr/>
          </p:nvSpPr>
          <p:spPr>
            <a:xfrm>
              <a:off x="0" y="0"/>
              <a:ext cx="10800969" cy="4015359"/>
            </a:xfrm>
            <a:custGeom>
              <a:avLst/>
              <a:gdLst/>
              <a:ahLst/>
              <a:cxnLst/>
              <a:rect l="l" t="t" r="r" b="b"/>
              <a:pathLst>
                <a:path w="10800969" h="4015359">
                  <a:moveTo>
                    <a:pt x="0" y="61595"/>
                  </a:moveTo>
                  <a:cubicBezTo>
                    <a:pt x="0" y="27432"/>
                    <a:pt x="27813" y="0"/>
                    <a:pt x="61849" y="0"/>
                  </a:cubicBezTo>
                  <a:lnTo>
                    <a:pt x="10739120" y="0"/>
                  </a:lnTo>
                  <a:lnTo>
                    <a:pt x="10739120" y="19050"/>
                  </a:lnTo>
                  <a:lnTo>
                    <a:pt x="10739120" y="0"/>
                  </a:lnTo>
                  <a:cubicBezTo>
                    <a:pt x="10773156" y="0"/>
                    <a:pt x="10800969" y="27432"/>
                    <a:pt x="10800969" y="61595"/>
                  </a:cubicBezTo>
                  <a:lnTo>
                    <a:pt x="10781919" y="61595"/>
                  </a:lnTo>
                  <a:lnTo>
                    <a:pt x="10800969" y="61595"/>
                  </a:lnTo>
                  <a:lnTo>
                    <a:pt x="10800969" y="3953764"/>
                  </a:lnTo>
                  <a:lnTo>
                    <a:pt x="10781919" y="3953764"/>
                  </a:lnTo>
                  <a:lnTo>
                    <a:pt x="10800969" y="3953764"/>
                  </a:lnTo>
                  <a:cubicBezTo>
                    <a:pt x="10800969" y="3987927"/>
                    <a:pt x="10773156" y="4015359"/>
                    <a:pt x="10739120" y="4015359"/>
                  </a:cubicBezTo>
                  <a:lnTo>
                    <a:pt x="10739120" y="3996309"/>
                  </a:lnTo>
                  <a:lnTo>
                    <a:pt x="10739120" y="4015359"/>
                  </a:lnTo>
                  <a:lnTo>
                    <a:pt x="61849" y="4015359"/>
                  </a:lnTo>
                  <a:lnTo>
                    <a:pt x="61849" y="3996309"/>
                  </a:lnTo>
                  <a:lnTo>
                    <a:pt x="61849" y="4015359"/>
                  </a:lnTo>
                  <a:cubicBezTo>
                    <a:pt x="27813" y="4015359"/>
                    <a:pt x="0" y="3987927"/>
                    <a:pt x="0" y="3953764"/>
                  </a:cubicBezTo>
                  <a:lnTo>
                    <a:pt x="0" y="61595"/>
                  </a:lnTo>
                  <a:lnTo>
                    <a:pt x="19050" y="61595"/>
                  </a:lnTo>
                  <a:lnTo>
                    <a:pt x="0" y="61595"/>
                  </a:lnTo>
                  <a:moveTo>
                    <a:pt x="38100" y="61595"/>
                  </a:moveTo>
                  <a:lnTo>
                    <a:pt x="38100" y="3953764"/>
                  </a:lnTo>
                  <a:lnTo>
                    <a:pt x="19050" y="3953764"/>
                  </a:lnTo>
                  <a:lnTo>
                    <a:pt x="38100" y="3953764"/>
                  </a:lnTo>
                  <a:cubicBezTo>
                    <a:pt x="38100" y="3966591"/>
                    <a:pt x="48641" y="3977259"/>
                    <a:pt x="61849" y="3977259"/>
                  </a:cubicBezTo>
                  <a:lnTo>
                    <a:pt x="10739120" y="3977259"/>
                  </a:lnTo>
                  <a:cubicBezTo>
                    <a:pt x="10752327" y="3977259"/>
                    <a:pt x="10762869" y="3966591"/>
                    <a:pt x="10762869" y="3953764"/>
                  </a:cubicBezTo>
                  <a:lnTo>
                    <a:pt x="10762869" y="61595"/>
                  </a:lnTo>
                  <a:cubicBezTo>
                    <a:pt x="10762869" y="48768"/>
                    <a:pt x="10752327" y="38100"/>
                    <a:pt x="10739120" y="38100"/>
                  </a:cubicBezTo>
                  <a:lnTo>
                    <a:pt x="61849" y="38100"/>
                  </a:lnTo>
                  <a:lnTo>
                    <a:pt x="61849" y="19050"/>
                  </a:lnTo>
                  <a:lnTo>
                    <a:pt x="61849" y="38100"/>
                  </a:lnTo>
                  <a:cubicBezTo>
                    <a:pt x="48641" y="38100"/>
                    <a:pt x="38100" y="48768"/>
                    <a:pt x="38100" y="61595"/>
                  </a:cubicBezTo>
                  <a:close/>
                </a:path>
              </a:pathLst>
            </a:custGeom>
            <a:solidFill>
              <a:srgbClr val="D8D4D4"/>
            </a:solidFill>
          </p:spPr>
          <p:txBody>
            <a:bodyPr/>
            <a:lstStyle/>
            <a:p>
              <a:endParaRPr lang="en-US">
                <a:latin typeface="Cambria" panose="02040503050406030204" pitchFamily="18" charset="0"/>
              </a:endParaRPr>
            </a:p>
          </p:txBody>
        </p:sp>
      </p:grpSp>
      <p:grpSp>
        <p:nvGrpSpPr>
          <p:cNvPr id="35" name="Group 35"/>
          <p:cNvGrpSpPr/>
          <p:nvPr/>
        </p:nvGrpSpPr>
        <p:grpSpPr>
          <a:xfrm>
            <a:off x="9237884" y="6011520"/>
            <a:ext cx="8015002" cy="637890"/>
            <a:chOff x="-35" y="640058"/>
            <a:chExt cx="10686669" cy="850519"/>
          </a:xfrm>
          <a:solidFill>
            <a:schemeClr val="bg1">
              <a:lumMod val="85000"/>
            </a:schemeClr>
          </a:solidFill>
        </p:grpSpPr>
        <p:sp>
          <p:nvSpPr>
            <p:cNvPr id="36" name="Freeform 36"/>
            <p:cNvSpPr/>
            <p:nvPr/>
          </p:nvSpPr>
          <p:spPr>
            <a:xfrm>
              <a:off x="-35" y="640058"/>
              <a:ext cx="10686669" cy="850519"/>
            </a:xfrm>
            <a:custGeom>
              <a:avLst/>
              <a:gdLst/>
              <a:ahLst/>
              <a:cxnLst/>
              <a:rect l="l" t="t" r="r" b="b"/>
              <a:pathLst>
                <a:path w="10686669" h="850519">
                  <a:moveTo>
                    <a:pt x="0" y="0"/>
                  </a:moveTo>
                  <a:lnTo>
                    <a:pt x="10686669" y="0"/>
                  </a:lnTo>
                  <a:lnTo>
                    <a:pt x="10686669" y="850519"/>
                  </a:lnTo>
                  <a:lnTo>
                    <a:pt x="0" y="850519"/>
                  </a:lnTo>
                  <a:close/>
                </a:path>
              </a:pathLst>
            </a:custGeom>
            <a:grpFill/>
          </p:spPr>
          <p:txBody>
            <a:bodyPr/>
            <a:lstStyle/>
            <a:p>
              <a:endParaRPr lang="en-US" dirty="0">
                <a:latin typeface="Cambria" panose="02040503050406030204" pitchFamily="18" charset="0"/>
              </a:endParaRPr>
            </a:p>
          </p:txBody>
        </p:sp>
      </p:grpSp>
      <p:grpSp>
        <p:nvGrpSpPr>
          <p:cNvPr id="37" name="Group 37"/>
          <p:cNvGrpSpPr/>
          <p:nvPr/>
        </p:nvGrpSpPr>
        <p:grpSpPr>
          <a:xfrm>
            <a:off x="13100227" y="6126745"/>
            <a:ext cx="318935" cy="318935"/>
            <a:chOff x="0" y="0"/>
            <a:chExt cx="425247" cy="425247"/>
          </a:xfrm>
        </p:grpSpPr>
        <p:sp>
          <p:nvSpPr>
            <p:cNvPr id="38" name="Freeform 38" descr="preencoded.png"/>
            <p:cNvSpPr/>
            <p:nvPr/>
          </p:nvSpPr>
          <p:spPr>
            <a:xfrm>
              <a:off x="0" y="0"/>
              <a:ext cx="425196" cy="425196"/>
            </a:xfrm>
            <a:custGeom>
              <a:avLst/>
              <a:gdLst/>
              <a:ahLst/>
              <a:cxnLst/>
              <a:rect l="l" t="t" r="r" b="b"/>
              <a:pathLst>
                <a:path w="425196" h="425196">
                  <a:moveTo>
                    <a:pt x="0" y="0"/>
                  </a:moveTo>
                  <a:lnTo>
                    <a:pt x="425196" y="0"/>
                  </a:lnTo>
                  <a:lnTo>
                    <a:pt x="425196" y="425196"/>
                  </a:lnTo>
                  <a:lnTo>
                    <a:pt x="0" y="425196"/>
                  </a:lnTo>
                  <a:lnTo>
                    <a:pt x="0" y="0"/>
                  </a:lnTo>
                  <a:close/>
                </a:path>
              </a:pathLst>
            </a:custGeom>
            <a:blipFill>
              <a:blip r:embed="rId6"/>
              <a:stretch>
                <a:fillRect r="-11" b="-11"/>
              </a:stretch>
            </a:blipFill>
          </p:spPr>
          <p:txBody>
            <a:bodyPr/>
            <a:lstStyle/>
            <a:p>
              <a:endParaRPr lang="en-US">
                <a:latin typeface="Cambria" panose="02040503050406030204" pitchFamily="18" charset="0"/>
              </a:endParaRPr>
            </a:p>
          </p:txBody>
        </p:sp>
      </p:grpSp>
      <p:sp>
        <p:nvSpPr>
          <p:cNvPr id="39" name="TextBox 39"/>
          <p:cNvSpPr txBox="1"/>
          <p:nvPr/>
        </p:nvSpPr>
        <p:spPr>
          <a:xfrm>
            <a:off x="9474150" y="6651635"/>
            <a:ext cx="7451674" cy="310213"/>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ea typeface="Crimson Pro Bold"/>
                <a:cs typeface="Crimson Pro Bold"/>
                <a:sym typeface="Crimson Pro Bold"/>
              </a:rPr>
              <a:t>Azure Anomaly Detector — Cyber Threat Pattern Recognition</a:t>
            </a:r>
          </a:p>
        </p:txBody>
      </p:sp>
      <p:sp>
        <p:nvSpPr>
          <p:cNvPr id="40" name="TextBox 40"/>
          <p:cNvSpPr txBox="1"/>
          <p:nvPr/>
        </p:nvSpPr>
        <p:spPr>
          <a:xfrm>
            <a:off x="9450416" y="7038005"/>
            <a:ext cx="7589939" cy="1743362"/>
          </a:xfrm>
          <a:prstGeom prst="rect">
            <a:avLst/>
          </a:prstGeom>
        </p:spPr>
        <p:txBody>
          <a:bodyPr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Analyses time-series telemetry streamed from Application Insights — upload volumes, API call rates, and analyst login frequencies — to detect statistically significant deviations without requiring custom ML models. A sudden spike in evidence uploads from a single analyst account, or an abnormal sequence of DELETE operations, triggers an automated alert to Azure Monitor. This transforms ThreatVault from a passive evidence store into an active insider-threat detection system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987476" y="610464"/>
            <a:ext cx="16105137" cy="628377"/>
          </a:xfrm>
          <a:prstGeom prst="rect">
            <a:avLst/>
          </a:prstGeom>
        </p:spPr>
        <p:txBody>
          <a:bodyPr wrap="square" lIns="0" tIns="0" rIns="0" bIns="0" rtlCol="0" anchor="t">
            <a:spAutoFit/>
          </a:bodyPr>
          <a:lstStyle/>
          <a:p>
            <a:pPr algn="l">
              <a:lnSpc>
                <a:spcPts val="4875"/>
              </a:lnSpc>
            </a:pPr>
            <a:r>
              <a:rPr lang="en-US" sz="4400" b="1" dirty="0">
                <a:solidFill>
                  <a:srgbClr val="152D47"/>
                </a:solidFill>
                <a:latin typeface="Cambria" panose="02040503050406030204" pitchFamily="18" charset="0"/>
                <a:ea typeface="Crimson Pro Bold"/>
                <a:cs typeface="Crimson Pro Bold"/>
                <a:sym typeface="Crimson Pro Bold"/>
              </a:rPr>
              <a:t>Technology Justification &amp; Alternatives</a:t>
            </a:r>
          </a:p>
        </p:txBody>
      </p:sp>
      <p:sp>
        <p:nvSpPr>
          <p:cNvPr id="7" name="TextBox 7"/>
          <p:cNvSpPr txBox="1"/>
          <p:nvPr/>
        </p:nvSpPr>
        <p:spPr>
          <a:xfrm>
            <a:off x="982751" y="1352988"/>
            <a:ext cx="16303523" cy="516808"/>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Every technology in ThreatVault was evaluated against alternatives before selection. All chosen services are </a:t>
            </a:r>
            <a:r>
              <a:rPr lang="en-US" sz="1562" b="1" dirty="0">
                <a:solidFill>
                  <a:srgbClr val="4C4C4D"/>
                </a:solidFill>
                <a:latin typeface="Cambria" panose="02040503050406030204" pitchFamily="18" charset="0"/>
                <a:ea typeface="Heebo Bold"/>
                <a:cs typeface="Heebo Bold"/>
                <a:sym typeface="Heebo Bold"/>
              </a:rPr>
              <a:t>Azure-native PaaS or Serverless</a:t>
            </a:r>
            <a:r>
              <a:rPr lang="en-US" sz="1562" dirty="0">
                <a:solidFill>
                  <a:srgbClr val="4C4C4D"/>
                </a:solidFill>
                <a:latin typeface="Cambria" panose="02040503050406030204" pitchFamily="18" charset="0"/>
                <a:ea typeface="Heebo"/>
                <a:cs typeface="Heebo"/>
                <a:sym typeface="Heebo"/>
              </a:rPr>
              <a:t> — eliminating infrastructure management, guaranteeing SLAs, and enabling autoscaling without operator intervention.</a:t>
            </a:r>
          </a:p>
        </p:txBody>
      </p:sp>
      <p:grpSp>
        <p:nvGrpSpPr>
          <p:cNvPr id="8" name="Group 8"/>
          <p:cNvGrpSpPr/>
          <p:nvPr/>
        </p:nvGrpSpPr>
        <p:grpSpPr>
          <a:xfrm>
            <a:off x="987476" y="2604192"/>
            <a:ext cx="16313048" cy="5564086"/>
            <a:chOff x="0" y="0"/>
            <a:chExt cx="21750731" cy="7418781"/>
          </a:xfrm>
        </p:grpSpPr>
        <p:sp>
          <p:nvSpPr>
            <p:cNvPr id="9" name="Freeform 9"/>
            <p:cNvSpPr/>
            <p:nvPr/>
          </p:nvSpPr>
          <p:spPr>
            <a:xfrm>
              <a:off x="0" y="0"/>
              <a:ext cx="21750782" cy="7418832"/>
            </a:xfrm>
            <a:custGeom>
              <a:avLst/>
              <a:gdLst/>
              <a:ahLst/>
              <a:cxnLst/>
              <a:rect l="l" t="t" r="r" b="b"/>
              <a:pathLst>
                <a:path w="21750782" h="7418832">
                  <a:moveTo>
                    <a:pt x="0" y="46101"/>
                  </a:moveTo>
                  <a:cubicBezTo>
                    <a:pt x="0" y="20574"/>
                    <a:pt x="20701" y="0"/>
                    <a:pt x="46101" y="0"/>
                  </a:cubicBezTo>
                  <a:lnTo>
                    <a:pt x="21704681" y="0"/>
                  </a:lnTo>
                  <a:lnTo>
                    <a:pt x="21704681" y="6350"/>
                  </a:lnTo>
                  <a:lnTo>
                    <a:pt x="21704681" y="0"/>
                  </a:lnTo>
                  <a:cubicBezTo>
                    <a:pt x="21730081" y="0"/>
                    <a:pt x="21750782" y="20574"/>
                    <a:pt x="21750782" y="46101"/>
                  </a:cubicBezTo>
                  <a:lnTo>
                    <a:pt x="21744432" y="46101"/>
                  </a:lnTo>
                  <a:lnTo>
                    <a:pt x="21750782" y="46101"/>
                  </a:lnTo>
                  <a:lnTo>
                    <a:pt x="21750782" y="7372731"/>
                  </a:lnTo>
                  <a:lnTo>
                    <a:pt x="21744432" y="7372731"/>
                  </a:lnTo>
                  <a:lnTo>
                    <a:pt x="21750782" y="7372731"/>
                  </a:lnTo>
                  <a:cubicBezTo>
                    <a:pt x="21750782" y="7398131"/>
                    <a:pt x="21730081" y="7418832"/>
                    <a:pt x="21704681" y="7418832"/>
                  </a:cubicBezTo>
                  <a:lnTo>
                    <a:pt x="21704681" y="7412482"/>
                  </a:lnTo>
                  <a:lnTo>
                    <a:pt x="21704681" y="7418832"/>
                  </a:lnTo>
                  <a:lnTo>
                    <a:pt x="46101" y="7418832"/>
                  </a:lnTo>
                  <a:lnTo>
                    <a:pt x="46101" y="7412482"/>
                  </a:lnTo>
                  <a:lnTo>
                    <a:pt x="46101" y="7418832"/>
                  </a:lnTo>
                  <a:cubicBezTo>
                    <a:pt x="20701" y="7418832"/>
                    <a:pt x="0" y="7398258"/>
                    <a:pt x="0" y="7372731"/>
                  </a:cubicBezTo>
                  <a:lnTo>
                    <a:pt x="0" y="46101"/>
                  </a:lnTo>
                  <a:lnTo>
                    <a:pt x="6350" y="46101"/>
                  </a:lnTo>
                  <a:lnTo>
                    <a:pt x="0" y="46101"/>
                  </a:lnTo>
                  <a:moveTo>
                    <a:pt x="12700" y="46101"/>
                  </a:moveTo>
                  <a:lnTo>
                    <a:pt x="12700" y="7372731"/>
                  </a:lnTo>
                  <a:lnTo>
                    <a:pt x="6350" y="7372731"/>
                  </a:lnTo>
                  <a:lnTo>
                    <a:pt x="12700" y="7372731"/>
                  </a:lnTo>
                  <a:cubicBezTo>
                    <a:pt x="12700" y="7391147"/>
                    <a:pt x="27686" y="7406132"/>
                    <a:pt x="46101" y="7406132"/>
                  </a:cubicBezTo>
                  <a:lnTo>
                    <a:pt x="21704681" y="7406132"/>
                  </a:lnTo>
                  <a:cubicBezTo>
                    <a:pt x="21723096" y="7406132"/>
                    <a:pt x="21738082" y="7391147"/>
                    <a:pt x="21738082" y="7372731"/>
                  </a:cubicBezTo>
                  <a:lnTo>
                    <a:pt x="21738082" y="46101"/>
                  </a:lnTo>
                  <a:cubicBezTo>
                    <a:pt x="21738082" y="27686"/>
                    <a:pt x="21723096" y="12700"/>
                    <a:pt x="21704681" y="12700"/>
                  </a:cubicBezTo>
                  <a:lnTo>
                    <a:pt x="46101" y="12700"/>
                  </a:lnTo>
                  <a:lnTo>
                    <a:pt x="46101" y="6350"/>
                  </a:lnTo>
                  <a:lnTo>
                    <a:pt x="46101" y="12700"/>
                  </a:lnTo>
                  <a:cubicBezTo>
                    <a:pt x="27686" y="12700"/>
                    <a:pt x="12700" y="27686"/>
                    <a:pt x="12700" y="46101"/>
                  </a:cubicBezTo>
                  <a:close/>
                </a:path>
              </a:pathLst>
            </a:custGeom>
            <a:solidFill>
              <a:srgbClr val="000000">
                <a:alpha val="392"/>
              </a:srgbClr>
            </a:solidFill>
          </p:spPr>
          <p:txBody>
            <a:bodyPr/>
            <a:lstStyle/>
            <a:p>
              <a:endParaRPr lang="en-US">
                <a:latin typeface="Cambria" panose="02040503050406030204" pitchFamily="18" charset="0"/>
              </a:endParaRPr>
            </a:p>
          </p:txBody>
        </p:sp>
      </p:grpSp>
      <p:grpSp>
        <p:nvGrpSpPr>
          <p:cNvPr id="10" name="Group 10"/>
          <p:cNvGrpSpPr/>
          <p:nvPr/>
        </p:nvGrpSpPr>
        <p:grpSpPr>
          <a:xfrm>
            <a:off x="1001763" y="2618480"/>
            <a:ext cx="16284473" cy="455714"/>
            <a:chOff x="0" y="0"/>
            <a:chExt cx="21712631" cy="607619"/>
          </a:xfrm>
        </p:grpSpPr>
        <p:sp>
          <p:nvSpPr>
            <p:cNvPr id="11" name="Freeform 11"/>
            <p:cNvSpPr/>
            <p:nvPr/>
          </p:nvSpPr>
          <p:spPr>
            <a:xfrm>
              <a:off x="0" y="0"/>
              <a:ext cx="21712682" cy="607568"/>
            </a:xfrm>
            <a:custGeom>
              <a:avLst/>
              <a:gdLst/>
              <a:ahLst/>
              <a:cxnLst/>
              <a:rect l="l" t="t" r="r" b="b"/>
              <a:pathLst>
                <a:path w="21712682" h="607568">
                  <a:moveTo>
                    <a:pt x="0" y="0"/>
                  </a:moveTo>
                  <a:lnTo>
                    <a:pt x="21712682" y="0"/>
                  </a:lnTo>
                  <a:lnTo>
                    <a:pt x="21712682" y="607568"/>
                  </a:lnTo>
                  <a:lnTo>
                    <a:pt x="0" y="607568"/>
                  </a:lnTo>
                  <a:close/>
                </a:path>
              </a:pathLst>
            </a:custGeom>
            <a:solidFill>
              <a:srgbClr val="FFFFFF">
                <a:alpha val="0"/>
              </a:srgbClr>
            </a:solidFill>
          </p:spPr>
          <p:txBody>
            <a:bodyPr/>
            <a:lstStyle/>
            <a:p>
              <a:endParaRPr lang="en-US">
                <a:latin typeface="Cambria" panose="02040503050406030204" pitchFamily="18" charset="0"/>
              </a:endParaRPr>
            </a:p>
          </p:txBody>
        </p:sp>
      </p:grpSp>
      <p:grpSp>
        <p:nvGrpSpPr>
          <p:cNvPr id="46" name="Group 46"/>
          <p:cNvGrpSpPr/>
          <p:nvPr/>
        </p:nvGrpSpPr>
        <p:grpSpPr>
          <a:xfrm>
            <a:off x="1001763" y="6702628"/>
            <a:ext cx="16284473" cy="725691"/>
            <a:chOff x="0" y="0"/>
            <a:chExt cx="21712631" cy="967588"/>
          </a:xfrm>
        </p:grpSpPr>
        <p:sp>
          <p:nvSpPr>
            <p:cNvPr id="47" name="Freeform 47"/>
            <p:cNvSpPr/>
            <p:nvPr/>
          </p:nvSpPr>
          <p:spPr>
            <a:xfrm>
              <a:off x="0" y="0"/>
              <a:ext cx="21712682" cy="967613"/>
            </a:xfrm>
            <a:custGeom>
              <a:avLst/>
              <a:gdLst/>
              <a:ahLst/>
              <a:cxnLst/>
              <a:rect l="l" t="t" r="r" b="b"/>
              <a:pathLst>
                <a:path w="21712682" h="967613">
                  <a:moveTo>
                    <a:pt x="0" y="0"/>
                  </a:moveTo>
                  <a:lnTo>
                    <a:pt x="21712682" y="0"/>
                  </a:lnTo>
                  <a:lnTo>
                    <a:pt x="21712682" y="967613"/>
                  </a:lnTo>
                  <a:lnTo>
                    <a:pt x="0" y="967613"/>
                  </a:lnTo>
                  <a:close/>
                </a:path>
              </a:pathLst>
            </a:custGeom>
            <a:solidFill>
              <a:srgbClr val="FFFFFF">
                <a:alpha val="0"/>
              </a:srgbClr>
            </a:solidFill>
          </p:spPr>
          <p:txBody>
            <a:bodyPr/>
            <a:lstStyle/>
            <a:p>
              <a:endParaRPr lang="en-US">
                <a:latin typeface="Cambria" panose="02040503050406030204" pitchFamily="18" charset="0"/>
              </a:endParaRPr>
            </a:p>
          </p:txBody>
        </p:sp>
      </p:grpSp>
      <p:grpSp>
        <p:nvGrpSpPr>
          <p:cNvPr id="52" name="Group 52"/>
          <p:cNvGrpSpPr/>
          <p:nvPr/>
        </p:nvGrpSpPr>
        <p:grpSpPr>
          <a:xfrm>
            <a:off x="1001763" y="7428309"/>
            <a:ext cx="16284473" cy="725691"/>
            <a:chOff x="0" y="0"/>
            <a:chExt cx="21712631" cy="967588"/>
          </a:xfrm>
        </p:grpSpPr>
        <p:sp>
          <p:nvSpPr>
            <p:cNvPr id="53" name="Freeform 53"/>
            <p:cNvSpPr/>
            <p:nvPr/>
          </p:nvSpPr>
          <p:spPr>
            <a:xfrm>
              <a:off x="0" y="0"/>
              <a:ext cx="21712682" cy="967613"/>
            </a:xfrm>
            <a:custGeom>
              <a:avLst/>
              <a:gdLst/>
              <a:ahLst/>
              <a:cxnLst/>
              <a:rect l="l" t="t" r="r" b="b"/>
              <a:pathLst>
                <a:path w="21712682" h="967613">
                  <a:moveTo>
                    <a:pt x="0" y="0"/>
                  </a:moveTo>
                  <a:lnTo>
                    <a:pt x="21712682" y="0"/>
                  </a:lnTo>
                  <a:lnTo>
                    <a:pt x="21712682" y="967613"/>
                  </a:lnTo>
                  <a:lnTo>
                    <a:pt x="0" y="967613"/>
                  </a:lnTo>
                  <a:close/>
                </a:path>
              </a:pathLst>
            </a:custGeom>
            <a:solidFill>
              <a:srgbClr val="000000">
                <a:alpha val="0"/>
              </a:srgbClr>
            </a:solidFill>
          </p:spPr>
          <p:txBody>
            <a:bodyPr/>
            <a:lstStyle/>
            <a:p>
              <a:endParaRPr lang="en-US">
                <a:latin typeface="Cambria" panose="02040503050406030204" pitchFamily="18" charset="0"/>
              </a:endParaRPr>
            </a:p>
          </p:txBody>
        </p:sp>
      </p:grpSp>
      <p:grpSp>
        <p:nvGrpSpPr>
          <p:cNvPr id="58" name="Group 58"/>
          <p:cNvGrpSpPr/>
          <p:nvPr/>
        </p:nvGrpSpPr>
        <p:grpSpPr>
          <a:xfrm>
            <a:off x="963627" y="9066372"/>
            <a:ext cx="16303523" cy="952500"/>
            <a:chOff x="0" y="0"/>
            <a:chExt cx="21738031" cy="1270000"/>
          </a:xfrm>
          <a:solidFill>
            <a:schemeClr val="bg1">
              <a:lumMod val="95000"/>
            </a:schemeClr>
          </a:solidFill>
        </p:grpSpPr>
        <p:sp>
          <p:nvSpPr>
            <p:cNvPr id="59" name="Freeform 59"/>
            <p:cNvSpPr/>
            <p:nvPr/>
          </p:nvSpPr>
          <p:spPr>
            <a:xfrm>
              <a:off x="0" y="0"/>
              <a:ext cx="21738082" cy="1270000"/>
            </a:xfrm>
            <a:custGeom>
              <a:avLst/>
              <a:gdLst/>
              <a:ahLst/>
              <a:cxnLst/>
              <a:rect l="l" t="t" r="r" b="b"/>
              <a:pathLst>
                <a:path w="21738082" h="1270000">
                  <a:moveTo>
                    <a:pt x="0" y="39751"/>
                  </a:moveTo>
                  <a:cubicBezTo>
                    <a:pt x="0" y="17780"/>
                    <a:pt x="17780" y="0"/>
                    <a:pt x="39751" y="0"/>
                  </a:cubicBezTo>
                  <a:lnTo>
                    <a:pt x="21698331" y="0"/>
                  </a:lnTo>
                  <a:cubicBezTo>
                    <a:pt x="21720302" y="0"/>
                    <a:pt x="21738082" y="17780"/>
                    <a:pt x="21738082" y="39751"/>
                  </a:cubicBezTo>
                  <a:lnTo>
                    <a:pt x="21738082" y="1230249"/>
                  </a:lnTo>
                  <a:cubicBezTo>
                    <a:pt x="21738082" y="1252220"/>
                    <a:pt x="21720302" y="1270000"/>
                    <a:pt x="21698331" y="1270000"/>
                  </a:cubicBezTo>
                  <a:lnTo>
                    <a:pt x="39751" y="1270000"/>
                  </a:lnTo>
                  <a:cubicBezTo>
                    <a:pt x="17780" y="1270000"/>
                    <a:pt x="0" y="1252220"/>
                    <a:pt x="0" y="1230249"/>
                  </a:cubicBezTo>
                  <a:close/>
                </a:path>
              </a:pathLst>
            </a:custGeom>
            <a:grpFill/>
          </p:spPr>
          <p:txBody>
            <a:bodyPr/>
            <a:lstStyle/>
            <a:p>
              <a:endParaRPr lang="en-US">
                <a:latin typeface="Cambria" panose="02040503050406030204" pitchFamily="18" charset="0"/>
              </a:endParaRPr>
            </a:p>
          </p:txBody>
        </p:sp>
      </p:grpSp>
      <p:grpSp>
        <p:nvGrpSpPr>
          <p:cNvPr id="60" name="Group 60"/>
          <p:cNvGrpSpPr/>
          <p:nvPr/>
        </p:nvGrpSpPr>
        <p:grpSpPr>
          <a:xfrm>
            <a:off x="1184803" y="9478149"/>
            <a:ext cx="247945" cy="198387"/>
            <a:chOff x="0" y="0"/>
            <a:chExt cx="330594" cy="264516"/>
          </a:xfrm>
        </p:grpSpPr>
        <p:sp>
          <p:nvSpPr>
            <p:cNvPr id="61" name="Freeform 61" descr="preencoded.png"/>
            <p:cNvSpPr/>
            <p:nvPr/>
          </p:nvSpPr>
          <p:spPr>
            <a:xfrm>
              <a:off x="0" y="0"/>
              <a:ext cx="330581" cy="264541"/>
            </a:xfrm>
            <a:custGeom>
              <a:avLst/>
              <a:gdLst/>
              <a:ahLst/>
              <a:cxnLst/>
              <a:rect l="l" t="t" r="r" b="b"/>
              <a:pathLst>
                <a:path w="330581" h="264541">
                  <a:moveTo>
                    <a:pt x="0" y="0"/>
                  </a:moveTo>
                  <a:lnTo>
                    <a:pt x="330581" y="0"/>
                  </a:lnTo>
                  <a:lnTo>
                    <a:pt x="330581" y="264541"/>
                  </a:lnTo>
                  <a:lnTo>
                    <a:pt x="0" y="264541"/>
                  </a:lnTo>
                  <a:lnTo>
                    <a:pt x="0" y="0"/>
                  </a:lnTo>
                  <a:close/>
                </a:path>
              </a:pathLst>
            </a:custGeom>
            <a:blipFill>
              <a:blip r:embed="rId3"/>
              <a:stretch>
                <a:fillRect t="-475" r="-3" b="-460"/>
              </a:stretch>
            </a:blipFill>
          </p:spPr>
          <p:txBody>
            <a:bodyPr/>
            <a:lstStyle/>
            <a:p>
              <a:endParaRPr lang="en-US">
                <a:latin typeface="Cambria" panose="02040503050406030204" pitchFamily="18" charset="0"/>
              </a:endParaRPr>
            </a:p>
          </p:txBody>
        </p:sp>
      </p:grpSp>
      <p:sp>
        <p:nvSpPr>
          <p:cNvPr id="62" name="TextBox 62"/>
          <p:cNvSpPr txBox="1"/>
          <p:nvPr/>
        </p:nvSpPr>
        <p:spPr>
          <a:xfrm>
            <a:off x="1588609" y="9300144"/>
            <a:ext cx="15460418" cy="516808"/>
          </a:xfrm>
          <a:prstGeom prst="rect">
            <a:avLst/>
          </a:prstGeom>
        </p:spPr>
        <p:txBody>
          <a:bodyPr lIns="0" tIns="0" rIns="0" bIns="0" rtlCol="0" anchor="t">
            <a:spAutoFit/>
          </a:bodyPr>
          <a:lstStyle/>
          <a:p>
            <a:pPr algn="l">
              <a:lnSpc>
                <a:spcPts val="2125"/>
              </a:lnSpc>
            </a:pPr>
            <a:r>
              <a:rPr lang="en-US" sz="1562" b="1" dirty="0">
                <a:solidFill>
                  <a:srgbClr val="000000"/>
                </a:solidFill>
                <a:latin typeface="Cambria" panose="02040503050406030204" pitchFamily="18" charset="0"/>
                <a:ea typeface="Heebo Bold"/>
                <a:cs typeface="Heebo Bold"/>
                <a:sym typeface="Heebo Bold"/>
              </a:rPr>
              <a:t>Key Selection Principle:</a:t>
            </a:r>
            <a:r>
              <a:rPr lang="en-US" sz="1562" dirty="0">
                <a:solidFill>
                  <a:srgbClr val="000000"/>
                </a:solidFill>
                <a:latin typeface="Cambria" panose="02040503050406030204" pitchFamily="18" charset="0"/>
                <a:ea typeface="Heebo"/>
                <a:cs typeface="Heebo"/>
                <a:sym typeface="Heebo"/>
              </a:rPr>
              <a:t> All chosen services are Azure-native PaaS or Serverless — eliminating infrastructure management, guaranteeing SLAs, and enabling autoscaling without operator intervention.</a:t>
            </a:r>
          </a:p>
        </p:txBody>
      </p:sp>
      <p:graphicFrame>
        <p:nvGraphicFramePr>
          <p:cNvPr id="69" name="Table 68">
            <a:extLst>
              <a:ext uri="{FF2B5EF4-FFF2-40B4-BE49-F238E27FC236}">
                <a16:creationId xmlns:a16="http://schemas.microsoft.com/office/drawing/2014/main" id="{F514F079-6816-29D6-90FD-AD3FBD430B99}"/>
              </a:ext>
            </a:extLst>
          </p:cNvPr>
          <p:cNvGraphicFramePr>
            <a:graphicFrameLocks noGrp="1"/>
          </p:cNvGraphicFramePr>
          <p:nvPr>
            <p:extLst>
              <p:ext uri="{D42A27DB-BD31-4B8C-83A1-F6EECF244321}">
                <p14:modId xmlns:p14="http://schemas.microsoft.com/office/powerpoint/2010/main" val="96961502"/>
              </p:ext>
            </p:extLst>
          </p:nvPr>
        </p:nvGraphicFramePr>
        <p:xfrm>
          <a:off x="381000" y="1996724"/>
          <a:ext cx="17526000" cy="6801054"/>
        </p:xfrm>
        <a:graphic>
          <a:graphicData uri="http://schemas.openxmlformats.org/drawingml/2006/table">
            <a:tbl>
              <a:tblPr firstRow="1" bandRow="1">
                <a:tableStyleId>{D7AC3CCA-C797-4891-BE02-D94E43425B78}</a:tableStyleId>
              </a:tblPr>
              <a:tblGrid>
                <a:gridCol w="4381500">
                  <a:extLst>
                    <a:ext uri="{9D8B030D-6E8A-4147-A177-3AD203B41FA5}">
                      <a16:colId xmlns:a16="http://schemas.microsoft.com/office/drawing/2014/main" val="1908008232"/>
                    </a:ext>
                  </a:extLst>
                </a:gridCol>
                <a:gridCol w="4381500">
                  <a:extLst>
                    <a:ext uri="{9D8B030D-6E8A-4147-A177-3AD203B41FA5}">
                      <a16:colId xmlns:a16="http://schemas.microsoft.com/office/drawing/2014/main" val="356543017"/>
                    </a:ext>
                  </a:extLst>
                </a:gridCol>
                <a:gridCol w="4381500">
                  <a:extLst>
                    <a:ext uri="{9D8B030D-6E8A-4147-A177-3AD203B41FA5}">
                      <a16:colId xmlns:a16="http://schemas.microsoft.com/office/drawing/2014/main" val="2121215651"/>
                    </a:ext>
                  </a:extLst>
                </a:gridCol>
                <a:gridCol w="4381500">
                  <a:extLst>
                    <a:ext uri="{9D8B030D-6E8A-4147-A177-3AD203B41FA5}">
                      <a16:colId xmlns:a16="http://schemas.microsoft.com/office/drawing/2014/main" val="712054416"/>
                    </a:ext>
                  </a:extLst>
                </a:gridCol>
              </a:tblGrid>
              <a:tr h="263261">
                <a:tc>
                  <a:txBody>
                    <a:bodyPr/>
                    <a:lstStyle/>
                    <a:p>
                      <a:pPr>
                        <a:buNone/>
                      </a:pPr>
                      <a:r>
                        <a:rPr lang="en-GB" sz="1200" dirty="0">
                          <a:latin typeface="Cambria" panose="02040503050406030204" pitchFamily="18" charset="0"/>
                          <a:cs typeface="Heebo" pitchFamily="2" charset="-79"/>
                        </a:rPr>
                        <a:t>Layer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GB" sz="1200" dirty="0">
                          <a:latin typeface="Cambria" panose="02040503050406030204" pitchFamily="18" charset="0"/>
                          <a:cs typeface="Heebo" pitchFamily="2" charset="-79"/>
                        </a:rPr>
                        <a:t>Chosen Technology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GB" sz="1200" dirty="0">
                          <a:latin typeface="Cambria" panose="02040503050406030204" pitchFamily="18" charset="0"/>
                          <a:cs typeface="Heebo" pitchFamily="2" charset="-79"/>
                        </a:rPr>
                        <a:t>Alternatives Considered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en-GB" sz="1200" dirty="0">
                          <a:latin typeface="Cambria" panose="02040503050406030204" pitchFamily="18" charset="0"/>
                          <a:cs typeface="Heebo" pitchFamily="2" charset="-79"/>
                        </a:rPr>
                        <a:t>Why Chosen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14861020"/>
                  </a:ext>
                </a:extLst>
              </a:tr>
              <a:tr h="438769">
                <a:tc>
                  <a:txBody>
                    <a:bodyPr/>
                    <a:lstStyle/>
                    <a:p>
                      <a:pPr>
                        <a:buNone/>
                      </a:pPr>
                      <a:r>
                        <a:rPr lang="en-GB" sz="1200" dirty="0">
                          <a:latin typeface="Cambria" panose="02040503050406030204" pitchFamily="18" charset="0"/>
                          <a:cs typeface="Heebo" pitchFamily="2" charset="-79"/>
                        </a:rPr>
                        <a:t>CDN / Global Routing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Azure Front Door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AWS CloudFront / Nginx</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Global load balancing, DDoS protection, CDN caching — native Azure integration, no additional infrastructure required [04]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3641669"/>
                  </a:ext>
                </a:extLst>
              </a:tr>
              <a:tr h="614277">
                <a:tc>
                  <a:txBody>
                    <a:bodyPr/>
                    <a:lstStyle/>
                    <a:p>
                      <a:pPr>
                        <a:buNone/>
                      </a:pPr>
                      <a:r>
                        <a:rPr lang="en-GB" sz="1200" dirty="0">
                          <a:latin typeface="Cambria" panose="02040503050406030204" pitchFamily="18" charset="0"/>
                          <a:cs typeface="Heebo" pitchFamily="2" charset="-79"/>
                        </a:rPr>
                        <a:t>Authentication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Azure AD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AWS Cognito / Auth0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Native Azure identity management, RBAC support, MFA built-in, designed for internal organisational users — not a consumer app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1311337"/>
                  </a:ext>
                </a:extLst>
              </a:tr>
              <a:tr h="461816">
                <a:tc>
                  <a:txBody>
                    <a:bodyPr/>
                    <a:lstStyle/>
                    <a:p>
                      <a:pPr>
                        <a:buNone/>
                      </a:pPr>
                      <a:r>
                        <a:rPr lang="en-GB" sz="1200" dirty="0">
                          <a:latin typeface="Cambria" panose="02040503050406030204" pitchFamily="18" charset="0"/>
                          <a:cs typeface="Heebo" pitchFamily="2" charset="-79"/>
                        </a:rPr>
                        <a:t>Binary Storage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Azure Blob Storage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AWS S3 / On-premise NAS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Massively scalable, SAS tokens for secure time-limited access, native Azure integration, Block Blobs up to 190.7 TiB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5889575"/>
                  </a:ext>
                </a:extLst>
              </a:tr>
              <a:tr h="461816">
                <a:tc>
                  <a:txBody>
                    <a:bodyPr/>
                    <a:lstStyle/>
                    <a:p>
                      <a:pPr>
                        <a:buNone/>
                      </a:pPr>
                      <a:r>
                        <a:rPr lang="en-GB" sz="1200">
                          <a:latin typeface="Cambria" panose="02040503050406030204" pitchFamily="18" charset="0"/>
                          <a:cs typeface="Heebo" pitchFamily="2" charset="-79"/>
                        </a:rPr>
                        <a:t>Evidence Metadata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Cosmos DB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MongoDB Atlas / DynamoDB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Planet-scale NoSQL, multi-region writes, flexible JSON schema per document, native Azure, single-digit millisecond reads [01]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9942650"/>
                  </a:ext>
                </a:extLst>
              </a:tr>
              <a:tr h="438769">
                <a:tc>
                  <a:txBody>
                    <a:bodyPr/>
                    <a:lstStyle/>
                    <a:p>
                      <a:pPr>
                        <a:buNone/>
                      </a:pPr>
                      <a:r>
                        <a:rPr lang="en-GB" sz="1200">
                          <a:latin typeface="Cambria" panose="02040503050406030204" pitchFamily="18" charset="0"/>
                          <a:cs typeface="Heebo" pitchFamily="2" charset="-79"/>
                        </a:rPr>
                        <a:t>User &amp; Case Data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SQL Database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PostgreSQL / MySQL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ACID compliance for RBAC data, Azure-native PaaS, 99.995% SLA, Microsoft Defender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86991148"/>
                  </a:ext>
                </a:extLst>
              </a:tr>
              <a:tr h="461816">
                <a:tc>
                  <a:txBody>
                    <a:bodyPr/>
                    <a:lstStyle/>
                    <a:p>
                      <a:pPr>
                        <a:buNone/>
                      </a:pPr>
                      <a:r>
                        <a:rPr lang="en-GB" sz="1200">
                          <a:latin typeface="Cambria" panose="02040503050406030204" pitchFamily="18" charset="0"/>
                          <a:cs typeface="Heebo" pitchFamily="2" charset="-79"/>
                        </a:rPr>
                        <a:t>API Orchestration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Logic Apps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Azure Functions / AWS Lambda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Visual workflow designer, native connectors to all Azure services, no-code CRUD design, serverless auto-scaling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6613606"/>
                  </a:ext>
                </a:extLst>
              </a:tr>
              <a:tr h="461816">
                <a:tc>
                  <a:txBody>
                    <a:bodyPr/>
                    <a:lstStyle/>
                    <a:p>
                      <a:pPr>
                        <a:buNone/>
                      </a:pPr>
                      <a:r>
                        <a:rPr lang="en-GB" sz="1200" dirty="0">
                          <a:latin typeface="Cambria" panose="02040503050406030204" pitchFamily="18" charset="0"/>
                          <a:cs typeface="Heebo" pitchFamily="2" charset="-79"/>
                        </a:rPr>
                        <a:t>Frontend Hosting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Static Web Apps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VM-based hosting / AWS Amplify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PaaS removes server management, auto-patching, GitHub Actions CI/CD built-in via native GitHub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8224247"/>
                  </a:ext>
                </a:extLst>
              </a:tr>
              <a:tr h="461816">
                <a:tc>
                  <a:txBody>
                    <a:bodyPr/>
                    <a:lstStyle/>
                    <a:p>
                      <a:pPr>
                        <a:buNone/>
                      </a:pPr>
                      <a:r>
                        <a:rPr lang="en-GB" sz="1200" dirty="0">
                          <a:latin typeface="Cambria" panose="02040503050406030204" pitchFamily="18" charset="0"/>
                          <a:cs typeface="Heebo" pitchFamily="2" charset="-79"/>
                        </a:rPr>
                        <a:t>Backend API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App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Container Apps / VM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PaaS managed hosting, auto-scaling, integrated Application Insights, supports GitHub Actions deployment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6436678"/>
                  </a:ext>
                </a:extLst>
              </a:tr>
              <a:tr h="815910">
                <a:tc>
                  <a:txBody>
                    <a:bodyPr/>
                    <a:lstStyle/>
                    <a:p>
                      <a:pPr>
                        <a:buNone/>
                      </a:pPr>
                      <a:r>
                        <a:rPr lang="en-GB" sz="1200">
                          <a:latin typeface="Cambria" panose="02040503050406030204" pitchFamily="18" charset="0"/>
                          <a:cs typeface="Heebo" pitchFamily="2" charset="-79"/>
                        </a:rPr>
                        <a:t>Monitoring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Application Insights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Monitor only / Datadog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Native SDK integration, automatic anomaly detection, distributed tracing, performance profiling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6990148"/>
                  </a:ext>
                </a:extLst>
              </a:tr>
              <a:tr h="461816">
                <a:tc>
                  <a:txBody>
                    <a:bodyPr/>
                    <a:lstStyle/>
                    <a:p>
                      <a:pPr>
                        <a:buNone/>
                      </a:pPr>
                      <a:r>
                        <a:rPr lang="en-GB" sz="1200" dirty="0">
                          <a:latin typeface="Cambria" panose="02040503050406030204" pitchFamily="18" charset="0"/>
                          <a:cs typeface="Heebo" pitchFamily="2" charset="-79"/>
                        </a:rPr>
                        <a:t>API Gateway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API Management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Custom Nginx / AWS API Gateway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Native Azure integration, built-in auth token validation, rate limiting, enterprise-grade request routing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6609155"/>
                  </a:ext>
                </a:extLst>
              </a:tr>
              <a:tr h="461816">
                <a:tc>
                  <a:txBody>
                    <a:bodyPr/>
                    <a:lstStyle/>
                    <a:p>
                      <a:pPr>
                        <a:buNone/>
                      </a:pPr>
                      <a:r>
                        <a:rPr lang="en-GB" sz="1200" dirty="0">
                          <a:latin typeface="Cambria" panose="02040503050406030204" pitchFamily="18" charset="0"/>
                          <a:cs typeface="Heebo" pitchFamily="2" charset="-79"/>
                        </a:rPr>
                        <a:t>CI/CD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GitHub Actions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a:latin typeface="Cambria" panose="02040503050406030204" pitchFamily="18" charset="0"/>
                          <a:cs typeface="Heebo" pitchFamily="2" charset="-79"/>
                        </a:rPr>
                        <a:t>Azure DevOps / Jenkins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r>
                        <a:rPr lang="en-GB" sz="1200" dirty="0">
                          <a:latin typeface="Cambria" panose="02040503050406030204" pitchFamily="18" charset="0"/>
                          <a:cs typeface="Heebo" pitchFamily="2" charset="-79"/>
                        </a:rPr>
                        <a:t>Taught in module, directly integrates with GitHub repository, auto-deploys to App Service on every push to main branch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4787769"/>
                  </a:ext>
                </a:extLst>
              </a:tr>
              <a:tr h="4618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AI Evidence Scanning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Azure Content Moderator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Custom ML model / Manual review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rPr>
                        <a:t>Pre-built computer vision API — no ML expertise required, instant integration with Blob Storage pipeline [18]</a:t>
                      </a:r>
                      <a:endParaRPr lang="en-GB" sz="1200" dirty="0">
                        <a:latin typeface="Cambria" panose="02040503050406030204" pitchFamily="18" charset="0"/>
                        <a:cs typeface="Heebo" pitchFamily="2" charset="-79"/>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5138972"/>
                  </a:ext>
                </a:extLst>
              </a:tr>
              <a:tr h="4618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Threat Pattern Detection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Azure Anomaly Detector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Custom time-series ML / Azure Stream Analytics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latin typeface="Cambria" panose="02040503050406030204" pitchFamily="18" charset="0"/>
                          <a:cs typeface="Heebo" pitchFamily="2" charset="-79"/>
                        </a:rPr>
                        <a:t>Pre-built anomaly detection on telemetry time-series — no training data required, native App Insights integration [19]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608259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992238" y="1283341"/>
            <a:ext cx="16317678" cy="628377"/>
          </a:xfrm>
          <a:prstGeom prst="rect">
            <a:avLst/>
          </a:prstGeom>
        </p:spPr>
        <p:txBody>
          <a:bodyPr wrap="square" lIns="0" tIns="0" rIns="0" bIns="0" rtlCol="0" anchor="t">
            <a:spAutoFit/>
          </a:bodyPr>
          <a:lstStyle/>
          <a:p>
            <a:pPr algn="l">
              <a:lnSpc>
                <a:spcPts val="4875"/>
              </a:lnSpc>
            </a:pPr>
            <a:r>
              <a:rPr lang="en-US" sz="4400" b="1" dirty="0">
                <a:solidFill>
                  <a:srgbClr val="152D47"/>
                </a:solidFill>
                <a:latin typeface="Cambria" panose="02040503050406030204" pitchFamily="18" charset="0"/>
                <a:ea typeface="Crimson Pro Bold"/>
                <a:cs typeface="Crimson Pro Bold"/>
                <a:sym typeface="Crimson Pro Bold"/>
              </a:rPr>
              <a:t>Limitations of the Solution</a:t>
            </a:r>
          </a:p>
        </p:txBody>
      </p:sp>
      <p:sp>
        <p:nvSpPr>
          <p:cNvPr id="7" name="TextBox 7"/>
          <p:cNvSpPr txBox="1"/>
          <p:nvPr/>
        </p:nvSpPr>
        <p:spPr>
          <a:xfrm>
            <a:off x="992238" y="2181377"/>
            <a:ext cx="16303523" cy="247504"/>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A comprehensive, honest assessment of </a:t>
            </a:r>
            <a:r>
              <a:rPr lang="en-US" sz="1562" dirty="0" err="1">
                <a:solidFill>
                  <a:srgbClr val="4C4C4D"/>
                </a:solidFill>
                <a:latin typeface="Cambria" panose="02040503050406030204" pitchFamily="18" charset="0"/>
                <a:ea typeface="Heebo"/>
                <a:cs typeface="Heebo"/>
                <a:sym typeface="Heebo"/>
              </a:rPr>
              <a:t>ThreatVault's</a:t>
            </a:r>
            <a:r>
              <a:rPr lang="en-US" sz="1562" dirty="0">
                <a:solidFill>
                  <a:srgbClr val="4C4C4D"/>
                </a:solidFill>
                <a:latin typeface="Cambria" panose="02040503050406030204" pitchFamily="18" charset="0"/>
                <a:ea typeface="Heebo"/>
                <a:cs typeface="Heebo"/>
                <a:sym typeface="Heebo"/>
              </a:rPr>
              <a:t> constraints — each paired with a concrete mitigation strategy.</a:t>
            </a:r>
          </a:p>
        </p:txBody>
      </p:sp>
      <p:grpSp>
        <p:nvGrpSpPr>
          <p:cNvPr id="8" name="Group 8"/>
          <p:cNvGrpSpPr/>
          <p:nvPr/>
        </p:nvGrpSpPr>
        <p:grpSpPr>
          <a:xfrm>
            <a:off x="977951" y="2621909"/>
            <a:ext cx="5370462" cy="3128515"/>
            <a:chOff x="0" y="0"/>
            <a:chExt cx="7160616" cy="4171353"/>
          </a:xfrm>
        </p:grpSpPr>
        <p:sp>
          <p:nvSpPr>
            <p:cNvPr id="9" name="Freeform 9"/>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a:latin typeface="Cambria" panose="02040503050406030204" pitchFamily="18" charset="0"/>
              </a:endParaRPr>
            </a:p>
          </p:txBody>
        </p:sp>
        <p:sp>
          <p:nvSpPr>
            <p:cNvPr id="10" name="Freeform 10"/>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11" name="Group 11"/>
          <p:cNvGrpSpPr/>
          <p:nvPr/>
        </p:nvGrpSpPr>
        <p:grpSpPr>
          <a:xfrm>
            <a:off x="963663" y="2636196"/>
            <a:ext cx="114300" cy="3099940"/>
            <a:chOff x="0" y="0"/>
            <a:chExt cx="152400" cy="4133253"/>
          </a:xfrm>
          <a:solidFill>
            <a:schemeClr val="bg1">
              <a:lumMod val="75000"/>
            </a:schemeClr>
          </a:solidFill>
        </p:grpSpPr>
        <p:sp>
          <p:nvSpPr>
            <p:cNvPr id="12" name="Freeform 12"/>
            <p:cNvSpPr/>
            <p:nvPr/>
          </p:nvSpPr>
          <p:spPr>
            <a:xfrm>
              <a:off x="0" y="0"/>
              <a:ext cx="152400" cy="4133342"/>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dirty="0">
                <a:solidFill>
                  <a:schemeClr val="bg1">
                    <a:lumMod val="85000"/>
                  </a:schemeClr>
                </a:solidFill>
                <a:latin typeface="Cambria" panose="02040503050406030204" pitchFamily="18" charset="0"/>
              </a:endParaRPr>
            </a:p>
          </p:txBody>
        </p:sp>
      </p:grpSp>
      <p:sp>
        <p:nvSpPr>
          <p:cNvPr id="13" name="TextBox 13"/>
          <p:cNvSpPr txBox="1"/>
          <p:nvPr/>
        </p:nvSpPr>
        <p:spPr>
          <a:xfrm>
            <a:off x="1304925" y="2844108"/>
            <a:ext cx="4802238" cy="309145"/>
          </a:xfrm>
          <a:prstGeom prst="rect">
            <a:avLst/>
          </a:prstGeom>
        </p:spPr>
        <p:txBody>
          <a:bodyPr wrap="square" lIns="0" tIns="0" rIns="0" bIns="0" rtlCol="0" anchor="t">
            <a:spAutoFit/>
          </a:bodyPr>
          <a:lstStyle/>
          <a:p>
            <a:pPr algn="l">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Vendor Lock-In</a:t>
            </a:r>
          </a:p>
        </p:txBody>
      </p:sp>
      <p:sp>
        <p:nvSpPr>
          <p:cNvPr id="14" name="TextBox 14"/>
          <p:cNvSpPr txBox="1"/>
          <p:nvPr/>
        </p:nvSpPr>
        <p:spPr>
          <a:xfrm>
            <a:off x="1304925" y="3237462"/>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Problem:</a:t>
            </a:r>
            <a:r>
              <a:rPr lang="en-US" sz="1562" dirty="0">
                <a:solidFill>
                  <a:srgbClr val="4C4C4D"/>
                </a:solidFill>
                <a:latin typeface="Cambria" panose="02040503050406030204" pitchFamily="18" charset="0"/>
                <a:ea typeface="Heebo"/>
                <a:cs typeface="Heebo"/>
                <a:sym typeface="Heebo"/>
              </a:rPr>
              <a:t> Heavy reliance on Azure-proprietary services (Logic Apps, Cosmos DB, Blob Storage) makes future migration to AWS or GCP complex and costly. The N-Tier pattern offers better portability [17].</a:t>
            </a:r>
          </a:p>
        </p:txBody>
      </p:sp>
      <p:sp>
        <p:nvSpPr>
          <p:cNvPr id="15" name="TextBox 15"/>
          <p:cNvSpPr txBox="1"/>
          <p:nvPr/>
        </p:nvSpPr>
        <p:spPr>
          <a:xfrm>
            <a:off x="1304925" y="4400702"/>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Mitigation:</a:t>
            </a:r>
            <a:r>
              <a:rPr lang="en-US" sz="1562" dirty="0">
                <a:solidFill>
                  <a:srgbClr val="4C4C4D"/>
                </a:solidFill>
                <a:latin typeface="Cambria" panose="02040503050406030204" pitchFamily="18" charset="0"/>
                <a:ea typeface="Heebo"/>
                <a:cs typeface="Heebo"/>
                <a:sym typeface="Heebo"/>
              </a:rPr>
              <a:t> Abstract storage and database access behind API interfaces; use open standards (REST, JSON); </a:t>
            </a:r>
            <a:r>
              <a:rPr lang="en-US" sz="1562" dirty="0" err="1">
                <a:solidFill>
                  <a:srgbClr val="4C4C4D"/>
                </a:solidFill>
                <a:latin typeface="Cambria" panose="02040503050406030204" pitchFamily="18" charset="0"/>
                <a:ea typeface="Heebo"/>
                <a:cs typeface="Heebo"/>
                <a:sym typeface="Heebo"/>
              </a:rPr>
              <a:t>containerise</a:t>
            </a:r>
            <a:r>
              <a:rPr lang="en-US" sz="1562" dirty="0">
                <a:solidFill>
                  <a:srgbClr val="4C4C4D"/>
                </a:solidFill>
                <a:latin typeface="Cambria" panose="02040503050406030204" pitchFamily="18" charset="0"/>
                <a:ea typeface="Heebo"/>
                <a:cs typeface="Heebo"/>
                <a:sym typeface="Heebo"/>
              </a:rPr>
              <a:t> frontend with Docker for cross-platform portability.</a:t>
            </a:r>
          </a:p>
        </p:txBody>
      </p:sp>
      <p:grpSp>
        <p:nvGrpSpPr>
          <p:cNvPr id="16" name="Group 16"/>
          <p:cNvGrpSpPr/>
          <p:nvPr/>
        </p:nvGrpSpPr>
        <p:grpSpPr>
          <a:xfrm>
            <a:off x="6458693" y="2621909"/>
            <a:ext cx="5370462" cy="3128515"/>
            <a:chOff x="0" y="0"/>
            <a:chExt cx="7160616" cy="4171353"/>
          </a:xfrm>
        </p:grpSpPr>
        <p:sp>
          <p:nvSpPr>
            <p:cNvPr id="17" name="Freeform 17"/>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a:latin typeface="Cambria" panose="02040503050406030204" pitchFamily="18" charset="0"/>
              </a:endParaRPr>
            </a:p>
          </p:txBody>
        </p:sp>
        <p:sp>
          <p:nvSpPr>
            <p:cNvPr id="18" name="Freeform 18"/>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19" name="Group 19"/>
          <p:cNvGrpSpPr/>
          <p:nvPr/>
        </p:nvGrpSpPr>
        <p:grpSpPr>
          <a:xfrm>
            <a:off x="6444405" y="2636196"/>
            <a:ext cx="114300" cy="3099940"/>
            <a:chOff x="0" y="0"/>
            <a:chExt cx="152400" cy="4133253"/>
          </a:xfrm>
          <a:solidFill>
            <a:schemeClr val="bg1">
              <a:lumMod val="75000"/>
            </a:schemeClr>
          </a:solidFill>
        </p:grpSpPr>
        <p:sp>
          <p:nvSpPr>
            <p:cNvPr id="20" name="Freeform 20"/>
            <p:cNvSpPr/>
            <p:nvPr/>
          </p:nvSpPr>
          <p:spPr>
            <a:xfrm>
              <a:off x="0" y="0"/>
              <a:ext cx="152400" cy="4133342"/>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a:latin typeface="Cambria" panose="02040503050406030204" pitchFamily="18" charset="0"/>
              </a:endParaRPr>
            </a:p>
          </p:txBody>
        </p:sp>
      </p:grpSp>
      <p:sp>
        <p:nvSpPr>
          <p:cNvPr id="21" name="TextBox 21"/>
          <p:cNvSpPr txBox="1"/>
          <p:nvPr/>
        </p:nvSpPr>
        <p:spPr>
          <a:xfrm>
            <a:off x="6785667" y="2844108"/>
            <a:ext cx="4802238" cy="298543"/>
          </a:xfrm>
          <a:prstGeom prst="rect">
            <a:avLst/>
          </a:prstGeom>
        </p:spPr>
        <p:txBody>
          <a:bodyPr wrap="square" lIns="0" tIns="0" rIns="0" bIns="0" rtlCol="0" anchor="t">
            <a:spAutoFit/>
          </a:bodyPr>
          <a:lstStyle/>
          <a:p>
            <a:pPr algn="l">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Serverless Cold Starts</a:t>
            </a:r>
          </a:p>
        </p:txBody>
      </p:sp>
      <p:sp>
        <p:nvSpPr>
          <p:cNvPr id="22" name="TextBox 22"/>
          <p:cNvSpPr txBox="1"/>
          <p:nvPr/>
        </p:nvSpPr>
        <p:spPr>
          <a:xfrm>
            <a:off x="6785667" y="3237462"/>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Problem:</a:t>
            </a:r>
            <a:r>
              <a:rPr lang="en-US" sz="1562" dirty="0">
                <a:solidFill>
                  <a:srgbClr val="4C4C4D"/>
                </a:solidFill>
                <a:latin typeface="Cambria" panose="02040503050406030204" pitchFamily="18" charset="0"/>
                <a:ea typeface="Heebo"/>
                <a:cs typeface="Heebo"/>
                <a:sym typeface="Heebo"/>
              </a:rPr>
              <a:t> Logic Apps experience cold start latency after idle periods — unacceptable during urgent incident response when seconds matter in a live breach scenario [02].</a:t>
            </a:r>
          </a:p>
        </p:txBody>
      </p:sp>
      <p:sp>
        <p:nvSpPr>
          <p:cNvPr id="23" name="TextBox 23"/>
          <p:cNvSpPr txBox="1"/>
          <p:nvPr/>
        </p:nvSpPr>
        <p:spPr>
          <a:xfrm>
            <a:off x="6785667" y="4400702"/>
            <a:ext cx="4802238" cy="1055417"/>
          </a:xfrm>
          <a:prstGeom prst="rect">
            <a:avLst/>
          </a:prstGeom>
        </p:spPr>
        <p:txBody>
          <a:bodyPr lIns="0" tIns="0" rIns="0" bIns="0" rtlCol="0" anchor="t">
            <a:spAutoFit/>
          </a:bodyPr>
          <a:lstStyle/>
          <a:p>
            <a:pPr algn="l">
              <a:lnSpc>
                <a:spcPts val="2125"/>
              </a:lnSpc>
            </a:pPr>
            <a:r>
              <a:rPr lang="en-US" sz="1562" b="1">
                <a:solidFill>
                  <a:srgbClr val="4C4C4D"/>
                </a:solidFill>
                <a:latin typeface="Cambria" panose="02040503050406030204" pitchFamily="18" charset="0"/>
                <a:ea typeface="Heebo Bold"/>
                <a:cs typeface="Heebo Bold"/>
                <a:sym typeface="Heebo Bold"/>
              </a:rPr>
              <a:t>Mitigation:</a:t>
            </a:r>
            <a:r>
              <a:rPr lang="en-US" sz="1562">
                <a:solidFill>
                  <a:srgbClr val="4C4C4D"/>
                </a:solidFill>
                <a:latin typeface="Cambria" panose="02040503050406030204" pitchFamily="18" charset="0"/>
                <a:ea typeface="Heebo"/>
                <a:cs typeface="Heebo"/>
                <a:sym typeface="Heebo"/>
              </a:rPr>
              <a:t> Enable "Always Ready" instances for critical CRUD endpoints; migrate high-frequency endpoints to Azure Functions with Dedicated hosting plan for consistent response times.</a:t>
            </a:r>
          </a:p>
        </p:txBody>
      </p:sp>
      <p:grpSp>
        <p:nvGrpSpPr>
          <p:cNvPr id="24" name="Group 24"/>
          <p:cNvGrpSpPr/>
          <p:nvPr/>
        </p:nvGrpSpPr>
        <p:grpSpPr>
          <a:xfrm>
            <a:off x="11939435" y="2621909"/>
            <a:ext cx="5370462" cy="3128515"/>
            <a:chOff x="0" y="0"/>
            <a:chExt cx="7160616" cy="4171353"/>
          </a:xfrm>
        </p:grpSpPr>
        <p:sp>
          <p:nvSpPr>
            <p:cNvPr id="25" name="Freeform 25"/>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a:latin typeface="Cambria" panose="02040503050406030204" pitchFamily="18" charset="0"/>
              </a:endParaRPr>
            </a:p>
          </p:txBody>
        </p:sp>
        <p:sp>
          <p:nvSpPr>
            <p:cNvPr id="26" name="Freeform 26"/>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27" name="Group 27"/>
          <p:cNvGrpSpPr/>
          <p:nvPr/>
        </p:nvGrpSpPr>
        <p:grpSpPr>
          <a:xfrm>
            <a:off x="11925148" y="2636196"/>
            <a:ext cx="114300" cy="3099940"/>
            <a:chOff x="0" y="0"/>
            <a:chExt cx="152400" cy="4133253"/>
          </a:xfrm>
          <a:solidFill>
            <a:schemeClr val="bg1">
              <a:lumMod val="75000"/>
            </a:schemeClr>
          </a:solidFill>
        </p:grpSpPr>
        <p:sp>
          <p:nvSpPr>
            <p:cNvPr id="28" name="Freeform 28"/>
            <p:cNvSpPr/>
            <p:nvPr/>
          </p:nvSpPr>
          <p:spPr>
            <a:xfrm>
              <a:off x="0" y="0"/>
              <a:ext cx="152400" cy="4133342"/>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a:latin typeface="Cambria" panose="02040503050406030204" pitchFamily="18" charset="0"/>
              </a:endParaRPr>
            </a:p>
          </p:txBody>
        </p:sp>
      </p:grpSp>
      <p:sp>
        <p:nvSpPr>
          <p:cNvPr id="29" name="TextBox 29"/>
          <p:cNvSpPr txBox="1"/>
          <p:nvPr/>
        </p:nvSpPr>
        <p:spPr>
          <a:xfrm>
            <a:off x="12266409" y="2844108"/>
            <a:ext cx="4802238" cy="309145"/>
          </a:xfrm>
          <a:prstGeom prst="rect">
            <a:avLst/>
          </a:prstGeom>
        </p:spPr>
        <p:txBody>
          <a:bodyPr wrap="square" lIns="0" tIns="0" rIns="0" bIns="0" rtlCol="0" anchor="t">
            <a:spAutoFit/>
          </a:bodyPr>
          <a:lstStyle/>
          <a:p>
            <a:pPr algn="l">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Eventual Consistency in Cosmos DB</a:t>
            </a:r>
          </a:p>
        </p:txBody>
      </p:sp>
      <p:sp>
        <p:nvSpPr>
          <p:cNvPr id="30" name="TextBox 30"/>
          <p:cNvSpPr txBox="1"/>
          <p:nvPr/>
        </p:nvSpPr>
        <p:spPr>
          <a:xfrm>
            <a:off x="12266409" y="3237462"/>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Problem:</a:t>
            </a:r>
            <a:r>
              <a:rPr lang="en-US" sz="1562" dirty="0">
                <a:solidFill>
                  <a:srgbClr val="4C4C4D"/>
                </a:solidFill>
                <a:latin typeface="Cambria" panose="02040503050406030204" pitchFamily="18" charset="0"/>
                <a:ea typeface="Heebo"/>
                <a:cs typeface="Heebo"/>
                <a:sym typeface="Heebo"/>
              </a:rPr>
              <a:t> Default Session consistency level may cause briefly stale evidence metadata for analysts in distant regions during multi-region Cosmos DB deployments [01].</a:t>
            </a:r>
          </a:p>
        </p:txBody>
      </p:sp>
      <p:sp>
        <p:nvSpPr>
          <p:cNvPr id="31" name="TextBox 31"/>
          <p:cNvSpPr txBox="1"/>
          <p:nvPr/>
        </p:nvSpPr>
        <p:spPr>
          <a:xfrm>
            <a:off x="12266409" y="4400702"/>
            <a:ext cx="4802238" cy="1055417"/>
          </a:xfrm>
          <a:prstGeom prst="rect">
            <a:avLst/>
          </a:prstGeom>
        </p:spPr>
        <p:txBody>
          <a:bodyPr lIns="0" tIns="0" rIns="0" bIns="0" rtlCol="0" anchor="t">
            <a:spAutoFit/>
          </a:bodyPr>
          <a:lstStyle/>
          <a:p>
            <a:pPr algn="l">
              <a:lnSpc>
                <a:spcPts val="2125"/>
              </a:lnSpc>
            </a:pPr>
            <a:r>
              <a:rPr lang="en-US" sz="1562" b="1">
                <a:solidFill>
                  <a:srgbClr val="4C4C4D"/>
                </a:solidFill>
                <a:latin typeface="Cambria" panose="02040503050406030204" pitchFamily="18" charset="0"/>
                <a:ea typeface="Heebo Bold"/>
                <a:cs typeface="Heebo Bold"/>
                <a:sym typeface="Heebo Bold"/>
              </a:rPr>
              <a:t>Mitigation:</a:t>
            </a:r>
            <a:r>
              <a:rPr lang="en-US" sz="1562">
                <a:solidFill>
                  <a:srgbClr val="4C4C4D"/>
                </a:solidFill>
                <a:latin typeface="Cambria" panose="02040503050406030204" pitchFamily="18" charset="0"/>
                <a:ea typeface="Heebo"/>
                <a:cs typeface="Heebo"/>
                <a:sym typeface="Heebo"/>
              </a:rPr>
              <a:t> Use Strong consistency for audit log operations (required for legal admissibility); Session consistency is acceptable for gallery read operations where minor latency is tolerable.</a:t>
            </a:r>
          </a:p>
        </p:txBody>
      </p:sp>
      <p:grpSp>
        <p:nvGrpSpPr>
          <p:cNvPr id="32" name="Group 32"/>
          <p:cNvGrpSpPr/>
          <p:nvPr/>
        </p:nvGrpSpPr>
        <p:grpSpPr>
          <a:xfrm>
            <a:off x="1022062" y="5860675"/>
            <a:ext cx="5320124" cy="3854790"/>
            <a:chOff x="0" y="0"/>
            <a:chExt cx="7160616" cy="4171353"/>
          </a:xfrm>
        </p:grpSpPr>
        <p:sp>
          <p:nvSpPr>
            <p:cNvPr id="33" name="Freeform 33"/>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a:latin typeface="Cambria" panose="02040503050406030204" pitchFamily="18" charset="0"/>
              </a:endParaRPr>
            </a:p>
          </p:txBody>
        </p:sp>
        <p:sp>
          <p:nvSpPr>
            <p:cNvPr id="34" name="Freeform 34"/>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sp>
        <p:nvSpPr>
          <p:cNvPr id="37" name="TextBox 37"/>
          <p:cNvSpPr txBox="1"/>
          <p:nvPr/>
        </p:nvSpPr>
        <p:spPr>
          <a:xfrm>
            <a:off x="1262072" y="5989816"/>
            <a:ext cx="4802238" cy="298543"/>
          </a:xfrm>
          <a:prstGeom prst="rect">
            <a:avLst/>
          </a:prstGeom>
        </p:spPr>
        <p:txBody>
          <a:bodyPr wrap="square" lIns="0" tIns="0" rIns="0" bIns="0" rtlCol="0" anchor="t">
            <a:spAutoFit/>
          </a:bodyPr>
          <a:lstStyle/>
          <a:p>
            <a:pPr algn="l">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Cost Unpredictability</a:t>
            </a:r>
          </a:p>
        </p:txBody>
      </p:sp>
      <p:sp>
        <p:nvSpPr>
          <p:cNvPr id="38" name="TextBox 38"/>
          <p:cNvSpPr txBox="1"/>
          <p:nvPr/>
        </p:nvSpPr>
        <p:spPr>
          <a:xfrm>
            <a:off x="1281191" y="6302647"/>
            <a:ext cx="4802238" cy="1863331"/>
          </a:xfrm>
          <a:prstGeom prst="rect">
            <a:avLst/>
          </a:prstGeom>
        </p:spPr>
        <p:txBody>
          <a:bodyPr lIns="0" tIns="0" rIns="0" bIns="0" rtlCol="0" anchor="t">
            <a:spAutoFit/>
          </a:bodyPr>
          <a:lstStyle/>
          <a:p>
            <a:pPr>
              <a:lnSpc>
                <a:spcPts val="2125"/>
              </a:lnSpc>
            </a:pPr>
            <a:r>
              <a:rPr lang="en-US" sz="1562" b="1" dirty="0">
                <a:solidFill>
                  <a:srgbClr val="4C4C4D"/>
                </a:solidFill>
                <a:latin typeface="Cambria" panose="02040503050406030204" pitchFamily="18" charset="0"/>
                <a:ea typeface="Heebo Bold"/>
                <a:cs typeface="Heebo Bold"/>
                <a:sym typeface="Heebo Bold"/>
              </a:rPr>
              <a:t>Problem: </a:t>
            </a:r>
            <a:r>
              <a:rPr lang="en-US" sz="1562" dirty="0">
                <a:solidFill>
                  <a:srgbClr val="4C4C4D"/>
                </a:solidFill>
                <a:latin typeface="Cambria" panose="02040503050406030204" pitchFamily="18" charset="0"/>
                <a:cs typeface="Heebo"/>
                <a:sym typeface="Heebo Bold"/>
              </a:rPr>
              <a:t>Pay-per-RU serverless billing is excellent for bursty workloads but can produce unexpected cost spikes during large-scale incident evidence dump events. Mitigation: Set maximum </a:t>
            </a:r>
            <a:r>
              <a:rPr lang="en-US" sz="1562" dirty="0" err="1">
                <a:solidFill>
                  <a:srgbClr val="4C4C4D"/>
                </a:solidFill>
                <a:latin typeface="Cambria" panose="02040503050406030204" pitchFamily="18" charset="0"/>
                <a:cs typeface="Heebo"/>
                <a:sym typeface="Heebo Bold"/>
              </a:rPr>
              <a:t>autoscale</a:t>
            </a:r>
            <a:r>
              <a:rPr lang="en-US" sz="1562" dirty="0">
                <a:solidFill>
                  <a:srgbClr val="4C4C4D"/>
                </a:solidFill>
                <a:latin typeface="Cambria" panose="02040503050406030204" pitchFamily="18" charset="0"/>
                <a:cs typeface="Heebo"/>
                <a:sym typeface="Heebo Bold"/>
              </a:rPr>
              <a:t> RU/s cap in Cosmos DB configuration [01]; configure Azure Cost Management budget alerts with automatic spend threshold notifications.</a:t>
            </a:r>
            <a:endParaRPr lang="en-US" sz="1562" dirty="0">
              <a:solidFill>
                <a:srgbClr val="4C4C4D"/>
              </a:solidFill>
              <a:latin typeface="Cambria" panose="02040503050406030204" pitchFamily="18" charset="0"/>
              <a:cs typeface="Heebo"/>
              <a:sym typeface="Heebo"/>
            </a:endParaRPr>
          </a:p>
        </p:txBody>
      </p:sp>
      <p:sp>
        <p:nvSpPr>
          <p:cNvPr id="39" name="TextBox 39"/>
          <p:cNvSpPr txBox="1"/>
          <p:nvPr/>
        </p:nvSpPr>
        <p:spPr>
          <a:xfrm>
            <a:off x="1276358" y="8496395"/>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Mitigation:</a:t>
            </a:r>
            <a:r>
              <a:rPr lang="en-US" sz="1562" dirty="0">
                <a:solidFill>
                  <a:srgbClr val="4C4C4D"/>
                </a:solidFill>
                <a:latin typeface="Cambria" panose="02040503050406030204" pitchFamily="18" charset="0"/>
                <a:ea typeface="Heebo"/>
                <a:cs typeface="Heebo"/>
                <a:sym typeface="Heebo"/>
              </a:rPr>
              <a:t> Set maximum </a:t>
            </a:r>
            <a:r>
              <a:rPr lang="en-US" sz="1562" dirty="0" err="1">
                <a:solidFill>
                  <a:srgbClr val="4C4C4D"/>
                </a:solidFill>
                <a:latin typeface="Cambria" panose="02040503050406030204" pitchFamily="18" charset="0"/>
                <a:ea typeface="Heebo"/>
                <a:cs typeface="Heebo"/>
                <a:sym typeface="Heebo"/>
              </a:rPr>
              <a:t>autoscale</a:t>
            </a:r>
            <a:r>
              <a:rPr lang="en-US" sz="1562" dirty="0">
                <a:solidFill>
                  <a:srgbClr val="4C4C4D"/>
                </a:solidFill>
                <a:latin typeface="Cambria" panose="02040503050406030204" pitchFamily="18" charset="0"/>
                <a:ea typeface="Heebo"/>
                <a:cs typeface="Heebo"/>
                <a:sym typeface="Heebo"/>
              </a:rPr>
              <a:t> RU/s cap in Cosmos DB configuration; configure Azure Cost Management budget alerts with automatic spend threshold notifications.</a:t>
            </a:r>
          </a:p>
        </p:txBody>
      </p:sp>
      <p:grpSp>
        <p:nvGrpSpPr>
          <p:cNvPr id="40" name="Group 40"/>
          <p:cNvGrpSpPr/>
          <p:nvPr/>
        </p:nvGrpSpPr>
        <p:grpSpPr>
          <a:xfrm>
            <a:off x="6518272" y="5860660"/>
            <a:ext cx="5296616" cy="3854840"/>
            <a:chOff x="0" y="0"/>
            <a:chExt cx="7160616" cy="4171353"/>
          </a:xfrm>
        </p:grpSpPr>
        <p:sp>
          <p:nvSpPr>
            <p:cNvPr id="41" name="Freeform 41"/>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dirty="0">
                <a:latin typeface="Cambria" panose="02040503050406030204" pitchFamily="18" charset="0"/>
              </a:endParaRPr>
            </a:p>
          </p:txBody>
        </p:sp>
        <p:sp>
          <p:nvSpPr>
            <p:cNvPr id="42" name="Freeform 42"/>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sp>
        <p:nvSpPr>
          <p:cNvPr id="45" name="TextBox 45"/>
          <p:cNvSpPr txBox="1"/>
          <p:nvPr/>
        </p:nvSpPr>
        <p:spPr>
          <a:xfrm>
            <a:off x="6742814" y="5960186"/>
            <a:ext cx="4802238" cy="298542"/>
          </a:xfrm>
          <a:prstGeom prst="rect">
            <a:avLst/>
          </a:prstGeom>
        </p:spPr>
        <p:txBody>
          <a:bodyPr wrap="square" lIns="0" tIns="0" rIns="0" bIns="0" rtlCol="0" anchor="t">
            <a:spAutoFit/>
          </a:bodyPr>
          <a:lstStyle/>
          <a:p>
            <a:pPr algn="l">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Governance &amp; Logging Complexity</a:t>
            </a:r>
          </a:p>
        </p:txBody>
      </p:sp>
      <p:sp>
        <p:nvSpPr>
          <p:cNvPr id="46" name="TextBox 46"/>
          <p:cNvSpPr txBox="1"/>
          <p:nvPr/>
        </p:nvSpPr>
        <p:spPr>
          <a:xfrm>
            <a:off x="6802393" y="6302646"/>
            <a:ext cx="4802238" cy="2132635"/>
          </a:xfrm>
          <a:prstGeom prst="rect">
            <a:avLst/>
          </a:prstGeom>
        </p:spPr>
        <p:txBody>
          <a:bodyPr lIns="0" tIns="0" rIns="0" bIns="0" rtlCol="0" anchor="t">
            <a:spAutoFit/>
          </a:bodyPr>
          <a:lstStyle/>
          <a:p>
            <a:pPr>
              <a:lnSpc>
                <a:spcPts val="2125"/>
              </a:lnSpc>
            </a:pPr>
            <a:r>
              <a:rPr lang="en-US" sz="1562" b="1" dirty="0">
                <a:solidFill>
                  <a:srgbClr val="4C4C4D"/>
                </a:solidFill>
                <a:latin typeface="Cambria" panose="02040503050406030204" pitchFamily="18" charset="0"/>
                <a:ea typeface="Heebo Bold"/>
                <a:cs typeface="Heebo Bold"/>
                <a:sym typeface="Heebo Bold"/>
              </a:rPr>
              <a:t>Problem: </a:t>
            </a:r>
            <a:r>
              <a:rPr lang="en-US" sz="1562" dirty="0">
                <a:solidFill>
                  <a:srgbClr val="4C4C4D"/>
                </a:solidFill>
                <a:latin typeface="Cambria" panose="02040503050406030204" pitchFamily="18" charset="0"/>
                <a:cs typeface="Heebo"/>
                <a:sym typeface="Heebo Bold"/>
              </a:rPr>
              <a:t>Correlated logging across Logic Apps, Cosmos DB, Blob Storage, and SQL is complex. A single evidence upload spans four separate service logs — making incident investigation difficult. Mitigation: Azure Application Insights distributed tracing with correlation IDs [05]; </a:t>
            </a:r>
            <a:r>
              <a:rPr lang="en-US" sz="1562" dirty="0" err="1">
                <a:solidFill>
                  <a:srgbClr val="4C4C4D"/>
                </a:solidFill>
                <a:latin typeface="Cambria" panose="02040503050406030204" pitchFamily="18" charset="0"/>
                <a:cs typeface="Heebo"/>
                <a:sym typeface="Heebo Bold"/>
              </a:rPr>
              <a:t>centralise</a:t>
            </a:r>
            <a:r>
              <a:rPr lang="en-US" sz="1562" dirty="0">
                <a:solidFill>
                  <a:srgbClr val="4C4C4D"/>
                </a:solidFill>
                <a:latin typeface="Cambria" panose="02040503050406030204" pitchFamily="18" charset="0"/>
                <a:cs typeface="Heebo"/>
                <a:sym typeface="Heebo Bold"/>
              </a:rPr>
              <a:t> all logs in Azure Log Analytics Workspace; implement project-wide structured logging standards</a:t>
            </a:r>
            <a:r>
              <a:rPr lang="en-US" sz="1562" b="1" dirty="0">
                <a:solidFill>
                  <a:srgbClr val="4C4C4D"/>
                </a:solidFill>
                <a:latin typeface="Cambria" panose="02040503050406030204" pitchFamily="18" charset="0"/>
                <a:ea typeface="Heebo Bold"/>
                <a:cs typeface="Heebo Bold"/>
                <a:sym typeface="Heebo Bold"/>
              </a:rPr>
              <a:t>.</a:t>
            </a:r>
            <a:endParaRPr lang="en-US" sz="1562" dirty="0">
              <a:solidFill>
                <a:srgbClr val="4C4C4D"/>
              </a:solidFill>
              <a:latin typeface="Cambria" panose="02040503050406030204" pitchFamily="18" charset="0"/>
              <a:ea typeface="Heebo"/>
              <a:cs typeface="Heebo"/>
              <a:sym typeface="Heebo"/>
            </a:endParaRPr>
          </a:p>
        </p:txBody>
      </p:sp>
      <p:sp>
        <p:nvSpPr>
          <p:cNvPr id="47" name="TextBox 47"/>
          <p:cNvSpPr txBox="1"/>
          <p:nvPr/>
        </p:nvSpPr>
        <p:spPr>
          <a:xfrm>
            <a:off x="6822491" y="8496395"/>
            <a:ext cx="4802238" cy="1055417"/>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Mitigation:</a:t>
            </a:r>
            <a:r>
              <a:rPr lang="en-US" sz="1562" dirty="0">
                <a:solidFill>
                  <a:srgbClr val="4C4C4D"/>
                </a:solidFill>
                <a:latin typeface="Cambria" panose="02040503050406030204" pitchFamily="18" charset="0"/>
                <a:ea typeface="Heebo"/>
                <a:cs typeface="Heebo"/>
                <a:sym typeface="Heebo"/>
              </a:rPr>
              <a:t> Azure Application Insights distributed tracing with correlation IDs; </a:t>
            </a:r>
            <a:r>
              <a:rPr lang="en-US" sz="1562" dirty="0" err="1">
                <a:solidFill>
                  <a:srgbClr val="4C4C4D"/>
                </a:solidFill>
                <a:latin typeface="Cambria" panose="02040503050406030204" pitchFamily="18" charset="0"/>
                <a:ea typeface="Heebo"/>
                <a:cs typeface="Heebo"/>
                <a:sym typeface="Heebo"/>
              </a:rPr>
              <a:t>centralise</a:t>
            </a:r>
            <a:r>
              <a:rPr lang="en-US" sz="1562" dirty="0">
                <a:solidFill>
                  <a:srgbClr val="4C4C4D"/>
                </a:solidFill>
                <a:latin typeface="Cambria" panose="02040503050406030204" pitchFamily="18" charset="0"/>
                <a:ea typeface="Heebo"/>
                <a:cs typeface="Heebo"/>
                <a:sym typeface="Heebo"/>
              </a:rPr>
              <a:t> all logs in Azure Log Analytics Workspace; implement project-wide structured logging standards.</a:t>
            </a:r>
          </a:p>
        </p:txBody>
      </p:sp>
      <p:grpSp>
        <p:nvGrpSpPr>
          <p:cNvPr id="48" name="Group 40">
            <a:extLst>
              <a:ext uri="{FF2B5EF4-FFF2-40B4-BE49-F238E27FC236}">
                <a16:creationId xmlns:a16="http://schemas.microsoft.com/office/drawing/2014/main" id="{73E274C2-CACA-385E-6E6E-3B34E71A59D3}"/>
              </a:ext>
            </a:extLst>
          </p:cNvPr>
          <p:cNvGrpSpPr/>
          <p:nvPr/>
        </p:nvGrpSpPr>
        <p:grpSpPr>
          <a:xfrm>
            <a:off x="12002285" y="5846344"/>
            <a:ext cx="5370481" cy="3869086"/>
            <a:chOff x="0" y="0"/>
            <a:chExt cx="7160616" cy="4171353"/>
          </a:xfrm>
        </p:grpSpPr>
        <p:sp>
          <p:nvSpPr>
            <p:cNvPr id="49" name="Freeform 41">
              <a:extLst>
                <a:ext uri="{FF2B5EF4-FFF2-40B4-BE49-F238E27FC236}">
                  <a16:creationId xmlns:a16="http://schemas.microsoft.com/office/drawing/2014/main" id="{F877B128-2A91-3A42-38D4-B6E954BB4802}"/>
                </a:ext>
              </a:extLst>
            </p:cNvPr>
            <p:cNvSpPr/>
            <p:nvPr/>
          </p:nvSpPr>
          <p:spPr>
            <a:xfrm>
              <a:off x="19050" y="19050"/>
              <a:ext cx="7122541" cy="4133215"/>
            </a:xfrm>
            <a:custGeom>
              <a:avLst/>
              <a:gdLst/>
              <a:ahLst/>
              <a:cxnLst/>
              <a:rect l="l" t="t" r="r" b="b"/>
              <a:pathLst>
                <a:path w="7122541" h="4133215">
                  <a:moveTo>
                    <a:pt x="0" y="182880"/>
                  </a:moveTo>
                  <a:cubicBezTo>
                    <a:pt x="0" y="81915"/>
                    <a:pt x="82169" y="0"/>
                    <a:pt x="183642" y="0"/>
                  </a:cubicBezTo>
                  <a:lnTo>
                    <a:pt x="6938899" y="0"/>
                  </a:lnTo>
                  <a:cubicBezTo>
                    <a:pt x="7040245" y="0"/>
                    <a:pt x="7122541" y="81915"/>
                    <a:pt x="7122541" y="182880"/>
                  </a:cubicBezTo>
                  <a:lnTo>
                    <a:pt x="7122541" y="3950335"/>
                  </a:lnTo>
                  <a:cubicBezTo>
                    <a:pt x="7122541" y="4051300"/>
                    <a:pt x="7040372" y="4133215"/>
                    <a:pt x="6938899" y="4133215"/>
                  </a:cubicBezTo>
                  <a:lnTo>
                    <a:pt x="183642" y="4133215"/>
                  </a:lnTo>
                  <a:cubicBezTo>
                    <a:pt x="82296" y="4133215"/>
                    <a:pt x="0" y="4051300"/>
                    <a:pt x="0" y="3950335"/>
                  </a:cubicBezTo>
                  <a:close/>
                </a:path>
              </a:pathLst>
            </a:custGeom>
            <a:solidFill>
              <a:srgbClr val="FFFFFF"/>
            </a:solidFill>
          </p:spPr>
          <p:txBody>
            <a:bodyPr/>
            <a:lstStyle/>
            <a:p>
              <a:endParaRPr lang="en-US" dirty="0">
                <a:latin typeface="Cambria" panose="02040503050406030204" pitchFamily="18" charset="0"/>
              </a:endParaRPr>
            </a:p>
          </p:txBody>
        </p:sp>
        <p:sp>
          <p:nvSpPr>
            <p:cNvPr id="50" name="Freeform 42">
              <a:extLst>
                <a:ext uri="{FF2B5EF4-FFF2-40B4-BE49-F238E27FC236}">
                  <a16:creationId xmlns:a16="http://schemas.microsoft.com/office/drawing/2014/main" id="{87FCFA7C-C914-84C6-63C4-8D3C29ABDE3D}"/>
                </a:ext>
              </a:extLst>
            </p:cNvPr>
            <p:cNvSpPr/>
            <p:nvPr/>
          </p:nvSpPr>
          <p:spPr>
            <a:xfrm>
              <a:off x="0" y="0"/>
              <a:ext cx="7160641" cy="4171315"/>
            </a:xfrm>
            <a:custGeom>
              <a:avLst/>
              <a:gdLst/>
              <a:ahLst/>
              <a:cxnLst/>
              <a:rect l="l" t="t" r="r" b="b"/>
              <a:pathLst>
                <a:path w="7160641" h="4171315">
                  <a:moveTo>
                    <a:pt x="0" y="201930"/>
                  </a:moveTo>
                  <a:cubicBezTo>
                    <a:pt x="0" y="90297"/>
                    <a:pt x="90805" y="0"/>
                    <a:pt x="202692" y="0"/>
                  </a:cubicBezTo>
                  <a:lnTo>
                    <a:pt x="6957949" y="0"/>
                  </a:lnTo>
                  <a:lnTo>
                    <a:pt x="6957949" y="19050"/>
                  </a:lnTo>
                  <a:lnTo>
                    <a:pt x="6957949" y="0"/>
                  </a:lnTo>
                  <a:cubicBezTo>
                    <a:pt x="7069836" y="0"/>
                    <a:pt x="7160641" y="90297"/>
                    <a:pt x="7160641" y="201930"/>
                  </a:cubicBezTo>
                  <a:lnTo>
                    <a:pt x="7141591" y="201930"/>
                  </a:lnTo>
                  <a:lnTo>
                    <a:pt x="7160641" y="201930"/>
                  </a:lnTo>
                  <a:lnTo>
                    <a:pt x="7160641" y="3969385"/>
                  </a:lnTo>
                  <a:lnTo>
                    <a:pt x="7141591" y="3969385"/>
                  </a:lnTo>
                  <a:lnTo>
                    <a:pt x="7160641" y="3969385"/>
                  </a:lnTo>
                  <a:cubicBezTo>
                    <a:pt x="7160641" y="4081018"/>
                    <a:pt x="7069836" y="4171315"/>
                    <a:pt x="6957949" y="4171315"/>
                  </a:cubicBezTo>
                  <a:lnTo>
                    <a:pt x="6957949" y="4152265"/>
                  </a:lnTo>
                  <a:lnTo>
                    <a:pt x="6957949" y="4171315"/>
                  </a:lnTo>
                  <a:lnTo>
                    <a:pt x="202692" y="4171315"/>
                  </a:lnTo>
                  <a:lnTo>
                    <a:pt x="202692" y="4152265"/>
                  </a:lnTo>
                  <a:lnTo>
                    <a:pt x="202692" y="4171315"/>
                  </a:lnTo>
                  <a:cubicBezTo>
                    <a:pt x="90805" y="4171315"/>
                    <a:pt x="0" y="4081018"/>
                    <a:pt x="0" y="3969385"/>
                  </a:cubicBezTo>
                  <a:lnTo>
                    <a:pt x="0" y="201930"/>
                  </a:lnTo>
                  <a:lnTo>
                    <a:pt x="19050" y="201930"/>
                  </a:lnTo>
                  <a:lnTo>
                    <a:pt x="0" y="201930"/>
                  </a:lnTo>
                  <a:moveTo>
                    <a:pt x="38100" y="201930"/>
                  </a:moveTo>
                  <a:lnTo>
                    <a:pt x="38100" y="3969385"/>
                  </a:lnTo>
                  <a:lnTo>
                    <a:pt x="19050" y="3969385"/>
                  </a:lnTo>
                  <a:lnTo>
                    <a:pt x="38100" y="3969385"/>
                  </a:lnTo>
                  <a:cubicBezTo>
                    <a:pt x="38100" y="4059809"/>
                    <a:pt x="111760" y="4133215"/>
                    <a:pt x="202692" y="4133215"/>
                  </a:cubicBezTo>
                  <a:lnTo>
                    <a:pt x="6957949" y="4133215"/>
                  </a:lnTo>
                  <a:cubicBezTo>
                    <a:pt x="7048881" y="4133215"/>
                    <a:pt x="7122541" y="4059809"/>
                    <a:pt x="7122541" y="3969385"/>
                  </a:cubicBezTo>
                  <a:lnTo>
                    <a:pt x="7122541" y="201930"/>
                  </a:lnTo>
                  <a:cubicBezTo>
                    <a:pt x="7122541" y="111506"/>
                    <a:pt x="7048881" y="38100"/>
                    <a:pt x="6957949" y="38100"/>
                  </a:cubicBezTo>
                  <a:lnTo>
                    <a:pt x="202692" y="38100"/>
                  </a:lnTo>
                  <a:lnTo>
                    <a:pt x="202692" y="19050"/>
                  </a:lnTo>
                  <a:lnTo>
                    <a:pt x="202692" y="38100"/>
                  </a:lnTo>
                  <a:cubicBezTo>
                    <a:pt x="111760" y="38100"/>
                    <a:pt x="38100" y="111506"/>
                    <a:pt x="38100" y="201930"/>
                  </a:cubicBezTo>
                  <a:close/>
                </a:path>
              </a:pathLst>
            </a:custGeom>
            <a:solidFill>
              <a:srgbClr val="D8D4D4"/>
            </a:solidFill>
          </p:spPr>
          <p:txBody>
            <a:bodyPr/>
            <a:lstStyle/>
            <a:p>
              <a:endParaRPr lang="en-US">
                <a:latin typeface="Cambria" panose="02040503050406030204" pitchFamily="18" charset="0"/>
              </a:endParaRPr>
            </a:p>
          </p:txBody>
        </p:sp>
      </p:grpSp>
      <p:grpSp>
        <p:nvGrpSpPr>
          <p:cNvPr id="51" name="Group 27">
            <a:extLst>
              <a:ext uri="{FF2B5EF4-FFF2-40B4-BE49-F238E27FC236}">
                <a16:creationId xmlns:a16="http://schemas.microsoft.com/office/drawing/2014/main" id="{C5F8AAFF-0753-4422-7D14-AA31E7CE4501}"/>
              </a:ext>
            </a:extLst>
          </p:cNvPr>
          <p:cNvGrpSpPr/>
          <p:nvPr/>
        </p:nvGrpSpPr>
        <p:grpSpPr>
          <a:xfrm>
            <a:off x="11945307" y="5878265"/>
            <a:ext cx="128245" cy="3824390"/>
            <a:chOff x="-54836" y="0"/>
            <a:chExt cx="170993" cy="5099186"/>
          </a:xfrm>
          <a:solidFill>
            <a:schemeClr val="bg1">
              <a:lumMod val="75000"/>
            </a:schemeClr>
          </a:solidFill>
        </p:grpSpPr>
        <p:sp>
          <p:nvSpPr>
            <p:cNvPr id="52" name="Freeform 28">
              <a:extLst>
                <a:ext uri="{FF2B5EF4-FFF2-40B4-BE49-F238E27FC236}">
                  <a16:creationId xmlns:a16="http://schemas.microsoft.com/office/drawing/2014/main" id="{5EE58C58-CAEC-53F3-BD07-F7FBF05437A3}"/>
                </a:ext>
              </a:extLst>
            </p:cNvPr>
            <p:cNvSpPr/>
            <p:nvPr/>
          </p:nvSpPr>
          <p:spPr>
            <a:xfrm>
              <a:off x="-54836" y="0"/>
              <a:ext cx="170993" cy="5099186"/>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a:latin typeface="Cambria" panose="02040503050406030204" pitchFamily="18" charset="0"/>
              </a:endParaRPr>
            </a:p>
          </p:txBody>
        </p:sp>
      </p:grpSp>
      <p:sp>
        <p:nvSpPr>
          <p:cNvPr id="53" name="TextBox 45">
            <a:extLst>
              <a:ext uri="{FF2B5EF4-FFF2-40B4-BE49-F238E27FC236}">
                <a16:creationId xmlns:a16="http://schemas.microsoft.com/office/drawing/2014/main" id="{3C8C0FD6-C7C0-5796-F1E7-57605B7A46D8}"/>
              </a:ext>
            </a:extLst>
          </p:cNvPr>
          <p:cNvSpPr txBox="1"/>
          <p:nvPr/>
        </p:nvSpPr>
        <p:spPr>
          <a:xfrm>
            <a:off x="12228461" y="5960186"/>
            <a:ext cx="4802238" cy="298543"/>
          </a:xfrm>
          <a:prstGeom prst="rect">
            <a:avLst/>
          </a:prstGeom>
        </p:spPr>
        <p:txBody>
          <a:bodyPr wrap="square" lIns="0" tIns="0" rIns="0" bIns="0" rtlCol="0" anchor="t">
            <a:spAutoFit/>
          </a:bodyPr>
          <a:lstStyle/>
          <a:p>
            <a:pPr>
              <a:lnSpc>
                <a:spcPts val="2437"/>
              </a:lnSpc>
            </a:pPr>
            <a:r>
              <a:rPr lang="en-US" sz="1937" b="1" dirty="0">
                <a:solidFill>
                  <a:srgbClr val="000000"/>
                </a:solidFill>
                <a:latin typeface="Cambria" panose="02040503050406030204" pitchFamily="18" charset="0"/>
                <a:ea typeface="Crimson Pro Bold"/>
                <a:cs typeface="Crimson Pro Bold"/>
                <a:sym typeface="Crimson Pro Bold"/>
              </a:rPr>
              <a:t>⚠</a:t>
            </a:r>
            <a:r>
              <a:rPr lang="en-US" sz="1937" b="1" dirty="0">
                <a:solidFill>
                  <a:srgbClr val="4C4C4D"/>
                </a:solidFill>
                <a:latin typeface="Cambria" panose="02040503050406030204" pitchFamily="18" charset="0"/>
                <a:ea typeface="Crimson Pro Bold"/>
                <a:cs typeface="Crimson Pro Bold"/>
                <a:sym typeface="Crimson Pro Bold"/>
              </a:rPr>
              <a:t> AI Feature Accuracy Constraints</a:t>
            </a:r>
          </a:p>
        </p:txBody>
      </p:sp>
      <p:sp>
        <p:nvSpPr>
          <p:cNvPr id="54" name="TextBox 46">
            <a:extLst>
              <a:ext uri="{FF2B5EF4-FFF2-40B4-BE49-F238E27FC236}">
                <a16:creationId xmlns:a16="http://schemas.microsoft.com/office/drawing/2014/main" id="{7496C520-6425-C8D8-66B5-099D1841A32B}"/>
              </a:ext>
            </a:extLst>
          </p:cNvPr>
          <p:cNvSpPr txBox="1"/>
          <p:nvPr/>
        </p:nvSpPr>
        <p:spPr>
          <a:xfrm>
            <a:off x="12248920" y="6251858"/>
            <a:ext cx="4802238" cy="1055417"/>
          </a:xfrm>
          <a:prstGeom prst="rect">
            <a:avLst/>
          </a:prstGeom>
        </p:spPr>
        <p:txBody>
          <a:bodyPr lIns="0" tIns="0" rIns="0" bIns="0" rtlCol="0" anchor="t">
            <a:spAutoFit/>
          </a:bodyPr>
          <a:lstStyle/>
          <a:p>
            <a:pPr>
              <a:lnSpc>
                <a:spcPts val="2125"/>
              </a:lnSpc>
            </a:pPr>
            <a:r>
              <a:rPr lang="en-US" sz="1562" b="1" dirty="0">
                <a:solidFill>
                  <a:srgbClr val="4C4C4D"/>
                </a:solidFill>
                <a:latin typeface="Cambria" panose="02040503050406030204" pitchFamily="18" charset="0"/>
                <a:ea typeface="Heebo Bold"/>
                <a:cs typeface="Heebo Bold"/>
                <a:sym typeface="Heebo Bold"/>
              </a:rPr>
              <a:t>Problem: </a:t>
            </a:r>
            <a:r>
              <a:rPr lang="en-US" sz="1562" dirty="0">
                <a:solidFill>
                  <a:srgbClr val="4C4C4D"/>
                </a:solidFill>
                <a:latin typeface="Cambria" panose="02040503050406030204" pitchFamily="18" charset="0"/>
                <a:cs typeface="Heebo"/>
                <a:sym typeface="Heebo Bold"/>
              </a:rPr>
              <a:t>Content Moderator and Anomaly Detector are general-purpose pre-trained models, not tailored for cybersecurity evidence. This may lead to false positives potentially disrupting analyst workflows [18][19]</a:t>
            </a:r>
            <a:r>
              <a:rPr lang="en-US" sz="1562" dirty="0">
                <a:solidFill>
                  <a:srgbClr val="4C4C4D"/>
                </a:solidFill>
                <a:latin typeface="Cambria" panose="02040503050406030204" pitchFamily="18" charset="0"/>
                <a:ea typeface="Heebo"/>
                <a:cs typeface="Heebo"/>
                <a:sym typeface="Heebo"/>
              </a:rPr>
              <a:t>. </a:t>
            </a:r>
          </a:p>
        </p:txBody>
      </p:sp>
      <p:sp>
        <p:nvSpPr>
          <p:cNvPr id="55" name="TextBox 47">
            <a:extLst>
              <a:ext uri="{FF2B5EF4-FFF2-40B4-BE49-F238E27FC236}">
                <a16:creationId xmlns:a16="http://schemas.microsoft.com/office/drawing/2014/main" id="{1384DD32-BA0C-7725-E196-B800E1D17409}"/>
              </a:ext>
            </a:extLst>
          </p:cNvPr>
          <p:cNvSpPr txBox="1"/>
          <p:nvPr/>
        </p:nvSpPr>
        <p:spPr>
          <a:xfrm>
            <a:off x="12230959" y="7441767"/>
            <a:ext cx="4802238" cy="1055417"/>
          </a:xfrm>
          <a:prstGeom prst="rect">
            <a:avLst/>
          </a:prstGeom>
        </p:spPr>
        <p:txBody>
          <a:bodyPr lIns="0" tIns="0" rIns="0" bIns="0" rtlCol="0" anchor="t">
            <a:spAutoFit/>
          </a:bodyPr>
          <a:lstStyle/>
          <a:p>
            <a:pPr>
              <a:lnSpc>
                <a:spcPts val="2125"/>
              </a:lnSpc>
            </a:pPr>
            <a:r>
              <a:rPr lang="en-US" sz="1562" b="1" dirty="0">
                <a:solidFill>
                  <a:srgbClr val="4C4C4D"/>
                </a:solidFill>
                <a:latin typeface="Cambria" panose="02040503050406030204" pitchFamily="18" charset="0"/>
                <a:ea typeface="Heebo Bold"/>
                <a:cs typeface="Heebo Bold"/>
                <a:sym typeface="Heebo Bold"/>
              </a:rPr>
              <a:t>Mitigation:</a:t>
            </a:r>
            <a:r>
              <a:rPr lang="en-US" sz="1562" dirty="0">
                <a:solidFill>
                  <a:srgbClr val="4C4C4D"/>
                </a:solidFill>
                <a:latin typeface="Cambria" panose="02040503050406030204" pitchFamily="18" charset="0"/>
                <a:ea typeface="Heebo"/>
                <a:cs typeface="Heebo"/>
                <a:sym typeface="Heebo"/>
              </a:rPr>
              <a:t> Implement a human-review queue for all AI-flagged content; tune Anomaly Detector sensitivity thresholds using historical platform telemetry once live data is available.</a:t>
            </a:r>
          </a:p>
        </p:txBody>
      </p:sp>
      <p:grpSp>
        <p:nvGrpSpPr>
          <p:cNvPr id="56" name="Group 27">
            <a:extLst>
              <a:ext uri="{FF2B5EF4-FFF2-40B4-BE49-F238E27FC236}">
                <a16:creationId xmlns:a16="http://schemas.microsoft.com/office/drawing/2014/main" id="{7B22C663-25AF-41FC-2ED4-D971875CF770}"/>
              </a:ext>
            </a:extLst>
          </p:cNvPr>
          <p:cNvGrpSpPr/>
          <p:nvPr/>
        </p:nvGrpSpPr>
        <p:grpSpPr>
          <a:xfrm>
            <a:off x="6460566" y="5882273"/>
            <a:ext cx="128245" cy="3824390"/>
            <a:chOff x="-54836" y="0"/>
            <a:chExt cx="170993" cy="5099186"/>
          </a:xfrm>
          <a:solidFill>
            <a:schemeClr val="bg1">
              <a:lumMod val="75000"/>
            </a:schemeClr>
          </a:solidFill>
        </p:grpSpPr>
        <p:sp>
          <p:nvSpPr>
            <p:cNvPr id="57" name="Freeform 28">
              <a:extLst>
                <a:ext uri="{FF2B5EF4-FFF2-40B4-BE49-F238E27FC236}">
                  <a16:creationId xmlns:a16="http://schemas.microsoft.com/office/drawing/2014/main" id="{351C356A-F419-6B76-7071-FBC83060D886}"/>
                </a:ext>
              </a:extLst>
            </p:cNvPr>
            <p:cNvSpPr/>
            <p:nvPr/>
          </p:nvSpPr>
          <p:spPr>
            <a:xfrm>
              <a:off x="-54836" y="0"/>
              <a:ext cx="170993" cy="5099186"/>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a:latin typeface="Cambria" panose="02040503050406030204" pitchFamily="18" charset="0"/>
              </a:endParaRPr>
            </a:p>
          </p:txBody>
        </p:sp>
      </p:grpSp>
      <p:grpSp>
        <p:nvGrpSpPr>
          <p:cNvPr id="58" name="Group 27">
            <a:extLst>
              <a:ext uri="{FF2B5EF4-FFF2-40B4-BE49-F238E27FC236}">
                <a16:creationId xmlns:a16="http://schemas.microsoft.com/office/drawing/2014/main" id="{D02806CB-6C24-529B-EBBA-F0680621358F}"/>
              </a:ext>
            </a:extLst>
          </p:cNvPr>
          <p:cNvGrpSpPr/>
          <p:nvPr/>
        </p:nvGrpSpPr>
        <p:grpSpPr>
          <a:xfrm>
            <a:off x="975825" y="5886281"/>
            <a:ext cx="128245" cy="3824390"/>
            <a:chOff x="-54836" y="0"/>
            <a:chExt cx="170993" cy="5099186"/>
          </a:xfrm>
          <a:solidFill>
            <a:schemeClr val="bg1">
              <a:lumMod val="75000"/>
            </a:schemeClr>
          </a:solidFill>
        </p:grpSpPr>
        <p:sp>
          <p:nvSpPr>
            <p:cNvPr id="59" name="Freeform 28">
              <a:extLst>
                <a:ext uri="{FF2B5EF4-FFF2-40B4-BE49-F238E27FC236}">
                  <a16:creationId xmlns:a16="http://schemas.microsoft.com/office/drawing/2014/main" id="{7FD63D95-9C32-780E-E740-413331B7B16A}"/>
                </a:ext>
              </a:extLst>
            </p:cNvPr>
            <p:cNvSpPr/>
            <p:nvPr/>
          </p:nvSpPr>
          <p:spPr>
            <a:xfrm>
              <a:off x="-54836" y="0"/>
              <a:ext cx="170993" cy="5099186"/>
            </a:xfrm>
            <a:custGeom>
              <a:avLst/>
              <a:gdLst/>
              <a:ahLst/>
              <a:cxnLst/>
              <a:rect l="l" t="t" r="r" b="b"/>
              <a:pathLst>
                <a:path w="152400" h="4133342">
                  <a:moveTo>
                    <a:pt x="0" y="39751"/>
                  </a:moveTo>
                  <a:cubicBezTo>
                    <a:pt x="0" y="17780"/>
                    <a:pt x="17780" y="0"/>
                    <a:pt x="39751" y="0"/>
                  </a:cubicBezTo>
                  <a:lnTo>
                    <a:pt x="112649" y="0"/>
                  </a:lnTo>
                  <a:cubicBezTo>
                    <a:pt x="134620" y="0"/>
                    <a:pt x="152400" y="17780"/>
                    <a:pt x="152400" y="39751"/>
                  </a:cubicBezTo>
                  <a:lnTo>
                    <a:pt x="152400" y="4093591"/>
                  </a:lnTo>
                  <a:cubicBezTo>
                    <a:pt x="152400" y="4115562"/>
                    <a:pt x="134620" y="4133342"/>
                    <a:pt x="112649" y="4133342"/>
                  </a:cubicBezTo>
                  <a:lnTo>
                    <a:pt x="39751" y="4133342"/>
                  </a:lnTo>
                  <a:cubicBezTo>
                    <a:pt x="17780" y="4133342"/>
                    <a:pt x="0" y="4115562"/>
                    <a:pt x="0" y="4093591"/>
                  </a:cubicBezTo>
                  <a:close/>
                </a:path>
              </a:pathLst>
            </a:custGeom>
            <a:grpFill/>
          </p:spPr>
          <p:txBody>
            <a:bodyPr/>
            <a:lstStyle/>
            <a:p>
              <a:endParaRPr lang="en-US">
                <a:latin typeface="Cambria" panose="02040503050406030204" pitchFamily="18"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992237" y="1238250"/>
            <a:ext cx="16313049" cy="628377"/>
          </a:xfrm>
          <a:prstGeom prst="rect">
            <a:avLst/>
          </a:prstGeom>
        </p:spPr>
        <p:txBody>
          <a:bodyPr wrap="square" lIns="0" tIns="0" rIns="0" bIns="0" rtlCol="0" anchor="t">
            <a:spAutoFit/>
          </a:bodyPr>
          <a:lstStyle/>
          <a:p>
            <a:pPr algn="l">
              <a:lnSpc>
                <a:spcPts val="4875"/>
              </a:lnSpc>
            </a:pPr>
            <a:r>
              <a:rPr lang="en-US" sz="4400" b="1" dirty="0">
                <a:solidFill>
                  <a:srgbClr val="152D47"/>
                </a:solidFill>
                <a:latin typeface="Cambria" panose="02040503050406030204" pitchFamily="18" charset="0"/>
                <a:ea typeface="Crimson Pro Bold"/>
                <a:cs typeface="Crimson Pro Bold"/>
                <a:sym typeface="Crimson Pro Bold"/>
              </a:rPr>
              <a:t>Scalability Assessment</a:t>
            </a:r>
          </a:p>
        </p:txBody>
      </p:sp>
      <p:sp>
        <p:nvSpPr>
          <p:cNvPr id="7" name="TextBox 7"/>
          <p:cNvSpPr txBox="1"/>
          <p:nvPr/>
        </p:nvSpPr>
        <p:spPr>
          <a:xfrm>
            <a:off x="992238" y="2136277"/>
            <a:ext cx="16303523" cy="247504"/>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ThreatVault employs cloud-native scaling mechanisms at every architectural tier — from the frontend to the data layer.</a:t>
            </a:r>
          </a:p>
        </p:txBody>
      </p:sp>
      <p:sp>
        <p:nvSpPr>
          <p:cNvPr id="8" name="TextBox 8"/>
          <p:cNvSpPr txBox="1"/>
          <p:nvPr/>
        </p:nvSpPr>
        <p:spPr>
          <a:xfrm>
            <a:off x="992238" y="2710901"/>
            <a:ext cx="4789437" cy="288412"/>
          </a:xfrm>
          <a:prstGeom prst="rect">
            <a:avLst/>
          </a:prstGeom>
        </p:spPr>
        <p:txBody>
          <a:bodyPr wrap="square" lIns="0" tIns="0" rIns="0" bIns="0" rtlCol="0" anchor="t">
            <a:spAutoFit/>
          </a:bodyPr>
          <a:lstStyle/>
          <a:p>
            <a:pPr algn="l">
              <a:lnSpc>
                <a:spcPts val="2437"/>
              </a:lnSpc>
            </a:pPr>
            <a:r>
              <a:rPr lang="en-US" sz="1937" b="1" dirty="0">
                <a:solidFill>
                  <a:srgbClr val="152D47"/>
                </a:solidFill>
                <a:latin typeface="Cambria" panose="02040503050406030204" pitchFamily="18" charset="0"/>
                <a:ea typeface="Crimson Pro Bold"/>
                <a:cs typeface="Crimson Pro Bold"/>
                <a:sym typeface="Crimson Pro Bold"/>
              </a:rPr>
              <a:t>Scalability by Component</a:t>
            </a:r>
          </a:p>
        </p:txBody>
      </p:sp>
      <p:grpSp>
        <p:nvGrpSpPr>
          <p:cNvPr id="9" name="Group 9"/>
          <p:cNvGrpSpPr/>
          <p:nvPr/>
        </p:nvGrpSpPr>
        <p:grpSpPr>
          <a:xfrm>
            <a:off x="987476" y="3191466"/>
            <a:ext cx="7919295" cy="4568428"/>
            <a:chOff x="0" y="0"/>
            <a:chExt cx="10559059" cy="6091238"/>
          </a:xfrm>
        </p:grpSpPr>
        <p:sp>
          <p:nvSpPr>
            <p:cNvPr id="10" name="Freeform 10"/>
            <p:cNvSpPr/>
            <p:nvPr/>
          </p:nvSpPr>
          <p:spPr>
            <a:xfrm>
              <a:off x="0" y="0"/>
              <a:ext cx="10559034" cy="6091301"/>
            </a:xfrm>
            <a:custGeom>
              <a:avLst/>
              <a:gdLst/>
              <a:ahLst/>
              <a:cxnLst/>
              <a:rect l="l" t="t" r="r" b="b"/>
              <a:pathLst>
                <a:path w="10559034" h="6091301">
                  <a:moveTo>
                    <a:pt x="0" y="46101"/>
                  </a:moveTo>
                  <a:cubicBezTo>
                    <a:pt x="0" y="20574"/>
                    <a:pt x="20574" y="0"/>
                    <a:pt x="46101" y="0"/>
                  </a:cubicBezTo>
                  <a:lnTo>
                    <a:pt x="10512933" y="0"/>
                  </a:lnTo>
                  <a:lnTo>
                    <a:pt x="10512933" y="6350"/>
                  </a:lnTo>
                  <a:lnTo>
                    <a:pt x="10512933" y="0"/>
                  </a:lnTo>
                  <a:cubicBezTo>
                    <a:pt x="10538333" y="0"/>
                    <a:pt x="10559034" y="20574"/>
                    <a:pt x="10559034" y="46101"/>
                  </a:cubicBezTo>
                  <a:lnTo>
                    <a:pt x="10552684" y="46101"/>
                  </a:lnTo>
                  <a:lnTo>
                    <a:pt x="10559034" y="46101"/>
                  </a:lnTo>
                  <a:lnTo>
                    <a:pt x="10559034" y="6045200"/>
                  </a:lnTo>
                  <a:lnTo>
                    <a:pt x="10552684" y="6045200"/>
                  </a:lnTo>
                  <a:lnTo>
                    <a:pt x="10559034" y="6045200"/>
                  </a:lnTo>
                  <a:cubicBezTo>
                    <a:pt x="10559034" y="6070600"/>
                    <a:pt x="10538460" y="6091301"/>
                    <a:pt x="10512933" y="6091301"/>
                  </a:cubicBezTo>
                  <a:lnTo>
                    <a:pt x="10512933" y="6084951"/>
                  </a:lnTo>
                  <a:lnTo>
                    <a:pt x="10512933" y="6091301"/>
                  </a:lnTo>
                  <a:lnTo>
                    <a:pt x="46101" y="6091301"/>
                  </a:lnTo>
                  <a:lnTo>
                    <a:pt x="46101" y="6084951"/>
                  </a:lnTo>
                  <a:lnTo>
                    <a:pt x="46101" y="6091301"/>
                  </a:lnTo>
                  <a:cubicBezTo>
                    <a:pt x="20574" y="6091174"/>
                    <a:pt x="0" y="6070600"/>
                    <a:pt x="0" y="6045200"/>
                  </a:cubicBezTo>
                  <a:lnTo>
                    <a:pt x="0" y="46101"/>
                  </a:lnTo>
                  <a:lnTo>
                    <a:pt x="6350" y="46101"/>
                  </a:lnTo>
                  <a:lnTo>
                    <a:pt x="0" y="46101"/>
                  </a:lnTo>
                  <a:moveTo>
                    <a:pt x="12700" y="46101"/>
                  </a:moveTo>
                  <a:lnTo>
                    <a:pt x="12700" y="6045200"/>
                  </a:lnTo>
                  <a:lnTo>
                    <a:pt x="6350" y="6045200"/>
                  </a:lnTo>
                  <a:lnTo>
                    <a:pt x="12700" y="6045200"/>
                  </a:lnTo>
                  <a:cubicBezTo>
                    <a:pt x="12700" y="6063615"/>
                    <a:pt x="27686" y="6078601"/>
                    <a:pt x="46101" y="6078601"/>
                  </a:cubicBezTo>
                  <a:lnTo>
                    <a:pt x="10512933" y="6078601"/>
                  </a:lnTo>
                  <a:cubicBezTo>
                    <a:pt x="10531348" y="6078601"/>
                    <a:pt x="10546334" y="6063615"/>
                    <a:pt x="10546334" y="6045200"/>
                  </a:cubicBezTo>
                  <a:lnTo>
                    <a:pt x="10546334" y="46101"/>
                  </a:lnTo>
                  <a:cubicBezTo>
                    <a:pt x="10546334" y="27686"/>
                    <a:pt x="10531348" y="12700"/>
                    <a:pt x="10512933" y="12700"/>
                  </a:cubicBezTo>
                  <a:lnTo>
                    <a:pt x="46101" y="12700"/>
                  </a:lnTo>
                  <a:lnTo>
                    <a:pt x="46101" y="6350"/>
                  </a:lnTo>
                  <a:lnTo>
                    <a:pt x="46101" y="12700"/>
                  </a:lnTo>
                  <a:cubicBezTo>
                    <a:pt x="27686" y="12700"/>
                    <a:pt x="12700" y="27686"/>
                    <a:pt x="12700" y="46101"/>
                  </a:cubicBezTo>
                  <a:close/>
                </a:path>
              </a:pathLst>
            </a:custGeom>
            <a:solidFill>
              <a:srgbClr val="000000">
                <a:alpha val="392"/>
              </a:srgbClr>
            </a:solidFill>
          </p:spPr>
          <p:txBody>
            <a:bodyPr/>
            <a:lstStyle/>
            <a:p>
              <a:endParaRPr lang="en-US">
                <a:latin typeface="Cambria" panose="02040503050406030204" pitchFamily="18" charset="0"/>
              </a:endParaRPr>
            </a:p>
          </p:txBody>
        </p:sp>
      </p:grpSp>
      <p:sp>
        <p:nvSpPr>
          <p:cNvPr id="13" name="TextBox 13"/>
          <p:cNvSpPr txBox="1"/>
          <p:nvPr/>
        </p:nvSpPr>
        <p:spPr>
          <a:xfrm>
            <a:off x="1200445" y="3270047"/>
            <a:ext cx="1965569" cy="247504"/>
          </a:xfrm>
          <a:prstGeom prst="rect">
            <a:avLst/>
          </a:prstGeom>
        </p:spPr>
        <p:txBody>
          <a:bodyPr lIns="0" tIns="0" rIns="0" bIns="0" rtlCol="0" anchor="t">
            <a:spAutoFit/>
          </a:bodyPr>
          <a:lstStyle/>
          <a:p>
            <a:pPr algn="l">
              <a:lnSpc>
                <a:spcPts val="2125"/>
              </a:lnSpc>
            </a:pPr>
            <a:r>
              <a:rPr lang="en-US" sz="1562" b="1">
                <a:solidFill>
                  <a:srgbClr val="4C4C4D"/>
                </a:solidFill>
                <a:latin typeface="Cambria" panose="02040503050406030204" pitchFamily="18" charset="0"/>
                <a:ea typeface="Heebo Bold"/>
                <a:cs typeface="Heebo Bold"/>
                <a:sym typeface="Heebo Bold"/>
              </a:rPr>
              <a:t>Component</a:t>
            </a:r>
          </a:p>
        </p:txBody>
      </p:sp>
      <p:sp>
        <p:nvSpPr>
          <p:cNvPr id="14" name="TextBox 14"/>
          <p:cNvSpPr txBox="1"/>
          <p:nvPr/>
        </p:nvSpPr>
        <p:spPr>
          <a:xfrm>
            <a:off x="3572323" y="3270047"/>
            <a:ext cx="1803054" cy="247504"/>
          </a:xfrm>
          <a:prstGeom prst="rect">
            <a:avLst/>
          </a:prstGeom>
        </p:spPr>
        <p:txBody>
          <a:bodyPr lIns="0" tIns="0" rIns="0" bIns="0" rtlCol="0" anchor="t">
            <a:spAutoFit/>
          </a:bodyPr>
          <a:lstStyle/>
          <a:p>
            <a:pPr algn="l">
              <a:lnSpc>
                <a:spcPts val="2125"/>
              </a:lnSpc>
            </a:pPr>
            <a:r>
              <a:rPr lang="en-US" sz="1562" b="1" dirty="0">
                <a:solidFill>
                  <a:srgbClr val="4C4C4D"/>
                </a:solidFill>
                <a:latin typeface="Cambria" panose="02040503050406030204" pitchFamily="18" charset="0"/>
                <a:ea typeface="Heebo Bold"/>
                <a:cs typeface="Heebo Bold"/>
                <a:sym typeface="Heebo Bold"/>
              </a:rPr>
              <a:t>Mechanism</a:t>
            </a:r>
          </a:p>
        </p:txBody>
      </p:sp>
      <p:sp>
        <p:nvSpPr>
          <p:cNvPr id="15" name="TextBox 15"/>
          <p:cNvSpPr txBox="1"/>
          <p:nvPr/>
        </p:nvSpPr>
        <p:spPr>
          <a:xfrm>
            <a:off x="5781675" y="3270047"/>
            <a:ext cx="1171727" cy="247504"/>
          </a:xfrm>
          <a:prstGeom prst="rect">
            <a:avLst/>
          </a:prstGeom>
        </p:spPr>
        <p:txBody>
          <a:bodyPr lIns="0" tIns="0" rIns="0" bIns="0" rtlCol="0" anchor="t">
            <a:spAutoFit/>
          </a:bodyPr>
          <a:lstStyle/>
          <a:p>
            <a:pPr algn="l">
              <a:lnSpc>
                <a:spcPts val="2125"/>
              </a:lnSpc>
            </a:pPr>
            <a:r>
              <a:rPr lang="en-US" sz="1562" b="1">
                <a:solidFill>
                  <a:srgbClr val="4C4C4D"/>
                </a:solidFill>
                <a:latin typeface="Cambria" panose="02040503050406030204" pitchFamily="18" charset="0"/>
                <a:ea typeface="Heebo Bold"/>
                <a:cs typeface="Heebo Bold"/>
                <a:sym typeface="Heebo Bold"/>
              </a:rPr>
              <a:t>Type</a:t>
            </a:r>
          </a:p>
        </p:txBody>
      </p:sp>
      <p:sp>
        <p:nvSpPr>
          <p:cNvPr id="16" name="TextBox 16"/>
          <p:cNvSpPr txBox="1"/>
          <p:nvPr/>
        </p:nvSpPr>
        <p:spPr>
          <a:xfrm>
            <a:off x="7359701" y="3270047"/>
            <a:ext cx="1334395" cy="247504"/>
          </a:xfrm>
          <a:prstGeom prst="rect">
            <a:avLst/>
          </a:prstGeom>
        </p:spPr>
        <p:txBody>
          <a:bodyPr lIns="0" tIns="0" rIns="0" bIns="0" rtlCol="0" anchor="t">
            <a:spAutoFit/>
          </a:bodyPr>
          <a:lstStyle/>
          <a:p>
            <a:pPr algn="l">
              <a:lnSpc>
                <a:spcPts val="2125"/>
              </a:lnSpc>
            </a:pPr>
            <a:r>
              <a:rPr lang="en-US" sz="1562" b="1">
                <a:solidFill>
                  <a:srgbClr val="4C4C4D"/>
                </a:solidFill>
                <a:latin typeface="Cambria" panose="02040503050406030204" pitchFamily="18" charset="0"/>
                <a:ea typeface="Heebo Bold"/>
                <a:cs typeface="Heebo Bold"/>
                <a:sym typeface="Heebo Bold"/>
              </a:rPr>
              <a:t>Trigger</a:t>
            </a:r>
          </a:p>
        </p:txBody>
      </p:sp>
      <p:grpSp>
        <p:nvGrpSpPr>
          <p:cNvPr id="17" name="Group 17"/>
          <p:cNvGrpSpPr/>
          <p:nvPr/>
        </p:nvGrpSpPr>
        <p:grpSpPr>
          <a:xfrm>
            <a:off x="1001763" y="3661467"/>
            <a:ext cx="7890720" cy="725691"/>
            <a:chOff x="0" y="0"/>
            <a:chExt cx="10520959" cy="967588"/>
          </a:xfrm>
        </p:grpSpPr>
        <p:sp>
          <p:nvSpPr>
            <p:cNvPr id="18" name="Freeform 18"/>
            <p:cNvSpPr/>
            <p:nvPr/>
          </p:nvSpPr>
          <p:spPr>
            <a:xfrm>
              <a:off x="0" y="0"/>
              <a:ext cx="10520934" cy="967613"/>
            </a:xfrm>
            <a:custGeom>
              <a:avLst/>
              <a:gdLst/>
              <a:ahLst/>
              <a:cxnLst/>
              <a:rect l="l" t="t" r="r" b="b"/>
              <a:pathLst>
                <a:path w="10520934" h="967613">
                  <a:moveTo>
                    <a:pt x="0" y="0"/>
                  </a:moveTo>
                  <a:lnTo>
                    <a:pt x="10520934" y="0"/>
                  </a:lnTo>
                  <a:lnTo>
                    <a:pt x="10520934" y="967613"/>
                  </a:lnTo>
                  <a:lnTo>
                    <a:pt x="0" y="967613"/>
                  </a:lnTo>
                  <a:close/>
                </a:path>
              </a:pathLst>
            </a:custGeom>
            <a:solidFill>
              <a:srgbClr val="000000">
                <a:alpha val="0"/>
              </a:srgbClr>
            </a:solidFill>
          </p:spPr>
          <p:txBody>
            <a:bodyPr/>
            <a:lstStyle/>
            <a:p>
              <a:endParaRPr lang="en-US">
                <a:latin typeface="Cambria" panose="02040503050406030204" pitchFamily="18" charset="0"/>
              </a:endParaRPr>
            </a:p>
          </p:txBody>
        </p:sp>
      </p:grpSp>
      <p:sp>
        <p:nvSpPr>
          <p:cNvPr id="19" name="TextBox 19"/>
          <p:cNvSpPr txBox="1"/>
          <p:nvPr/>
        </p:nvSpPr>
        <p:spPr>
          <a:xfrm>
            <a:off x="1200445" y="3725761"/>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Azure App Service</a:t>
            </a:r>
          </a:p>
        </p:txBody>
      </p:sp>
      <p:sp>
        <p:nvSpPr>
          <p:cNvPr id="20" name="TextBox 20"/>
          <p:cNvSpPr txBox="1"/>
          <p:nvPr/>
        </p:nvSpPr>
        <p:spPr>
          <a:xfrm>
            <a:off x="3572323" y="3725761"/>
            <a:ext cx="1803054" cy="247504"/>
          </a:xfrm>
          <a:prstGeom prst="rect">
            <a:avLst/>
          </a:prstGeom>
        </p:spPr>
        <p:txBody>
          <a:bodyPr lIns="0" tIns="0" rIns="0" bIns="0" rtlCol="0" anchor="t">
            <a:spAutoFit/>
          </a:bodyPr>
          <a:lstStyle/>
          <a:p>
            <a:pPr algn="l">
              <a:lnSpc>
                <a:spcPts val="2125"/>
              </a:lnSpc>
            </a:pPr>
            <a:r>
              <a:rPr lang="en-US" sz="1562" dirty="0" err="1">
                <a:solidFill>
                  <a:srgbClr val="4C4C4D"/>
                </a:solidFill>
                <a:latin typeface="Cambria" panose="02040503050406030204" pitchFamily="18" charset="0"/>
                <a:ea typeface="Heebo"/>
                <a:cs typeface="Heebo"/>
                <a:sym typeface="Heebo"/>
              </a:rPr>
              <a:t>Autoscale</a:t>
            </a:r>
            <a:r>
              <a:rPr lang="en-US" sz="1562" dirty="0">
                <a:solidFill>
                  <a:srgbClr val="4C4C4D"/>
                </a:solidFill>
                <a:latin typeface="Cambria" panose="02040503050406030204" pitchFamily="18" charset="0"/>
                <a:ea typeface="Heebo"/>
                <a:cs typeface="Heebo"/>
                <a:sym typeface="Heebo"/>
              </a:rPr>
              <a:t> rules</a:t>
            </a:r>
          </a:p>
        </p:txBody>
      </p:sp>
      <p:sp>
        <p:nvSpPr>
          <p:cNvPr id="21" name="TextBox 21"/>
          <p:cNvSpPr txBox="1"/>
          <p:nvPr/>
        </p:nvSpPr>
        <p:spPr>
          <a:xfrm>
            <a:off x="5781675" y="3725761"/>
            <a:ext cx="1171727"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Horizontal scale-out</a:t>
            </a:r>
          </a:p>
        </p:txBody>
      </p:sp>
      <p:sp>
        <p:nvSpPr>
          <p:cNvPr id="22" name="TextBox 22"/>
          <p:cNvSpPr txBox="1"/>
          <p:nvPr/>
        </p:nvSpPr>
        <p:spPr>
          <a:xfrm>
            <a:off x="7359701" y="3725761"/>
            <a:ext cx="1334395"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CPU % / request count</a:t>
            </a:r>
          </a:p>
        </p:txBody>
      </p:sp>
      <p:sp>
        <p:nvSpPr>
          <p:cNvPr id="25" name="TextBox 25"/>
          <p:cNvSpPr txBox="1"/>
          <p:nvPr/>
        </p:nvSpPr>
        <p:spPr>
          <a:xfrm>
            <a:off x="1200445" y="4451452"/>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API Management</a:t>
            </a:r>
          </a:p>
        </p:txBody>
      </p:sp>
      <p:sp>
        <p:nvSpPr>
          <p:cNvPr id="26" name="TextBox 26"/>
          <p:cNvSpPr txBox="1"/>
          <p:nvPr/>
        </p:nvSpPr>
        <p:spPr>
          <a:xfrm>
            <a:off x="3572323" y="4451452"/>
            <a:ext cx="1803054"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Built-in tier scaling</a:t>
            </a:r>
          </a:p>
        </p:txBody>
      </p:sp>
      <p:sp>
        <p:nvSpPr>
          <p:cNvPr id="27" name="TextBox 27"/>
          <p:cNvSpPr txBox="1"/>
          <p:nvPr/>
        </p:nvSpPr>
        <p:spPr>
          <a:xfrm>
            <a:off x="5781675" y="4451452"/>
            <a:ext cx="1171727"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Horizontal</a:t>
            </a:r>
          </a:p>
        </p:txBody>
      </p:sp>
      <p:sp>
        <p:nvSpPr>
          <p:cNvPr id="28" name="TextBox 28"/>
          <p:cNvSpPr txBox="1"/>
          <p:nvPr/>
        </p:nvSpPr>
        <p:spPr>
          <a:xfrm>
            <a:off x="7359701" y="4451452"/>
            <a:ext cx="1334395"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Traffic volume</a:t>
            </a:r>
          </a:p>
        </p:txBody>
      </p:sp>
      <p:grpSp>
        <p:nvGrpSpPr>
          <p:cNvPr id="29" name="Group 29"/>
          <p:cNvGrpSpPr/>
          <p:nvPr/>
        </p:nvGrpSpPr>
        <p:grpSpPr>
          <a:xfrm>
            <a:off x="1001763" y="4842872"/>
            <a:ext cx="7890720" cy="725691"/>
            <a:chOff x="0" y="0"/>
            <a:chExt cx="10520959" cy="967588"/>
          </a:xfrm>
        </p:grpSpPr>
        <p:sp>
          <p:nvSpPr>
            <p:cNvPr id="30" name="Freeform 30"/>
            <p:cNvSpPr/>
            <p:nvPr/>
          </p:nvSpPr>
          <p:spPr>
            <a:xfrm>
              <a:off x="0" y="0"/>
              <a:ext cx="10520934" cy="967613"/>
            </a:xfrm>
            <a:custGeom>
              <a:avLst/>
              <a:gdLst/>
              <a:ahLst/>
              <a:cxnLst/>
              <a:rect l="l" t="t" r="r" b="b"/>
              <a:pathLst>
                <a:path w="10520934" h="967613">
                  <a:moveTo>
                    <a:pt x="0" y="0"/>
                  </a:moveTo>
                  <a:lnTo>
                    <a:pt x="10520934" y="0"/>
                  </a:lnTo>
                  <a:lnTo>
                    <a:pt x="10520934" y="967613"/>
                  </a:lnTo>
                  <a:lnTo>
                    <a:pt x="0" y="967613"/>
                  </a:lnTo>
                  <a:close/>
                </a:path>
              </a:pathLst>
            </a:custGeom>
            <a:solidFill>
              <a:srgbClr val="000000">
                <a:alpha val="0"/>
              </a:srgbClr>
            </a:solidFill>
          </p:spPr>
          <p:txBody>
            <a:bodyPr/>
            <a:lstStyle/>
            <a:p>
              <a:endParaRPr lang="en-US">
                <a:latin typeface="Cambria" panose="02040503050406030204" pitchFamily="18" charset="0"/>
              </a:endParaRPr>
            </a:p>
          </p:txBody>
        </p:sp>
      </p:grpSp>
      <p:sp>
        <p:nvSpPr>
          <p:cNvPr id="31" name="TextBox 31"/>
          <p:cNvSpPr txBox="1"/>
          <p:nvPr/>
        </p:nvSpPr>
        <p:spPr>
          <a:xfrm>
            <a:off x="1200445" y="4907166"/>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Azure Logic Apps</a:t>
            </a:r>
          </a:p>
        </p:txBody>
      </p:sp>
      <p:sp>
        <p:nvSpPr>
          <p:cNvPr id="32" name="TextBox 32"/>
          <p:cNvSpPr txBox="1"/>
          <p:nvPr/>
        </p:nvSpPr>
        <p:spPr>
          <a:xfrm>
            <a:off x="3572323" y="4907166"/>
            <a:ext cx="1803054" cy="247504"/>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Serverless auto</a:t>
            </a:r>
          </a:p>
        </p:txBody>
      </p:sp>
      <p:sp>
        <p:nvSpPr>
          <p:cNvPr id="33" name="TextBox 33"/>
          <p:cNvSpPr txBox="1"/>
          <p:nvPr/>
        </p:nvSpPr>
        <p:spPr>
          <a:xfrm>
            <a:off x="5781675" y="4907166"/>
            <a:ext cx="1171727"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Event-driven granular</a:t>
            </a:r>
          </a:p>
        </p:txBody>
      </p:sp>
      <p:sp>
        <p:nvSpPr>
          <p:cNvPr id="34" name="TextBox 34"/>
          <p:cNvSpPr txBox="1"/>
          <p:nvPr/>
        </p:nvSpPr>
        <p:spPr>
          <a:xfrm>
            <a:off x="7359701" y="4907166"/>
            <a:ext cx="1334395"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Per HTTP trigger event</a:t>
            </a:r>
          </a:p>
        </p:txBody>
      </p:sp>
      <p:sp>
        <p:nvSpPr>
          <p:cNvPr id="37" name="TextBox 37"/>
          <p:cNvSpPr txBox="1"/>
          <p:nvPr/>
        </p:nvSpPr>
        <p:spPr>
          <a:xfrm>
            <a:off x="1200445" y="5632847"/>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Azure Cosmos DB</a:t>
            </a:r>
          </a:p>
        </p:txBody>
      </p:sp>
      <p:sp>
        <p:nvSpPr>
          <p:cNvPr id="38" name="TextBox 38"/>
          <p:cNvSpPr txBox="1"/>
          <p:nvPr/>
        </p:nvSpPr>
        <p:spPr>
          <a:xfrm>
            <a:off x="3572323" y="5632847"/>
            <a:ext cx="1803054"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Serverless RU/s autoscale</a:t>
            </a:r>
          </a:p>
        </p:txBody>
      </p:sp>
      <p:sp>
        <p:nvSpPr>
          <p:cNvPr id="39" name="TextBox 39"/>
          <p:cNvSpPr txBox="1"/>
          <p:nvPr/>
        </p:nvSpPr>
        <p:spPr>
          <a:xfrm>
            <a:off x="5781675" y="5632847"/>
            <a:ext cx="1171727"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Elastic horizontal</a:t>
            </a:r>
          </a:p>
        </p:txBody>
      </p:sp>
      <p:sp>
        <p:nvSpPr>
          <p:cNvPr id="40" name="TextBox 40"/>
          <p:cNvSpPr txBox="1"/>
          <p:nvPr/>
        </p:nvSpPr>
        <p:spPr>
          <a:xfrm>
            <a:off x="7359701" y="5632847"/>
            <a:ext cx="1334395"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Read/write demand</a:t>
            </a:r>
          </a:p>
        </p:txBody>
      </p:sp>
      <p:sp>
        <p:nvSpPr>
          <p:cNvPr id="43" name="TextBox 43"/>
          <p:cNvSpPr txBox="1"/>
          <p:nvPr/>
        </p:nvSpPr>
        <p:spPr>
          <a:xfrm>
            <a:off x="1200445" y="6358528"/>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Azure Blob Storage</a:t>
            </a:r>
          </a:p>
        </p:txBody>
      </p:sp>
      <p:sp>
        <p:nvSpPr>
          <p:cNvPr id="44" name="TextBox 44"/>
          <p:cNvSpPr txBox="1"/>
          <p:nvPr/>
        </p:nvSpPr>
        <p:spPr>
          <a:xfrm>
            <a:off x="3572323" y="6358528"/>
            <a:ext cx="1803054"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Unlimited object store</a:t>
            </a:r>
          </a:p>
        </p:txBody>
      </p:sp>
      <p:sp>
        <p:nvSpPr>
          <p:cNvPr id="45" name="TextBox 45"/>
          <p:cNvSpPr txBox="1"/>
          <p:nvPr/>
        </p:nvSpPr>
        <p:spPr>
          <a:xfrm>
            <a:off x="5781675" y="6358528"/>
            <a:ext cx="1171727"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Intrinsic</a:t>
            </a:r>
          </a:p>
        </p:txBody>
      </p:sp>
      <p:sp>
        <p:nvSpPr>
          <p:cNvPr id="46" name="TextBox 46"/>
          <p:cNvSpPr txBox="1"/>
          <p:nvPr/>
        </p:nvSpPr>
        <p:spPr>
          <a:xfrm>
            <a:off x="7359701" y="6358528"/>
            <a:ext cx="1334395"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No limit — automatic</a:t>
            </a:r>
          </a:p>
        </p:txBody>
      </p:sp>
      <p:sp>
        <p:nvSpPr>
          <p:cNvPr id="49" name="TextBox 49"/>
          <p:cNvSpPr txBox="1"/>
          <p:nvPr/>
        </p:nvSpPr>
        <p:spPr>
          <a:xfrm>
            <a:off x="1200445" y="7084219"/>
            <a:ext cx="1965569"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Azure SQL Database</a:t>
            </a:r>
          </a:p>
        </p:txBody>
      </p:sp>
      <p:sp>
        <p:nvSpPr>
          <p:cNvPr id="50" name="TextBox 50"/>
          <p:cNvSpPr txBox="1"/>
          <p:nvPr/>
        </p:nvSpPr>
        <p:spPr>
          <a:xfrm>
            <a:off x="3572323" y="7084219"/>
            <a:ext cx="1803054"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Managed DTU scaling</a:t>
            </a:r>
          </a:p>
        </p:txBody>
      </p:sp>
      <p:sp>
        <p:nvSpPr>
          <p:cNvPr id="51" name="TextBox 51"/>
          <p:cNvSpPr txBox="1"/>
          <p:nvPr/>
        </p:nvSpPr>
        <p:spPr>
          <a:xfrm>
            <a:off x="5781675" y="7084219"/>
            <a:ext cx="1171727" cy="516808"/>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Vertical + HA replicas</a:t>
            </a:r>
          </a:p>
        </p:txBody>
      </p:sp>
      <p:sp>
        <p:nvSpPr>
          <p:cNvPr id="52" name="TextBox 52"/>
          <p:cNvSpPr txBox="1"/>
          <p:nvPr/>
        </p:nvSpPr>
        <p:spPr>
          <a:xfrm>
            <a:off x="7359701" y="7084219"/>
            <a:ext cx="1334395" cy="247504"/>
          </a:xfrm>
          <a:prstGeom prst="rect">
            <a:avLst/>
          </a:prstGeom>
        </p:spPr>
        <p:txBody>
          <a:bodyPr lIns="0" tIns="0" rIns="0" bIns="0" rtlCol="0" anchor="t">
            <a:spAutoFit/>
          </a:bodyPr>
          <a:lstStyle/>
          <a:p>
            <a:pPr algn="l">
              <a:lnSpc>
                <a:spcPts val="2125"/>
              </a:lnSpc>
            </a:pPr>
            <a:r>
              <a:rPr lang="en-US" sz="1562">
                <a:solidFill>
                  <a:srgbClr val="4C4C4D"/>
                </a:solidFill>
                <a:latin typeface="Cambria" panose="02040503050406030204" pitchFamily="18" charset="0"/>
                <a:ea typeface="Heebo"/>
                <a:cs typeface="Heebo"/>
                <a:sym typeface="Heebo"/>
              </a:rPr>
              <a:t>Load-based</a:t>
            </a:r>
          </a:p>
        </p:txBody>
      </p:sp>
      <p:sp>
        <p:nvSpPr>
          <p:cNvPr id="53" name="TextBox 53"/>
          <p:cNvSpPr txBox="1"/>
          <p:nvPr/>
        </p:nvSpPr>
        <p:spPr>
          <a:xfrm>
            <a:off x="9395516" y="2710901"/>
            <a:ext cx="6454083" cy="288412"/>
          </a:xfrm>
          <a:prstGeom prst="rect">
            <a:avLst/>
          </a:prstGeom>
        </p:spPr>
        <p:txBody>
          <a:bodyPr wrap="square" lIns="0" tIns="0" rIns="0" bIns="0" rtlCol="0" anchor="t">
            <a:spAutoFit/>
          </a:bodyPr>
          <a:lstStyle/>
          <a:p>
            <a:pPr algn="l">
              <a:lnSpc>
                <a:spcPts val="2437"/>
              </a:lnSpc>
            </a:pPr>
            <a:r>
              <a:rPr lang="en-US" sz="1937" b="1" dirty="0">
                <a:solidFill>
                  <a:srgbClr val="152D47"/>
                </a:solidFill>
                <a:latin typeface="Cambria" panose="02040503050406030204" pitchFamily="18" charset="0"/>
                <a:ea typeface="Crimson Pro Bold"/>
                <a:cs typeface="Crimson Pro Bold"/>
                <a:sym typeface="Crimson Pro Bold"/>
              </a:rPr>
              <a:t>Three Key Scalability Design Decisions</a:t>
            </a:r>
          </a:p>
        </p:txBody>
      </p:sp>
      <p:grpSp>
        <p:nvGrpSpPr>
          <p:cNvPr id="54" name="Group 54"/>
          <p:cNvGrpSpPr/>
          <p:nvPr/>
        </p:nvGrpSpPr>
        <p:grpSpPr>
          <a:xfrm>
            <a:off x="9384349" y="3203158"/>
            <a:ext cx="468830" cy="433664"/>
            <a:chOff x="0" y="0"/>
            <a:chExt cx="595312" cy="595312"/>
          </a:xfrm>
        </p:grpSpPr>
        <p:sp>
          <p:nvSpPr>
            <p:cNvPr id="55" name="Freeform 55"/>
            <p:cNvSpPr/>
            <p:nvPr/>
          </p:nvSpPr>
          <p:spPr>
            <a:xfrm>
              <a:off x="0" y="0"/>
              <a:ext cx="595376" cy="595376"/>
            </a:xfrm>
            <a:custGeom>
              <a:avLst/>
              <a:gdLst/>
              <a:ahLst/>
              <a:cxnLst/>
              <a:rect l="l" t="t" r="r" b="b"/>
              <a:pathLst>
                <a:path w="595376" h="595376">
                  <a:moveTo>
                    <a:pt x="0" y="39751"/>
                  </a:moveTo>
                  <a:cubicBezTo>
                    <a:pt x="0" y="17780"/>
                    <a:pt x="17780" y="0"/>
                    <a:pt x="39751" y="0"/>
                  </a:cubicBezTo>
                  <a:lnTo>
                    <a:pt x="555625" y="0"/>
                  </a:lnTo>
                  <a:cubicBezTo>
                    <a:pt x="577596" y="0"/>
                    <a:pt x="595376" y="17780"/>
                    <a:pt x="595376" y="39751"/>
                  </a:cubicBezTo>
                  <a:lnTo>
                    <a:pt x="595376" y="555625"/>
                  </a:lnTo>
                  <a:cubicBezTo>
                    <a:pt x="595376" y="577596"/>
                    <a:pt x="577596" y="595376"/>
                    <a:pt x="555625" y="595376"/>
                  </a:cubicBezTo>
                  <a:lnTo>
                    <a:pt x="39751" y="595376"/>
                  </a:lnTo>
                  <a:cubicBezTo>
                    <a:pt x="17780" y="595376"/>
                    <a:pt x="0" y="577596"/>
                    <a:pt x="0" y="555625"/>
                  </a:cubicBezTo>
                  <a:close/>
                </a:path>
              </a:pathLst>
            </a:custGeom>
            <a:solidFill>
              <a:srgbClr val="F2EEEE"/>
            </a:solidFill>
          </p:spPr>
          <p:txBody>
            <a:bodyPr/>
            <a:lstStyle/>
            <a:p>
              <a:endParaRPr lang="en-US">
                <a:latin typeface="Cambria" panose="02040503050406030204" pitchFamily="18" charset="0"/>
              </a:endParaRPr>
            </a:p>
          </p:txBody>
        </p:sp>
      </p:grpSp>
      <p:sp>
        <p:nvSpPr>
          <p:cNvPr id="56" name="TextBox 56"/>
          <p:cNvSpPr txBox="1"/>
          <p:nvPr/>
        </p:nvSpPr>
        <p:spPr>
          <a:xfrm>
            <a:off x="9469936" y="3262017"/>
            <a:ext cx="297656" cy="294953"/>
          </a:xfrm>
          <a:prstGeom prst="rect">
            <a:avLst/>
          </a:prstGeom>
        </p:spPr>
        <p:txBody>
          <a:bodyPr lIns="0" tIns="0" rIns="0" bIns="0" rtlCol="0" anchor="t">
            <a:spAutoFit/>
          </a:bodyPr>
          <a:lstStyle/>
          <a:p>
            <a:pPr algn="ctr">
              <a:lnSpc>
                <a:spcPts val="2312"/>
              </a:lnSpc>
            </a:pPr>
            <a:r>
              <a:rPr lang="en-US" sz="2312" b="1">
                <a:solidFill>
                  <a:srgbClr val="4C4C4D"/>
                </a:solidFill>
                <a:latin typeface="Cambria" panose="02040503050406030204" pitchFamily="18" charset="0"/>
                <a:ea typeface="Crimson Pro Bold"/>
                <a:cs typeface="Crimson Pro Bold"/>
                <a:sym typeface="Crimson Pro Bold"/>
              </a:rPr>
              <a:t>1</a:t>
            </a:r>
          </a:p>
        </p:txBody>
      </p:sp>
      <p:sp>
        <p:nvSpPr>
          <p:cNvPr id="57" name="TextBox 57"/>
          <p:cNvSpPr txBox="1"/>
          <p:nvPr/>
        </p:nvSpPr>
        <p:spPr>
          <a:xfrm>
            <a:off x="9980857" y="3245348"/>
            <a:ext cx="2480815" cy="287323"/>
          </a:xfrm>
          <a:prstGeom prst="rect">
            <a:avLst/>
          </a:prstGeom>
        </p:spPr>
        <p:txBody>
          <a:bodyPr lIns="0" tIns="0" rIns="0" bIns="0" rtlCol="0" anchor="t">
            <a:spAutoFit/>
          </a:bodyPr>
          <a:lstStyle/>
          <a:p>
            <a:pPr algn="l">
              <a:lnSpc>
                <a:spcPts val="2437"/>
              </a:lnSpc>
            </a:pPr>
            <a:r>
              <a:rPr lang="en-US" sz="1937" b="1">
                <a:solidFill>
                  <a:srgbClr val="4C4C4D"/>
                </a:solidFill>
                <a:latin typeface="Cambria" panose="02040503050406030204" pitchFamily="18" charset="0"/>
                <a:ea typeface="Crimson Pro Bold"/>
                <a:cs typeface="Crimson Pro Bold"/>
                <a:sym typeface="Crimson Pro Bold"/>
              </a:rPr>
              <a:t>Stateless Logic Apps</a:t>
            </a:r>
          </a:p>
        </p:txBody>
      </p:sp>
      <p:sp>
        <p:nvSpPr>
          <p:cNvPr id="58" name="TextBox 58"/>
          <p:cNvSpPr txBox="1"/>
          <p:nvPr/>
        </p:nvSpPr>
        <p:spPr>
          <a:xfrm>
            <a:off x="9980857" y="3684689"/>
            <a:ext cx="7324430" cy="802143"/>
          </a:xfrm>
          <a:prstGeom prst="rect">
            <a:avLst/>
          </a:prstGeom>
        </p:spPr>
        <p:txBody>
          <a:bodyPr lIns="0" tIns="0" rIns="0" bIns="0" rtlCol="0" anchor="t">
            <a:spAutoFit/>
          </a:bodyPr>
          <a:lstStyle/>
          <a:p>
            <a:pPr>
              <a:lnSpc>
                <a:spcPts val="2125"/>
              </a:lnSpc>
            </a:pPr>
            <a:r>
              <a:rPr lang="en-US" sz="1562" dirty="0">
                <a:solidFill>
                  <a:srgbClr val="4C4C4D"/>
                </a:solidFill>
                <a:latin typeface="Cambria" panose="02040503050406030204" pitchFamily="18" charset="0"/>
                <a:ea typeface="Heebo"/>
                <a:cs typeface="Heebo"/>
                <a:sym typeface="Heebo"/>
              </a:rPr>
              <a:t>No session state is stored — any Logic App instance handles any request. The architecture can scale horizontally from 1 to hundreds of concurrent instances with zero coordination overhead [20].</a:t>
            </a:r>
          </a:p>
        </p:txBody>
      </p:sp>
      <p:grpSp>
        <p:nvGrpSpPr>
          <p:cNvPr id="59" name="Group 59"/>
          <p:cNvGrpSpPr/>
          <p:nvPr/>
        </p:nvGrpSpPr>
        <p:grpSpPr>
          <a:xfrm>
            <a:off x="9395517" y="4801048"/>
            <a:ext cx="446484" cy="446484"/>
            <a:chOff x="0" y="0"/>
            <a:chExt cx="595312" cy="595312"/>
          </a:xfrm>
        </p:grpSpPr>
        <p:sp>
          <p:nvSpPr>
            <p:cNvPr id="60" name="Freeform 60"/>
            <p:cNvSpPr/>
            <p:nvPr/>
          </p:nvSpPr>
          <p:spPr>
            <a:xfrm>
              <a:off x="0" y="0"/>
              <a:ext cx="595376" cy="595376"/>
            </a:xfrm>
            <a:custGeom>
              <a:avLst/>
              <a:gdLst/>
              <a:ahLst/>
              <a:cxnLst/>
              <a:rect l="l" t="t" r="r" b="b"/>
              <a:pathLst>
                <a:path w="595376" h="595376">
                  <a:moveTo>
                    <a:pt x="0" y="39751"/>
                  </a:moveTo>
                  <a:cubicBezTo>
                    <a:pt x="0" y="17780"/>
                    <a:pt x="17780" y="0"/>
                    <a:pt x="39751" y="0"/>
                  </a:cubicBezTo>
                  <a:lnTo>
                    <a:pt x="555625" y="0"/>
                  </a:lnTo>
                  <a:cubicBezTo>
                    <a:pt x="577596" y="0"/>
                    <a:pt x="595376" y="17780"/>
                    <a:pt x="595376" y="39751"/>
                  </a:cubicBezTo>
                  <a:lnTo>
                    <a:pt x="595376" y="555625"/>
                  </a:lnTo>
                  <a:cubicBezTo>
                    <a:pt x="595376" y="577596"/>
                    <a:pt x="577596" y="595376"/>
                    <a:pt x="555625" y="595376"/>
                  </a:cubicBezTo>
                  <a:lnTo>
                    <a:pt x="39751" y="595376"/>
                  </a:lnTo>
                  <a:cubicBezTo>
                    <a:pt x="17780" y="595376"/>
                    <a:pt x="0" y="577596"/>
                    <a:pt x="0" y="555625"/>
                  </a:cubicBezTo>
                  <a:close/>
                </a:path>
              </a:pathLst>
            </a:custGeom>
            <a:solidFill>
              <a:srgbClr val="F2EEEE"/>
            </a:solidFill>
          </p:spPr>
          <p:txBody>
            <a:bodyPr/>
            <a:lstStyle/>
            <a:p>
              <a:endParaRPr lang="en-US">
                <a:latin typeface="Cambria" panose="02040503050406030204" pitchFamily="18" charset="0"/>
              </a:endParaRPr>
            </a:p>
          </p:txBody>
        </p:sp>
      </p:grpSp>
      <p:sp>
        <p:nvSpPr>
          <p:cNvPr id="61" name="TextBox 61"/>
          <p:cNvSpPr txBox="1"/>
          <p:nvPr/>
        </p:nvSpPr>
        <p:spPr>
          <a:xfrm>
            <a:off x="9469936" y="4866827"/>
            <a:ext cx="297656" cy="294953"/>
          </a:xfrm>
          <a:prstGeom prst="rect">
            <a:avLst/>
          </a:prstGeom>
        </p:spPr>
        <p:txBody>
          <a:bodyPr lIns="0" tIns="0" rIns="0" bIns="0" rtlCol="0" anchor="t">
            <a:spAutoFit/>
          </a:bodyPr>
          <a:lstStyle/>
          <a:p>
            <a:pPr algn="ctr">
              <a:lnSpc>
                <a:spcPts val="2312"/>
              </a:lnSpc>
            </a:pPr>
            <a:r>
              <a:rPr lang="en-US" sz="2312" b="1">
                <a:solidFill>
                  <a:srgbClr val="4C4C4D"/>
                </a:solidFill>
                <a:latin typeface="Cambria" panose="02040503050406030204" pitchFamily="18" charset="0"/>
                <a:ea typeface="Crimson Pro Bold"/>
                <a:cs typeface="Crimson Pro Bold"/>
                <a:sym typeface="Crimson Pro Bold"/>
              </a:rPr>
              <a:t>2</a:t>
            </a:r>
          </a:p>
        </p:txBody>
      </p:sp>
      <p:sp>
        <p:nvSpPr>
          <p:cNvPr id="62" name="TextBox 62"/>
          <p:cNvSpPr txBox="1"/>
          <p:nvPr/>
        </p:nvSpPr>
        <p:spPr>
          <a:xfrm>
            <a:off x="9980857" y="4850159"/>
            <a:ext cx="3384947" cy="293341"/>
          </a:xfrm>
          <a:prstGeom prst="rect">
            <a:avLst/>
          </a:prstGeom>
        </p:spPr>
        <p:txBody>
          <a:bodyPr wrap="square" lIns="0" tIns="0" rIns="0" bIns="0" rtlCol="0" anchor="t">
            <a:spAutoFit/>
          </a:bodyPr>
          <a:lstStyle/>
          <a:p>
            <a:pPr algn="l">
              <a:lnSpc>
                <a:spcPts val="2437"/>
              </a:lnSpc>
            </a:pPr>
            <a:r>
              <a:rPr lang="en-US" sz="1937" b="1" dirty="0">
                <a:solidFill>
                  <a:srgbClr val="4C4C4D"/>
                </a:solidFill>
                <a:latin typeface="Cambria" panose="02040503050406030204" pitchFamily="18" charset="0"/>
                <a:ea typeface="Crimson Pro Bold"/>
                <a:cs typeface="Crimson Pro Bold"/>
                <a:sym typeface="Crimson Pro Bold"/>
              </a:rPr>
              <a:t>Cosmos DB Partition Strategy</a:t>
            </a:r>
          </a:p>
        </p:txBody>
      </p:sp>
      <p:sp>
        <p:nvSpPr>
          <p:cNvPr id="63" name="TextBox 63"/>
          <p:cNvSpPr txBox="1"/>
          <p:nvPr/>
        </p:nvSpPr>
        <p:spPr>
          <a:xfrm>
            <a:off x="9980857" y="5289499"/>
            <a:ext cx="7324430" cy="786113"/>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Partition Key /</a:t>
            </a:r>
            <a:r>
              <a:rPr lang="en-US" sz="1562" dirty="0" err="1">
                <a:solidFill>
                  <a:srgbClr val="4C4C4D"/>
                </a:solidFill>
                <a:latin typeface="Cambria" panose="02040503050406030204" pitchFamily="18" charset="0"/>
                <a:ea typeface="Heebo"/>
                <a:cs typeface="Heebo"/>
                <a:sym typeface="Heebo"/>
              </a:rPr>
              <a:t>caseID</a:t>
            </a:r>
            <a:r>
              <a:rPr lang="en-US" sz="1562" dirty="0">
                <a:solidFill>
                  <a:srgbClr val="4C4C4D"/>
                </a:solidFill>
                <a:latin typeface="Cambria" panose="02040503050406030204" pitchFamily="18" charset="0"/>
                <a:ea typeface="Heebo"/>
                <a:cs typeface="Heebo"/>
                <a:sym typeface="Heebo"/>
              </a:rPr>
              <a:t> co-locates all evidence for a case on the same physical replica. Ensures low-latency reads at scale. Azure automatically adds additional physical partitions as volume grows [1].</a:t>
            </a:r>
          </a:p>
        </p:txBody>
      </p:sp>
      <p:grpSp>
        <p:nvGrpSpPr>
          <p:cNvPr id="64" name="Group 64"/>
          <p:cNvGrpSpPr/>
          <p:nvPr/>
        </p:nvGrpSpPr>
        <p:grpSpPr>
          <a:xfrm>
            <a:off x="9395517" y="6424908"/>
            <a:ext cx="446484" cy="446484"/>
            <a:chOff x="0" y="0"/>
            <a:chExt cx="595312" cy="595312"/>
          </a:xfrm>
        </p:grpSpPr>
        <p:sp>
          <p:nvSpPr>
            <p:cNvPr id="65" name="Freeform 65"/>
            <p:cNvSpPr/>
            <p:nvPr/>
          </p:nvSpPr>
          <p:spPr>
            <a:xfrm>
              <a:off x="0" y="0"/>
              <a:ext cx="595376" cy="595376"/>
            </a:xfrm>
            <a:custGeom>
              <a:avLst/>
              <a:gdLst/>
              <a:ahLst/>
              <a:cxnLst/>
              <a:rect l="l" t="t" r="r" b="b"/>
              <a:pathLst>
                <a:path w="595376" h="595376">
                  <a:moveTo>
                    <a:pt x="0" y="39751"/>
                  </a:moveTo>
                  <a:cubicBezTo>
                    <a:pt x="0" y="17780"/>
                    <a:pt x="17780" y="0"/>
                    <a:pt x="39751" y="0"/>
                  </a:cubicBezTo>
                  <a:lnTo>
                    <a:pt x="555625" y="0"/>
                  </a:lnTo>
                  <a:cubicBezTo>
                    <a:pt x="577596" y="0"/>
                    <a:pt x="595376" y="17780"/>
                    <a:pt x="595376" y="39751"/>
                  </a:cubicBezTo>
                  <a:lnTo>
                    <a:pt x="595376" y="555625"/>
                  </a:lnTo>
                  <a:cubicBezTo>
                    <a:pt x="595376" y="577596"/>
                    <a:pt x="577596" y="595376"/>
                    <a:pt x="555625" y="595376"/>
                  </a:cubicBezTo>
                  <a:lnTo>
                    <a:pt x="39751" y="595376"/>
                  </a:lnTo>
                  <a:cubicBezTo>
                    <a:pt x="17780" y="595376"/>
                    <a:pt x="0" y="577596"/>
                    <a:pt x="0" y="555625"/>
                  </a:cubicBezTo>
                  <a:close/>
                </a:path>
              </a:pathLst>
            </a:custGeom>
            <a:solidFill>
              <a:srgbClr val="F2EEEE"/>
            </a:solidFill>
          </p:spPr>
          <p:txBody>
            <a:bodyPr/>
            <a:lstStyle/>
            <a:p>
              <a:endParaRPr lang="en-US">
                <a:latin typeface="Cambria" panose="02040503050406030204" pitchFamily="18" charset="0"/>
              </a:endParaRPr>
            </a:p>
          </p:txBody>
        </p:sp>
      </p:grpSp>
      <p:sp>
        <p:nvSpPr>
          <p:cNvPr id="66" name="TextBox 66"/>
          <p:cNvSpPr txBox="1"/>
          <p:nvPr/>
        </p:nvSpPr>
        <p:spPr>
          <a:xfrm>
            <a:off x="9469936" y="6490697"/>
            <a:ext cx="297656" cy="294953"/>
          </a:xfrm>
          <a:prstGeom prst="rect">
            <a:avLst/>
          </a:prstGeom>
        </p:spPr>
        <p:txBody>
          <a:bodyPr lIns="0" tIns="0" rIns="0" bIns="0" rtlCol="0" anchor="t">
            <a:spAutoFit/>
          </a:bodyPr>
          <a:lstStyle/>
          <a:p>
            <a:pPr algn="ctr">
              <a:lnSpc>
                <a:spcPts val="2312"/>
              </a:lnSpc>
            </a:pPr>
            <a:r>
              <a:rPr lang="en-US" sz="2312" b="1">
                <a:solidFill>
                  <a:srgbClr val="4C4C4D"/>
                </a:solidFill>
                <a:latin typeface="Cambria" panose="02040503050406030204" pitchFamily="18" charset="0"/>
                <a:ea typeface="Crimson Pro Bold"/>
                <a:cs typeface="Crimson Pro Bold"/>
                <a:sym typeface="Crimson Pro Bold"/>
              </a:rPr>
              <a:t>3</a:t>
            </a:r>
          </a:p>
        </p:txBody>
      </p:sp>
      <p:sp>
        <p:nvSpPr>
          <p:cNvPr id="67" name="TextBox 67"/>
          <p:cNvSpPr txBox="1"/>
          <p:nvPr/>
        </p:nvSpPr>
        <p:spPr>
          <a:xfrm>
            <a:off x="9980857" y="6474028"/>
            <a:ext cx="3735143" cy="288412"/>
          </a:xfrm>
          <a:prstGeom prst="rect">
            <a:avLst/>
          </a:prstGeom>
        </p:spPr>
        <p:txBody>
          <a:bodyPr wrap="square" lIns="0" tIns="0" rIns="0" bIns="0" rtlCol="0" anchor="t">
            <a:spAutoFit/>
          </a:bodyPr>
          <a:lstStyle/>
          <a:p>
            <a:pPr algn="l">
              <a:lnSpc>
                <a:spcPts val="2437"/>
              </a:lnSpc>
            </a:pPr>
            <a:r>
              <a:rPr lang="en-US" sz="1937" b="1" dirty="0">
                <a:solidFill>
                  <a:srgbClr val="4C4C4D"/>
                </a:solidFill>
                <a:latin typeface="Cambria" panose="02040503050406030204" pitchFamily="18" charset="0"/>
                <a:ea typeface="Crimson Pro Bold"/>
                <a:cs typeface="Crimson Pro Bold"/>
                <a:sym typeface="Crimson Pro Bold"/>
              </a:rPr>
              <a:t>Independent Component Scaling</a:t>
            </a:r>
          </a:p>
        </p:txBody>
      </p:sp>
      <p:sp>
        <p:nvSpPr>
          <p:cNvPr id="68" name="TextBox 68"/>
          <p:cNvSpPr txBox="1"/>
          <p:nvPr/>
        </p:nvSpPr>
        <p:spPr>
          <a:xfrm>
            <a:off x="9980857" y="6913359"/>
            <a:ext cx="7324430" cy="516808"/>
          </a:xfrm>
          <a:prstGeom prst="rect">
            <a:avLst/>
          </a:prstGeom>
        </p:spPr>
        <p:txBody>
          <a:bodyPr lIns="0" tIns="0" rIns="0" bIns="0" rtlCol="0" anchor="t">
            <a:spAutoFit/>
          </a:bodyPr>
          <a:lstStyle/>
          <a:p>
            <a:pPr algn="l">
              <a:lnSpc>
                <a:spcPts val="2125"/>
              </a:lnSpc>
            </a:pPr>
            <a:r>
              <a:rPr lang="en-US" sz="1562" dirty="0">
                <a:solidFill>
                  <a:srgbClr val="4C4C4D"/>
                </a:solidFill>
                <a:latin typeface="Cambria" panose="02040503050406030204" pitchFamily="18" charset="0"/>
                <a:ea typeface="Heebo"/>
                <a:cs typeface="Heebo"/>
                <a:sym typeface="Heebo"/>
              </a:rPr>
              <a:t>The web frontend and Logic App workers scale completely independently. A burst of 10,000 simultaneous uploads does not degrade gallery browsing performance.</a:t>
            </a:r>
          </a:p>
        </p:txBody>
      </p:sp>
      <p:grpSp>
        <p:nvGrpSpPr>
          <p:cNvPr id="69" name="Group 69"/>
          <p:cNvGrpSpPr/>
          <p:nvPr/>
        </p:nvGrpSpPr>
        <p:grpSpPr>
          <a:xfrm>
            <a:off x="992238" y="8067675"/>
            <a:ext cx="16303523" cy="952500"/>
            <a:chOff x="0" y="0"/>
            <a:chExt cx="21738031" cy="1270000"/>
          </a:xfrm>
          <a:solidFill>
            <a:schemeClr val="bg1">
              <a:lumMod val="95000"/>
            </a:schemeClr>
          </a:solidFill>
        </p:grpSpPr>
        <p:sp>
          <p:nvSpPr>
            <p:cNvPr id="70" name="Freeform 70"/>
            <p:cNvSpPr/>
            <p:nvPr/>
          </p:nvSpPr>
          <p:spPr>
            <a:xfrm>
              <a:off x="0" y="0"/>
              <a:ext cx="21738082" cy="1270000"/>
            </a:xfrm>
            <a:custGeom>
              <a:avLst/>
              <a:gdLst/>
              <a:ahLst/>
              <a:cxnLst/>
              <a:rect l="l" t="t" r="r" b="b"/>
              <a:pathLst>
                <a:path w="21738082" h="1270000">
                  <a:moveTo>
                    <a:pt x="0" y="39751"/>
                  </a:moveTo>
                  <a:cubicBezTo>
                    <a:pt x="0" y="17780"/>
                    <a:pt x="17780" y="0"/>
                    <a:pt x="39751" y="0"/>
                  </a:cubicBezTo>
                  <a:lnTo>
                    <a:pt x="21698331" y="0"/>
                  </a:lnTo>
                  <a:cubicBezTo>
                    <a:pt x="21720302" y="0"/>
                    <a:pt x="21738082" y="17780"/>
                    <a:pt x="21738082" y="39751"/>
                  </a:cubicBezTo>
                  <a:lnTo>
                    <a:pt x="21738082" y="1230249"/>
                  </a:lnTo>
                  <a:cubicBezTo>
                    <a:pt x="21738082" y="1252220"/>
                    <a:pt x="21720302" y="1270000"/>
                    <a:pt x="21698331" y="1270000"/>
                  </a:cubicBezTo>
                  <a:lnTo>
                    <a:pt x="39751" y="1270000"/>
                  </a:lnTo>
                  <a:cubicBezTo>
                    <a:pt x="17780" y="1270000"/>
                    <a:pt x="0" y="1252220"/>
                    <a:pt x="0" y="1230249"/>
                  </a:cubicBezTo>
                  <a:close/>
                </a:path>
              </a:pathLst>
            </a:custGeom>
            <a:grpFill/>
          </p:spPr>
          <p:txBody>
            <a:bodyPr/>
            <a:lstStyle/>
            <a:p>
              <a:endParaRPr lang="en-US">
                <a:latin typeface="Cambria" panose="02040503050406030204" pitchFamily="18" charset="0"/>
              </a:endParaRPr>
            </a:p>
          </p:txBody>
        </p:sp>
      </p:grpSp>
      <p:grpSp>
        <p:nvGrpSpPr>
          <p:cNvPr id="71" name="Group 71"/>
          <p:cNvGrpSpPr/>
          <p:nvPr/>
        </p:nvGrpSpPr>
        <p:grpSpPr>
          <a:xfrm>
            <a:off x="1190625" y="8332441"/>
            <a:ext cx="247945" cy="198387"/>
            <a:chOff x="0" y="0"/>
            <a:chExt cx="330594" cy="264516"/>
          </a:xfrm>
        </p:grpSpPr>
        <p:sp>
          <p:nvSpPr>
            <p:cNvPr id="72" name="Freeform 72" descr="preencoded.png"/>
            <p:cNvSpPr/>
            <p:nvPr/>
          </p:nvSpPr>
          <p:spPr>
            <a:xfrm>
              <a:off x="0" y="0"/>
              <a:ext cx="330581" cy="264541"/>
            </a:xfrm>
            <a:custGeom>
              <a:avLst/>
              <a:gdLst/>
              <a:ahLst/>
              <a:cxnLst/>
              <a:rect l="l" t="t" r="r" b="b"/>
              <a:pathLst>
                <a:path w="330581" h="264541">
                  <a:moveTo>
                    <a:pt x="0" y="0"/>
                  </a:moveTo>
                  <a:lnTo>
                    <a:pt x="330581" y="0"/>
                  </a:lnTo>
                  <a:lnTo>
                    <a:pt x="330581" y="264541"/>
                  </a:lnTo>
                  <a:lnTo>
                    <a:pt x="0" y="264541"/>
                  </a:lnTo>
                  <a:lnTo>
                    <a:pt x="0" y="0"/>
                  </a:lnTo>
                  <a:close/>
                </a:path>
              </a:pathLst>
            </a:custGeom>
            <a:blipFill>
              <a:blip r:embed="rId3"/>
              <a:stretch>
                <a:fillRect t="-475" r="-3" b="-460"/>
              </a:stretch>
            </a:blipFill>
          </p:spPr>
          <p:txBody>
            <a:bodyPr/>
            <a:lstStyle/>
            <a:p>
              <a:endParaRPr lang="en-US">
                <a:latin typeface="Cambria" panose="02040503050406030204" pitchFamily="18" charset="0"/>
              </a:endParaRPr>
            </a:p>
          </p:txBody>
        </p:sp>
      </p:grpSp>
      <p:sp>
        <p:nvSpPr>
          <p:cNvPr id="73" name="TextBox 73"/>
          <p:cNvSpPr txBox="1"/>
          <p:nvPr/>
        </p:nvSpPr>
        <p:spPr>
          <a:xfrm>
            <a:off x="1636957" y="8227514"/>
            <a:ext cx="15460418" cy="516808"/>
          </a:xfrm>
          <a:prstGeom prst="rect">
            <a:avLst/>
          </a:prstGeom>
        </p:spPr>
        <p:txBody>
          <a:bodyPr lIns="0" tIns="0" rIns="0" bIns="0" rtlCol="0" anchor="t">
            <a:spAutoFit/>
          </a:bodyPr>
          <a:lstStyle/>
          <a:p>
            <a:pPr algn="l">
              <a:lnSpc>
                <a:spcPts val="2125"/>
              </a:lnSpc>
            </a:pPr>
            <a:r>
              <a:rPr lang="en-US" sz="1562" b="1" dirty="0">
                <a:solidFill>
                  <a:srgbClr val="000000"/>
                </a:solidFill>
                <a:latin typeface="Cambria" panose="02040503050406030204" pitchFamily="18" charset="0"/>
                <a:ea typeface="Heebo Bold"/>
                <a:cs typeface="Heebo Bold"/>
                <a:sym typeface="Heebo Bold"/>
              </a:rPr>
              <a:t>Real-World Zero-Day Scenario:</a:t>
            </a:r>
            <a:r>
              <a:rPr lang="en-US" sz="1562" dirty="0">
                <a:solidFill>
                  <a:srgbClr val="000000"/>
                </a:solidFill>
                <a:latin typeface="Cambria" panose="02040503050406030204" pitchFamily="18" charset="0"/>
                <a:ea typeface="Heebo"/>
                <a:cs typeface="Heebo"/>
                <a:sym typeface="Heebo"/>
              </a:rPr>
              <a:t> During a major CVE disclosure, ThreatVault auto-scales Logic App instances from 1→50 within seconds, Cosmos DB auto-adjusts from 400→40,000 RU/s, and Blob Storage absorbs unlimited concurrent uploads — all with zero operator intervention.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992238" y="1273673"/>
            <a:ext cx="16294036" cy="666849"/>
          </a:xfrm>
          <a:prstGeom prst="rect">
            <a:avLst/>
          </a:prstGeom>
        </p:spPr>
        <p:txBody>
          <a:bodyPr wrap="square" lIns="0" tIns="0" rIns="0" bIns="0" rtlCol="0" anchor="t">
            <a:spAutoFit/>
          </a:bodyPr>
          <a:lstStyle/>
          <a:p>
            <a:pPr algn="l">
              <a:lnSpc>
                <a:spcPts val="5187"/>
              </a:lnSpc>
            </a:pPr>
            <a:r>
              <a:rPr lang="en-US" sz="4400" b="1" dirty="0">
                <a:solidFill>
                  <a:srgbClr val="152D47"/>
                </a:solidFill>
                <a:latin typeface="Cambria" panose="02040503050406030204" pitchFamily="18" charset="0"/>
                <a:ea typeface="Crimson Pro Bold"/>
                <a:cs typeface="Crimson Pro Bold"/>
                <a:sym typeface="Crimson Pro Bold"/>
              </a:rPr>
              <a:t>Cloud-Native Patterns: Trade-offs &amp; Future Evolution</a:t>
            </a:r>
          </a:p>
        </p:txBody>
      </p:sp>
      <p:sp>
        <p:nvSpPr>
          <p:cNvPr id="7" name="TextBox 7"/>
          <p:cNvSpPr txBox="1"/>
          <p:nvPr/>
        </p:nvSpPr>
        <p:spPr>
          <a:xfrm>
            <a:off x="992238" y="2257130"/>
            <a:ext cx="16303523" cy="268600"/>
          </a:xfrm>
          <a:prstGeom prst="rect">
            <a:avLst/>
          </a:prstGeom>
        </p:spPr>
        <p:txBody>
          <a:bodyPr lIns="0" tIns="0" rIns="0" bIns="0" rtlCol="0" anchor="t">
            <a:spAutoFit/>
          </a:bodyPr>
          <a:lstStyle/>
          <a:p>
            <a:pPr algn="l">
              <a:lnSpc>
                <a:spcPts val="2312"/>
              </a:lnSpc>
            </a:pPr>
            <a:r>
              <a:rPr lang="en-US" sz="1625" dirty="0">
                <a:solidFill>
                  <a:srgbClr val="4C4C4D"/>
                </a:solidFill>
                <a:latin typeface="Cambria" panose="02040503050406030204" pitchFamily="18" charset="0"/>
                <a:ea typeface="Heebo"/>
                <a:cs typeface="Heebo"/>
                <a:sym typeface="Heebo"/>
              </a:rPr>
              <a:t>ThreatVault deliberately applies multiple cloud-native architectural patterns, each with clear benefits and trade-offs.</a:t>
            </a:r>
          </a:p>
        </p:txBody>
      </p:sp>
      <p:grpSp>
        <p:nvGrpSpPr>
          <p:cNvPr id="8" name="Group 8"/>
          <p:cNvGrpSpPr/>
          <p:nvPr/>
        </p:nvGrpSpPr>
        <p:grpSpPr>
          <a:xfrm>
            <a:off x="987476" y="2767460"/>
            <a:ext cx="16313048" cy="3373041"/>
            <a:chOff x="0" y="0"/>
            <a:chExt cx="21750731" cy="4497388"/>
          </a:xfrm>
        </p:grpSpPr>
        <p:sp>
          <p:nvSpPr>
            <p:cNvPr id="9" name="Freeform 9"/>
            <p:cNvSpPr/>
            <p:nvPr/>
          </p:nvSpPr>
          <p:spPr>
            <a:xfrm>
              <a:off x="0" y="0"/>
              <a:ext cx="21750782" cy="4497451"/>
            </a:xfrm>
            <a:custGeom>
              <a:avLst/>
              <a:gdLst/>
              <a:ahLst/>
              <a:cxnLst/>
              <a:rect l="l" t="t" r="r" b="b"/>
              <a:pathLst>
                <a:path w="21750782" h="4497451">
                  <a:moveTo>
                    <a:pt x="0" y="48895"/>
                  </a:moveTo>
                  <a:cubicBezTo>
                    <a:pt x="0" y="21844"/>
                    <a:pt x="21971" y="0"/>
                    <a:pt x="49022" y="0"/>
                  </a:cubicBezTo>
                  <a:lnTo>
                    <a:pt x="21701761" y="0"/>
                  </a:lnTo>
                  <a:lnTo>
                    <a:pt x="21701761" y="6350"/>
                  </a:lnTo>
                  <a:lnTo>
                    <a:pt x="21701761" y="0"/>
                  </a:lnTo>
                  <a:cubicBezTo>
                    <a:pt x="21728812" y="0"/>
                    <a:pt x="21750782" y="21844"/>
                    <a:pt x="21750782" y="48895"/>
                  </a:cubicBezTo>
                  <a:lnTo>
                    <a:pt x="21744432" y="48895"/>
                  </a:lnTo>
                  <a:lnTo>
                    <a:pt x="21750782" y="48895"/>
                  </a:lnTo>
                  <a:lnTo>
                    <a:pt x="21750782" y="4448556"/>
                  </a:lnTo>
                  <a:lnTo>
                    <a:pt x="21744432" y="4448556"/>
                  </a:lnTo>
                  <a:lnTo>
                    <a:pt x="21750782" y="4448556"/>
                  </a:lnTo>
                  <a:cubicBezTo>
                    <a:pt x="21750782" y="4475607"/>
                    <a:pt x="21728812" y="4497451"/>
                    <a:pt x="21701761" y="4497451"/>
                  </a:cubicBezTo>
                  <a:lnTo>
                    <a:pt x="21701761" y="4491101"/>
                  </a:lnTo>
                  <a:lnTo>
                    <a:pt x="21701761" y="4497451"/>
                  </a:lnTo>
                  <a:lnTo>
                    <a:pt x="49022" y="4497451"/>
                  </a:lnTo>
                  <a:lnTo>
                    <a:pt x="49022" y="4491101"/>
                  </a:lnTo>
                  <a:lnTo>
                    <a:pt x="49022" y="4497451"/>
                  </a:lnTo>
                  <a:cubicBezTo>
                    <a:pt x="21971" y="4497451"/>
                    <a:pt x="0" y="4475607"/>
                    <a:pt x="0" y="4448556"/>
                  </a:cubicBezTo>
                  <a:lnTo>
                    <a:pt x="0" y="48895"/>
                  </a:lnTo>
                  <a:lnTo>
                    <a:pt x="6350" y="48895"/>
                  </a:lnTo>
                  <a:lnTo>
                    <a:pt x="0" y="48895"/>
                  </a:lnTo>
                  <a:moveTo>
                    <a:pt x="12700" y="48895"/>
                  </a:moveTo>
                  <a:lnTo>
                    <a:pt x="12700" y="4448556"/>
                  </a:lnTo>
                  <a:lnTo>
                    <a:pt x="6350" y="4448556"/>
                  </a:lnTo>
                  <a:lnTo>
                    <a:pt x="12700" y="4448556"/>
                  </a:lnTo>
                  <a:cubicBezTo>
                    <a:pt x="12700" y="4468495"/>
                    <a:pt x="28956" y="4484751"/>
                    <a:pt x="49022" y="4484751"/>
                  </a:cubicBezTo>
                  <a:lnTo>
                    <a:pt x="21701761" y="4484751"/>
                  </a:lnTo>
                  <a:cubicBezTo>
                    <a:pt x="21721826" y="4484751"/>
                    <a:pt x="21738082" y="4468495"/>
                    <a:pt x="21738082" y="4448556"/>
                  </a:cubicBezTo>
                  <a:lnTo>
                    <a:pt x="21738082" y="48895"/>
                  </a:lnTo>
                  <a:cubicBezTo>
                    <a:pt x="21738082" y="28956"/>
                    <a:pt x="21721826" y="12700"/>
                    <a:pt x="21701761" y="12700"/>
                  </a:cubicBezTo>
                  <a:lnTo>
                    <a:pt x="49022" y="12700"/>
                  </a:lnTo>
                  <a:lnTo>
                    <a:pt x="49022" y="6350"/>
                  </a:lnTo>
                  <a:lnTo>
                    <a:pt x="49022" y="12700"/>
                  </a:lnTo>
                  <a:cubicBezTo>
                    <a:pt x="28956" y="12700"/>
                    <a:pt x="12700" y="28956"/>
                    <a:pt x="12700" y="48895"/>
                  </a:cubicBezTo>
                  <a:close/>
                </a:path>
              </a:pathLst>
            </a:custGeom>
            <a:solidFill>
              <a:srgbClr val="000000">
                <a:alpha val="392"/>
              </a:srgbClr>
            </a:solidFill>
          </p:spPr>
          <p:txBody>
            <a:bodyPr/>
            <a:lstStyle/>
            <a:p>
              <a:endParaRPr lang="en-US">
                <a:latin typeface="Cambria" panose="02040503050406030204" pitchFamily="18" charset="0"/>
              </a:endParaRPr>
            </a:p>
          </p:txBody>
        </p:sp>
      </p:grpSp>
      <p:grpSp>
        <p:nvGrpSpPr>
          <p:cNvPr id="10" name="Group 10"/>
          <p:cNvGrpSpPr/>
          <p:nvPr/>
        </p:nvGrpSpPr>
        <p:grpSpPr>
          <a:xfrm>
            <a:off x="1001763" y="2781748"/>
            <a:ext cx="16284473" cy="507797"/>
            <a:chOff x="0" y="0"/>
            <a:chExt cx="21712631" cy="677062"/>
          </a:xfrm>
        </p:grpSpPr>
        <p:sp>
          <p:nvSpPr>
            <p:cNvPr id="11" name="Freeform 11"/>
            <p:cNvSpPr/>
            <p:nvPr/>
          </p:nvSpPr>
          <p:spPr>
            <a:xfrm>
              <a:off x="0" y="0"/>
              <a:ext cx="21712682" cy="677037"/>
            </a:xfrm>
            <a:custGeom>
              <a:avLst/>
              <a:gdLst/>
              <a:ahLst/>
              <a:cxnLst/>
              <a:rect l="l" t="t" r="r" b="b"/>
              <a:pathLst>
                <a:path w="21712682" h="677037">
                  <a:moveTo>
                    <a:pt x="0" y="0"/>
                  </a:moveTo>
                  <a:lnTo>
                    <a:pt x="21712682" y="0"/>
                  </a:lnTo>
                  <a:lnTo>
                    <a:pt x="21712682" y="677037"/>
                  </a:lnTo>
                  <a:lnTo>
                    <a:pt x="0" y="677037"/>
                  </a:lnTo>
                  <a:close/>
                </a:path>
              </a:pathLst>
            </a:custGeom>
            <a:solidFill>
              <a:srgbClr val="FFFFFF">
                <a:alpha val="0"/>
              </a:srgbClr>
            </a:solidFill>
          </p:spPr>
          <p:txBody>
            <a:bodyPr/>
            <a:lstStyle/>
            <a:p>
              <a:endParaRPr lang="en-US">
                <a:latin typeface="Cambria" panose="02040503050406030204" pitchFamily="18" charset="0"/>
              </a:endParaRPr>
            </a:p>
          </p:txBody>
        </p:sp>
      </p:grpSp>
      <p:sp>
        <p:nvSpPr>
          <p:cNvPr id="12" name="TextBox 12"/>
          <p:cNvSpPr txBox="1"/>
          <p:nvPr/>
        </p:nvSpPr>
        <p:spPr>
          <a:xfrm>
            <a:off x="1214590" y="2848718"/>
            <a:ext cx="2501351" cy="268600"/>
          </a:xfrm>
          <a:prstGeom prst="rect">
            <a:avLst/>
          </a:prstGeom>
        </p:spPr>
        <p:txBody>
          <a:bodyPr lIns="0" tIns="0" rIns="0" bIns="0" rtlCol="0" anchor="t">
            <a:spAutoFit/>
          </a:bodyPr>
          <a:lstStyle/>
          <a:p>
            <a:pPr algn="l">
              <a:lnSpc>
                <a:spcPts val="2312"/>
              </a:lnSpc>
            </a:pPr>
            <a:r>
              <a:rPr lang="en-US" sz="1625" b="1" dirty="0">
                <a:solidFill>
                  <a:srgbClr val="4C4C4D"/>
                </a:solidFill>
                <a:latin typeface="Cambria" panose="02040503050406030204" pitchFamily="18" charset="0"/>
                <a:ea typeface="Heebo Bold"/>
                <a:cs typeface="Heebo Bold"/>
                <a:sym typeface="Heebo Bold"/>
              </a:rPr>
              <a:t>Pattern</a:t>
            </a:r>
          </a:p>
        </p:txBody>
      </p:sp>
      <p:sp>
        <p:nvSpPr>
          <p:cNvPr id="13" name="TextBox 13"/>
          <p:cNvSpPr txBox="1"/>
          <p:nvPr/>
        </p:nvSpPr>
        <p:spPr>
          <a:xfrm>
            <a:off x="4150519" y="2848718"/>
            <a:ext cx="2822229" cy="268600"/>
          </a:xfrm>
          <a:prstGeom prst="rect">
            <a:avLst/>
          </a:prstGeom>
        </p:spPr>
        <p:txBody>
          <a:bodyPr lIns="0" tIns="0" rIns="0" bIns="0" rtlCol="0" anchor="t">
            <a:spAutoFit/>
          </a:bodyPr>
          <a:lstStyle/>
          <a:p>
            <a:pPr algn="l">
              <a:lnSpc>
                <a:spcPts val="2312"/>
              </a:lnSpc>
            </a:pPr>
            <a:r>
              <a:rPr lang="en-US" sz="1625" b="1" dirty="0">
                <a:solidFill>
                  <a:srgbClr val="4C4C4D"/>
                </a:solidFill>
                <a:latin typeface="Cambria" panose="02040503050406030204" pitchFamily="18" charset="0"/>
                <a:ea typeface="Heebo Bold"/>
                <a:cs typeface="Heebo Bold"/>
                <a:sym typeface="Heebo Bold"/>
              </a:rPr>
              <a:t>Applied In</a:t>
            </a:r>
          </a:p>
        </p:txBody>
      </p:sp>
      <p:sp>
        <p:nvSpPr>
          <p:cNvPr id="14" name="TextBox 14"/>
          <p:cNvSpPr txBox="1"/>
          <p:nvPr/>
        </p:nvSpPr>
        <p:spPr>
          <a:xfrm>
            <a:off x="7407326" y="2848718"/>
            <a:ext cx="4450709" cy="268600"/>
          </a:xfrm>
          <a:prstGeom prst="rect">
            <a:avLst/>
          </a:prstGeom>
        </p:spPr>
        <p:txBody>
          <a:bodyPr lIns="0" tIns="0" rIns="0" bIns="0" rtlCol="0" anchor="t">
            <a:spAutoFit/>
          </a:bodyPr>
          <a:lstStyle/>
          <a:p>
            <a:pPr algn="l">
              <a:lnSpc>
                <a:spcPts val="2312"/>
              </a:lnSpc>
            </a:pPr>
            <a:r>
              <a:rPr lang="en-US" sz="1625" b="1">
                <a:solidFill>
                  <a:srgbClr val="4C4C4D"/>
                </a:solidFill>
                <a:latin typeface="Cambria" panose="02040503050406030204" pitchFamily="18" charset="0"/>
                <a:ea typeface="Heebo Bold"/>
                <a:cs typeface="Heebo Bold"/>
                <a:sym typeface="Heebo Bold"/>
              </a:rPr>
              <a:t>Benefit</a:t>
            </a:r>
          </a:p>
        </p:txBody>
      </p:sp>
      <p:sp>
        <p:nvSpPr>
          <p:cNvPr id="15" name="TextBox 15"/>
          <p:cNvSpPr txBox="1"/>
          <p:nvPr/>
        </p:nvSpPr>
        <p:spPr>
          <a:xfrm>
            <a:off x="12292603" y="2848718"/>
            <a:ext cx="4781102" cy="268600"/>
          </a:xfrm>
          <a:prstGeom prst="rect">
            <a:avLst/>
          </a:prstGeom>
        </p:spPr>
        <p:txBody>
          <a:bodyPr lIns="0" tIns="0" rIns="0" bIns="0" rtlCol="0" anchor="t">
            <a:spAutoFit/>
          </a:bodyPr>
          <a:lstStyle/>
          <a:p>
            <a:pPr algn="l">
              <a:lnSpc>
                <a:spcPts val="2312"/>
              </a:lnSpc>
            </a:pPr>
            <a:r>
              <a:rPr lang="en-US" sz="1625" b="1">
                <a:solidFill>
                  <a:srgbClr val="4C4C4D"/>
                </a:solidFill>
                <a:latin typeface="Cambria" panose="02040503050406030204" pitchFamily="18" charset="0"/>
                <a:ea typeface="Heebo Bold"/>
                <a:cs typeface="Heebo Bold"/>
                <a:sym typeface="Heebo Bold"/>
              </a:rPr>
              <a:t>Trade-off</a:t>
            </a:r>
          </a:p>
        </p:txBody>
      </p:sp>
      <p:sp>
        <p:nvSpPr>
          <p:cNvPr id="18" name="TextBox 18"/>
          <p:cNvSpPr txBox="1"/>
          <p:nvPr/>
        </p:nvSpPr>
        <p:spPr>
          <a:xfrm>
            <a:off x="1214590" y="3356524"/>
            <a:ext cx="2501351"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Serverless (Logic Apps)</a:t>
            </a:r>
          </a:p>
        </p:txBody>
      </p:sp>
      <p:sp>
        <p:nvSpPr>
          <p:cNvPr id="19" name="TextBox 19"/>
          <p:cNvSpPr txBox="1"/>
          <p:nvPr/>
        </p:nvSpPr>
        <p:spPr>
          <a:xfrm>
            <a:off x="4150519" y="3356524"/>
            <a:ext cx="2822229" cy="268600"/>
          </a:xfrm>
          <a:prstGeom prst="rect">
            <a:avLst/>
          </a:prstGeom>
        </p:spPr>
        <p:txBody>
          <a:bodyPr lIns="0" tIns="0" rIns="0" bIns="0" rtlCol="0" anchor="t">
            <a:spAutoFit/>
          </a:bodyPr>
          <a:lstStyle/>
          <a:p>
            <a:pPr algn="l">
              <a:lnSpc>
                <a:spcPts val="2312"/>
              </a:lnSpc>
            </a:pPr>
            <a:r>
              <a:rPr lang="en-US" sz="1625" dirty="0">
                <a:solidFill>
                  <a:srgbClr val="4C4C4D"/>
                </a:solidFill>
                <a:latin typeface="Cambria" panose="02040503050406030204" pitchFamily="18" charset="0"/>
                <a:ea typeface="Heebo"/>
                <a:cs typeface="Heebo"/>
                <a:sym typeface="Heebo"/>
              </a:rPr>
              <a:t>API orchestration</a:t>
            </a:r>
          </a:p>
        </p:txBody>
      </p:sp>
      <p:sp>
        <p:nvSpPr>
          <p:cNvPr id="20" name="TextBox 20"/>
          <p:cNvSpPr txBox="1"/>
          <p:nvPr/>
        </p:nvSpPr>
        <p:spPr>
          <a:xfrm>
            <a:off x="7407326" y="3356524"/>
            <a:ext cx="445070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Auto-granular scaling; pay-per-execution</a:t>
            </a:r>
          </a:p>
        </p:txBody>
      </p:sp>
      <p:sp>
        <p:nvSpPr>
          <p:cNvPr id="21" name="TextBox 21"/>
          <p:cNvSpPr txBox="1"/>
          <p:nvPr/>
        </p:nvSpPr>
        <p:spPr>
          <a:xfrm>
            <a:off x="12292603" y="3356524"/>
            <a:ext cx="4781102" cy="563552"/>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Cold start latency; unsuitable for long-running processes</a:t>
            </a:r>
          </a:p>
        </p:txBody>
      </p:sp>
      <p:sp>
        <p:nvSpPr>
          <p:cNvPr id="24" name="TextBox 24"/>
          <p:cNvSpPr txBox="1"/>
          <p:nvPr/>
        </p:nvSpPr>
        <p:spPr>
          <a:xfrm>
            <a:off x="1214590" y="4161977"/>
            <a:ext cx="2501351"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PaaS (App Service)</a:t>
            </a:r>
          </a:p>
        </p:txBody>
      </p:sp>
      <p:sp>
        <p:nvSpPr>
          <p:cNvPr id="25" name="TextBox 25"/>
          <p:cNvSpPr txBox="1"/>
          <p:nvPr/>
        </p:nvSpPr>
        <p:spPr>
          <a:xfrm>
            <a:off x="4150519" y="4161977"/>
            <a:ext cx="282222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Frontend hosting</a:t>
            </a:r>
          </a:p>
        </p:txBody>
      </p:sp>
      <p:sp>
        <p:nvSpPr>
          <p:cNvPr id="26" name="TextBox 26"/>
          <p:cNvSpPr txBox="1"/>
          <p:nvPr/>
        </p:nvSpPr>
        <p:spPr>
          <a:xfrm>
            <a:off x="7407326" y="4161977"/>
            <a:ext cx="445070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Auto-patch; integrated CI/CD</a:t>
            </a:r>
          </a:p>
        </p:txBody>
      </p:sp>
      <p:sp>
        <p:nvSpPr>
          <p:cNvPr id="27" name="TextBox 27"/>
          <p:cNvSpPr txBox="1"/>
          <p:nvPr/>
        </p:nvSpPr>
        <p:spPr>
          <a:xfrm>
            <a:off x="12292603" y="4161977"/>
            <a:ext cx="4781102"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Reduced OS-level control compared to VMs</a:t>
            </a:r>
          </a:p>
        </p:txBody>
      </p:sp>
      <p:grpSp>
        <p:nvGrpSpPr>
          <p:cNvPr id="28" name="Group 28"/>
          <p:cNvGrpSpPr/>
          <p:nvPr/>
        </p:nvGrpSpPr>
        <p:grpSpPr>
          <a:xfrm>
            <a:off x="1001763" y="4602804"/>
            <a:ext cx="16284473" cy="507797"/>
            <a:chOff x="0" y="0"/>
            <a:chExt cx="21712631" cy="677062"/>
          </a:xfrm>
        </p:grpSpPr>
        <p:sp>
          <p:nvSpPr>
            <p:cNvPr id="29" name="Freeform 29"/>
            <p:cNvSpPr/>
            <p:nvPr/>
          </p:nvSpPr>
          <p:spPr>
            <a:xfrm>
              <a:off x="0" y="0"/>
              <a:ext cx="21712682" cy="677037"/>
            </a:xfrm>
            <a:custGeom>
              <a:avLst/>
              <a:gdLst/>
              <a:ahLst/>
              <a:cxnLst/>
              <a:rect l="l" t="t" r="r" b="b"/>
              <a:pathLst>
                <a:path w="21712682" h="677037">
                  <a:moveTo>
                    <a:pt x="0" y="0"/>
                  </a:moveTo>
                  <a:lnTo>
                    <a:pt x="21712682" y="0"/>
                  </a:lnTo>
                  <a:lnTo>
                    <a:pt x="21712682" y="677037"/>
                  </a:lnTo>
                  <a:lnTo>
                    <a:pt x="0" y="677037"/>
                  </a:lnTo>
                  <a:close/>
                </a:path>
              </a:pathLst>
            </a:custGeom>
            <a:solidFill>
              <a:srgbClr val="000000">
                <a:alpha val="0"/>
              </a:srgbClr>
            </a:solidFill>
          </p:spPr>
          <p:txBody>
            <a:bodyPr/>
            <a:lstStyle/>
            <a:p>
              <a:endParaRPr lang="en-US">
                <a:latin typeface="Cambria" panose="02040503050406030204" pitchFamily="18" charset="0"/>
              </a:endParaRPr>
            </a:p>
          </p:txBody>
        </p:sp>
      </p:grpSp>
      <p:sp>
        <p:nvSpPr>
          <p:cNvPr id="30" name="TextBox 30"/>
          <p:cNvSpPr txBox="1"/>
          <p:nvPr/>
        </p:nvSpPr>
        <p:spPr>
          <a:xfrm>
            <a:off x="1214590" y="4669784"/>
            <a:ext cx="2501351"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NoSQL (Cosmos DB)</a:t>
            </a:r>
          </a:p>
        </p:txBody>
      </p:sp>
      <p:sp>
        <p:nvSpPr>
          <p:cNvPr id="31" name="TextBox 31"/>
          <p:cNvSpPr txBox="1"/>
          <p:nvPr/>
        </p:nvSpPr>
        <p:spPr>
          <a:xfrm>
            <a:off x="4150519" y="4669784"/>
            <a:ext cx="282222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Evidence metadata</a:t>
            </a:r>
          </a:p>
        </p:txBody>
      </p:sp>
      <p:sp>
        <p:nvSpPr>
          <p:cNvPr id="32" name="TextBox 32"/>
          <p:cNvSpPr txBox="1"/>
          <p:nvPr/>
        </p:nvSpPr>
        <p:spPr>
          <a:xfrm>
            <a:off x="7407326" y="4669784"/>
            <a:ext cx="445070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Scales reads AND writes; flexible schema</a:t>
            </a:r>
          </a:p>
        </p:txBody>
      </p:sp>
      <p:sp>
        <p:nvSpPr>
          <p:cNvPr id="33" name="TextBox 33"/>
          <p:cNvSpPr txBox="1"/>
          <p:nvPr/>
        </p:nvSpPr>
        <p:spPr>
          <a:xfrm>
            <a:off x="12292603" y="4669784"/>
            <a:ext cx="4781102"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Eventual consistency; complex query model</a:t>
            </a:r>
          </a:p>
        </p:txBody>
      </p:sp>
      <p:sp>
        <p:nvSpPr>
          <p:cNvPr id="36" name="TextBox 36"/>
          <p:cNvSpPr txBox="1"/>
          <p:nvPr/>
        </p:nvSpPr>
        <p:spPr>
          <a:xfrm>
            <a:off x="1214590" y="5177580"/>
            <a:ext cx="2501351"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SQL (Azure SQL)</a:t>
            </a:r>
          </a:p>
        </p:txBody>
      </p:sp>
      <p:sp>
        <p:nvSpPr>
          <p:cNvPr id="37" name="TextBox 37"/>
          <p:cNvSpPr txBox="1"/>
          <p:nvPr/>
        </p:nvSpPr>
        <p:spPr>
          <a:xfrm>
            <a:off x="4150519" y="5177580"/>
            <a:ext cx="282222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User/case management</a:t>
            </a:r>
          </a:p>
        </p:txBody>
      </p:sp>
      <p:sp>
        <p:nvSpPr>
          <p:cNvPr id="38" name="TextBox 38"/>
          <p:cNvSpPr txBox="1"/>
          <p:nvPr/>
        </p:nvSpPr>
        <p:spPr>
          <a:xfrm>
            <a:off x="7407326" y="5177580"/>
            <a:ext cx="445070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ACID transactions; complex joins</a:t>
            </a:r>
          </a:p>
        </p:txBody>
      </p:sp>
      <p:sp>
        <p:nvSpPr>
          <p:cNvPr id="39" name="TextBox 39"/>
          <p:cNvSpPr txBox="1"/>
          <p:nvPr/>
        </p:nvSpPr>
        <p:spPr>
          <a:xfrm>
            <a:off x="12292603" y="5177580"/>
            <a:ext cx="4781102"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Moderate scalability; difficult write scaling</a:t>
            </a:r>
          </a:p>
        </p:txBody>
      </p:sp>
      <p:sp>
        <p:nvSpPr>
          <p:cNvPr id="42" name="TextBox 42"/>
          <p:cNvSpPr txBox="1"/>
          <p:nvPr/>
        </p:nvSpPr>
        <p:spPr>
          <a:xfrm>
            <a:off x="1214590" y="5685387"/>
            <a:ext cx="2501351"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Separation of Concerns</a:t>
            </a:r>
          </a:p>
        </p:txBody>
      </p:sp>
      <p:sp>
        <p:nvSpPr>
          <p:cNvPr id="43" name="TextBox 43"/>
          <p:cNvSpPr txBox="1"/>
          <p:nvPr/>
        </p:nvSpPr>
        <p:spPr>
          <a:xfrm>
            <a:off x="4150519" y="5685387"/>
            <a:ext cx="282222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One Logic App per operation</a:t>
            </a:r>
          </a:p>
        </p:txBody>
      </p:sp>
      <p:sp>
        <p:nvSpPr>
          <p:cNvPr id="44" name="TextBox 44"/>
          <p:cNvSpPr txBox="1"/>
          <p:nvPr/>
        </p:nvSpPr>
        <p:spPr>
          <a:xfrm>
            <a:off x="7407326" y="5685387"/>
            <a:ext cx="4450709" cy="268600"/>
          </a:xfrm>
          <a:prstGeom prst="rect">
            <a:avLst/>
          </a:prstGeom>
        </p:spPr>
        <p:txBody>
          <a:bodyPr lIns="0" tIns="0" rIns="0" bIns="0" rtlCol="0" anchor="t">
            <a:spAutoFit/>
          </a:bodyPr>
          <a:lstStyle/>
          <a:p>
            <a:pPr algn="l">
              <a:lnSpc>
                <a:spcPts val="2312"/>
              </a:lnSpc>
            </a:pPr>
            <a:r>
              <a:rPr lang="en-US" sz="1625">
                <a:solidFill>
                  <a:srgbClr val="4C4C4D"/>
                </a:solidFill>
                <a:latin typeface="Cambria" panose="02040503050406030204" pitchFamily="18" charset="0"/>
                <a:ea typeface="Heebo"/>
                <a:cs typeface="Heebo"/>
                <a:sym typeface="Heebo"/>
              </a:rPr>
              <a:t>Independent deployment; fault isolation</a:t>
            </a:r>
          </a:p>
        </p:txBody>
      </p:sp>
      <p:sp>
        <p:nvSpPr>
          <p:cNvPr id="45" name="TextBox 45"/>
          <p:cNvSpPr txBox="1"/>
          <p:nvPr/>
        </p:nvSpPr>
        <p:spPr>
          <a:xfrm>
            <a:off x="12292603" y="5685387"/>
            <a:ext cx="4781102" cy="268600"/>
          </a:xfrm>
          <a:prstGeom prst="rect">
            <a:avLst/>
          </a:prstGeom>
        </p:spPr>
        <p:txBody>
          <a:bodyPr lIns="0" tIns="0" rIns="0" bIns="0" rtlCol="0" anchor="t">
            <a:spAutoFit/>
          </a:bodyPr>
          <a:lstStyle/>
          <a:p>
            <a:pPr>
              <a:lnSpc>
                <a:spcPts val="2312"/>
              </a:lnSpc>
            </a:pPr>
            <a:r>
              <a:rPr lang="en-US" sz="1625" dirty="0">
                <a:solidFill>
                  <a:srgbClr val="4C4C4D"/>
                </a:solidFill>
                <a:latin typeface="Cambria" panose="02040503050406030204" pitchFamily="18" charset="0"/>
                <a:ea typeface="Heebo"/>
                <a:cs typeface="Heebo"/>
                <a:sym typeface="Heebo"/>
              </a:rPr>
              <a:t>More resources to manage and monitor [20] </a:t>
            </a:r>
          </a:p>
        </p:txBody>
      </p:sp>
      <p:sp>
        <p:nvSpPr>
          <p:cNvPr id="46" name="TextBox 46"/>
          <p:cNvSpPr txBox="1"/>
          <p:nvPr/>
        </p:nvSpPr>
        <p:spPr>
          <a:xfrm>
            <a:off x="992238" y="6455416"/>
            <a:ext cx="4722762" cy="311432"/>
          </a:xfrm>
          <a:prstGeom prst="rect">
            <a:avLst/>
          </a:prstGeom>
        </p:spPr>
        <p:txBody>
          <a:bodyPr wrap="square" lIns="0" tIns="0" rIns="0" bIns="0" rtlCol="0" anchor="t">
            <a:spAutoFit/>
          </a:bodyPr>
          <a:lstStyle/>
          <a:p>
            <a:pPr algn="l">
              <a:lnSpc>
                <a:spcPts val="2562"/>
              </a:lnSpc>
            </a:pPr>
            <a:r>
              <a:rPr lang="en-US" sz="2062" b="1" dirty="0">
                <a:solidFill>
                  <a:srgbClr val="152D47"/>
                </a:solidFill>
                <a:latin typeface="Cambria" panose="02040503050406030204" pitchFamily="18" charset="0"/>
                <a:ea typeface="Crimson Pro Bold"/>
                <a:cs typeface="Crimson Pro Bold"/>
                <a:sym typeface="Crimson Pro Bold"/>
              </a:rPr>
              <a:t>Microservices-Inspired Benefits</a:t>
            </a:r>
          </a:p>
        </p:txBody>
      </p:sp>
      <p:sp>
        <p:nvSpPr>
          <p:cNvPr id="47" name="TextBox 47"/>
          <p:cNvSpPr txBox="1"/>
          <p:nvPr/>
        </p:nvSpPr>
        <p:spPr>
          <a:xfrm>
            <a:off x="992238" y="6927952"/>
            <a:ext cx="7892358" cy="1758495"/>
          </a:xfrm>
          <a:prstGeom prst="rect">
            <a:avLst/>
          </a:prstGeom>
        </p:spPr>
        <p:txBody>
          <a:bodyPr lIns="0" tIns="0" rIns="0" bIns="0" rtlCol="0" anchor="t">
            <a:spAutoFit/>
          </a:bodyPr>
          <a:lstStyle/>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Each Logic App is independently deployable — updating </a:t>
            </a:r>
            <a:r>
              <a:rPr lang="en-US" sz="1625" dirty="0" err="1">
                <a:solidFill>
                  <a:srgbClr val="4C4C4D"/>
                </a:solidFill>
                <a:latin typeface="Cambria" panose="02040503050406030204" pitchFamily="18" charset="0"/>
                <a:ea typeface="Heebo"/>
                <a:cs typeface="Heebo"/>
                <a:sym typeface="Heebo"/>
              </a:rPr>
              <a:t>GetEvidence</a:t>
            </a:r>
            <a:r>
              <a:rPr lang="en-US" sz="1625" dirty="0">
                <a:solidFill>
                  <a:srgbClr val="4C4C4D"/>
                </a:solidFill>
                <a:latin typeface="Cambria" panose="02040503050406030204" pitchFamily="18" charset="0"/>
                <a:ea typeface="Heebo"/>
                <a:cs typeface="Heebo"/>
                <a:sym typeface="Heebo"/>
              </a:rPr>
              <a:t> does not redeploy </a:t>
            </a:r>
            <a:r>
              <a:rPr lang="en-US" sz="1625" dirty="0" err="1">
                <a:solidFill>
                  <a:srgbClr val="4C4C4D"/>
                </a:solidFill>
                <a:latin typeface="Cambria" panose="02040503050406030204" pitchFamily="18" charset="0"/>
                <a:ea typeface="Heebo"/>
                <a:cs typeface="Heebo"/>
                <a:sym typeface="Heebo"/>
              </a:rPr>
              <a:t>CreateEvidence</a:t>
            </a:r>
            <a:endParaRPr lang="en-US" sz="1625" dirty="0">
              <a:solidFill>
                <a:srgbClr val="4C4C4D"/>
              </a:solidFill>
              <a:latin typeface="Cambria" panose="02040503050406030204" pitchFamily="18" charset="0"/>
              <a:ea typeface="Heebo"/>
              <a:cs typeface="Heebo"/>
              <a:sym typeface="Heebo"/>
            </a:endParaRP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"If an individual microservice becomes unavailable, it won't disrupt the entire application"</a:t>
            </a:r>
          </a:p>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Correlated logging tracks single user operations across multiple distinct service calls [19]</a:t>
            </a:r>
          </a:p>
        </p:txBody>
      </p:sp>
      <p:sp>
        <p:nvSpPr>
          <p:cNvPr id="48" name="TextBox 48"/>
          <p:cNvSpPr txBox="1"/>
          <p:nvPr/>
        </p:nvSpPr>
        <p:spPr>
          <a:xfrm>
            <a:off x="9412929" y="6455416"/>
            <a:ext cx="4303071" cy="311432"/>
          </a:xfrm>
          <a:prstGeom prst="rect">
            <a:avLst/>
          </a:prstGeom>
        </p:spPr>
        <p:txBody>
          <a:bodyPr wrap="square" lIns="0" tIns="0" rIns="0" bIns="0" rtlCol="0" anchor="t">
            <a:spAutoFit/>
          </a:bodyPr>
          <a:lstStyle/>
          <a:p>
            <a:pPr algn="l">
              <a:lnSpc>
                <a:spcPts val="2562"/>
              </a:lnSpc>
            </a:pPr>
            <a:r>
              <a:rPr lang="en-US" sz="2062" b="1" dirty="0">
                <a:solidFill>
                  <a:srgbClr val="152D47"/>
                </a:solidFill>
                <a:latin typeface="Cambria" panose="02040503050406030204" pitchFamily="18" charset="0"/>
                <a:ea typeface="Crimson Pro Bold"/>
                <a:cs typeface="Crimson Pro Bold"/>
                <a:sym typeface="Crimson Pro Bold"/>
              </a:rPr>
              <a:t>Future Architecture Evolution</a:t>
            </a:r>
          </a:p>
        </p:txBody>
      </p:sp>
      <p:sp>
        <p:nvSpPr>
          <p:cNvPr id="49" name="TextBox 49"/>
          <p:cNvSpPr txBox="1"/>
          <p:nvPr/>
        </p:nvSpPr>
        <p:spPr>
          <a:xfrm>
            <a:off x="9412929" y="6927952"/>
            <a:ext cx="7892358" cy="2038315"/>
          </a:xfrm>
          <a:prstGeom prst="rect">
            <a:avLst/>
          </a:prstGeom>
        </p:spPr>
        <p:txBody>
          <a:bodyPr lIns="0" tIns="0" rIns="0" bIns="0" rtlCol="0" anchor="t">
            <a:spAutoFit/>
          </a:bodyPr>
          <a:lstStyle/>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Add Azure Queue Storage for Web-Queue-Worker pattern — decouple large PCAP file processing from the frontend</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Decompose into full microservices: Evidence Service, User Service, Audit Service — each with its own data store</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Add Azure Redis Cache for evidence gallery query results and session state</a:t>
            </a:r>
          </a:p>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Integrate Microsoft Sentinel SIEM for advanced threat correlation across ThreatVault audit logs and external threat intelligence feeds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19050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a:latin typeface="Cambria" panose="02040503050406030204" pitchFamily="18" charset="0"/>
              </a:endParaRPr>
            </a:p>
          </p:txBody>
        </p:sp>
      </p:grpSp>
      <p:sp>
        <p:nvSpPr>
          <p:cNvPr id="6" name="TextBox 6"/>
          <p:cNvSpPr txBox="1"/>
          <p:nvPr/>
        </p:nvSpPr>
        <p:spPr>
          <a:xfrm>
            <a:off x="992238" y="956967"/>
            <a:ext cx="16303523" cy="666849"/>
          </a:xfrm>
          <a:prstGeom prst="rect">
            <a:avLst/>
          </a:prstGeom>
        </p:spPr>
        <p:txBody>
          <a:bodyPr wrap="square" lIns="0" tIns="0" rIns="0" bIns="0" rtlCol="0" anchor="t">
            <a:spAutoFit/>
          </a:bodyPr>
          <a:lstStyle/>
          <a:p>
            <a:pPr algn="l">
              <a:lnSpc>
                <a:spcPts val="5187"/>
              </a:lnSpc>
            </a:pPr>
            <a:r>
              <a:rPr lang="en-US" sz="4400" b="1" dirty="0">
                <a:solidFill>
                  <a:srgbClr val="152D47"/>
                </a:solidFill>
                <a:latin typeface="Cambria" panose="02040503050406030204" pitchFamily="18" charset="0"/>
                <a:ea typeface="Crimson Pro Bold"/>
                <a:cs typeface="Crimson Pro Bold"/>
                <a:sym typeface="Crimson Pro Bold"/>
              </a:rPr>
              <a:t>Concluding Comments</a:t>
            </a:r>
          </a:p>
        </p:txBody>
      </p:sp>
      <p:sp>
        <p:nvSpPr>
          <p:cNvPr id="7" name="TextBox 7"/>
          <p:cNvSpPr txBox="1"/>
          <p:nvPr/>
        </p:nvSpPr>
        <p:spPr>
          <a:xfrm>
            <a:off x="992238" y="1940423"/>
            <a:ext cx="16303523" cy="268600"/>
          </a:xfrm>
          <a:prstGeom prst="rect">
            <a:avLst/>
          </a:prstGeom>
        </p:spPr>
        <p:txBody>
          <a:bodyPr lIns="0" tIns="0" rIns="0" bIns="0" rtlCol="0" anchor="t">
            <a:spAutoFit/>
          </a:bodyPr>
          <a:lstStyle/>
          <a:p>
            <a:pPr algn="l">
              <a:lnSpc>
                <a:spcPts val="2312"/>
              </a:lnSpc>
            </a:pPr>
            <a:r>
              <a:rPr lang="en-US" sz="1625" dirty="0">
                <a:solidFill>
                  <a:srgbClr val="4C4C4D"/>
                </a:solidFill>
                <a:latin typeface="Cambria" panose="02040503050406030204" pitchFamily="18" charset="0"/>
                <a:ea typeface="Heebo"/>
                <a:cs typeface="Heebo"/>
                <a:sym typeface="Heebo"/>
              </a:rPr>
              <a:t>ThreatVault demonstrates the power of cloud-native design to solve a genuine, high-stakes security operations challenge.</a:t>
            </a:r>
          </a:p>
        </p:txBody>
      </p:sp>
      <p:grpSp>
        <p:nvGrpSpPr>
          <p:cNvPr id="8" name="Group 8"/>
          <p:cNvGrpSpPr/>
          <p:nvPr/>
        </p:nvGrpSpPr>
        <p:grpSpPr>
          <a:xfrm>
            <a:off x="992238" y="2455517"/>
            <a:ext cx="8018849" cy="543928"/>
            <a:chOff x="0" y="0"/>
            <a:chExt cx="10762614" cy="4535297"/>
          </a:xfrm>
          <a:solidFill>
            <a:schemeClr val="bg1">
              <a:lumMod val="95000"/>
            </a:schemeClr>
          </a:solidFill>
        </p:grpSpPr>
        <p:sp>
          <p:nvSpPr>
            <p:cNvPr id="9" name="Freeform 9"/>
            <p:cNvSpPr/>
            <p:nvPr/>
          </p:nvSpPr>
          <p:spPr>
            <a:xfrm>
              <a:off x="0" y="0"/>
              <a:ext cx="10762614" cy="4535297"/>
            </a:xfrm>
            <a:custGeom>
              <a:avLst/>
              <a:gdLst/>
              <a:ahLst/>
              <a:cxnLst/>
              <a:rect l="l" t="t" r="r" b="b"/>
              <a:pathLst>
                <a:path w="10762614" h="4535297">
                  <a:moveTo>
                    <a:pt x="0" y="42545"/>
                  </a:moveTo>
                  <a:cubicBezTo>
                    <a:pt x="0" y="19050"/>
                    <a:pt x="19050" y="0"/>
                    <a:pt x="42545" y="0"/>
                  </a:cubicBezTo>
                  <a:lnTo>
                    <a:pt x="10720070" y="0"/>
                  </a:lnTo>
                  <a:cubicBezTo>
                    <a:pt x="10743564" y="0"/>
                    <a:pt x="10762614" y="19050"/>
                    <a:pt x="10762614" y="42545"/>
                  </a:cubicBezTo>
                  <a:lnTo>
                    <a:pt x="10762614" y="4492752"/>
                  </a:lnTo>
                  <a:cubicBezTo>
                    <a:pt x="10762614" y="4516247"/>
                    <a:pt x="10743564" y="4535297"/>
                    <a:pt x="10720070" y="4535297"/>
                  </a:cubicBezTo>
                  <a:lnTo>
                    <a:pt x="42545" y="4535297"/>
                  </a:lnTo>
                  <a:cubicBezTo>
                    <a:pt x="19050" y="4535297"/>
                    <a:pt x="0" y="4516247"/>
                    <a:pt x="0" y="4492752"/>
                  </a:cubicBezTo>
                  <a:close/>
                </a:path>
              </a:pathLst>
            </a:custGeom>
            <a:grpFill/>
          </p:spPr>
          <p:txBody>
            <a:bodyPr/>
            <a:lstStyle/>
            <a:p>
              <a:endParaRPr lang="en-US">
                <a:latin typeface="Cambria" panose="02040503050406030204" pitchFamily="18" charset="0"/>
              </a:endParaRPr>
            </a:p>
          </p:txBody>
        </p:sp>
      </p:grpSp>
      <p:sp>
        <p:nvSpPr>
          <p:cNvPr id="10" name="TextBox 10"/>
          <p:cNvSpPr txBox="1"/>
          <p:nvPr/>
        </p:nvSpPr>
        <p:spPr>
          <a:xfrm>
            <a:off x="1198513" y="2570558"/>
            <a:ext cx="7646937" cy="310213"/>
          </a:xfrm>
          <a:prstGeom prst="rect">
            <a:avLst/>
          </a:prstGeom>
        </p:spPr>
        <p:txBody>
          <a:bodyPr wrap="square" lIns="0" tIns="0" rIns="0" bIns="0" rtlCol="0" anchor="t">
            <a:spAutoFit/>
          </a:bodyPr>
          <a:lstStyle/>
          <a:p>
            <a:pPr algn="l">
              <a:lnSpc>
                <a:spcPts val="2562"/>
              </a:lnSpc>
            </a:pPr>
            <a:r>
              <a:rPr lang="en-US" sz="2062" b="1" dirty="0">
                <a:solidFill>
                  <a:srgbClr val="4C4C4D"/>
                </a:solidFill>
                <a:latin typeface="Cambria" panose="02040503050406030204" pitchFamily="18" charset="0"/>
                <a:ea typeface="Crimson Pro Bold"/>
                <a:cs typeface="Crimson Pro Bold"/>
                <a:sym typeface="Crimson Pro Bold"/>
              </a:rPr>
              <a:t>Solution Summary</a:t>
            </a:r>
          </a:p>
        </p:txBody>
      </p:sp>
      <p:sp>
        <p:nvSpPr>
          <p:cNvPr id="11" name="TextBox 11"/>
          <p:cNvSpPr txBox="1"/>
          <p:nvPr/>
        </p:nvSpPr>
        <p:spPr>
          <a:xfrm>
            <a:off x="1204760" y="3057677"/>
            <a:ext cx="7806326" cy="1743362"/>
          </a:xfrm>
          <a:prstGeom prst="rect">
            <a:avLst/>
          </a:prstGeom>
        </p:spPr>
        <p:txBody>
          <a:bodyPr wrap="square" lIns="0" tIns="0" rIns="0" bIns="0" rtlCol="0" anchor="t">
            <a:spAutoFit/>
          </a:bodyPr>
          <a:lstStyle/>
          <a:p>
            <a:pPr algn="l">
              <a:lnSpc>
                <a:spcPts val="2312"/>
              </a:lnSpc>
            </a:pPr>
            <a:r>
              <a:rPr lang="en-US" sz="1625" dirty="0">
                <a:solidFill>
                  <a:srgbClr val="4C4C4D"/>
                </a:solidFill>
                <a:latin typeface="Cambria" panose="02040503050406030204" pitchFamily="18" charset="0"/>
                <a:ea typeface="Heebo"/>
                <a:cs typeface="Heebo"/>
                <a:sym typeface="Heebo"/>
              </a:rPr>
              <a:t>ThreatVault leverages a fully cloud-native Microsoft Azure architecture to deliver infinite scalability, forensic data integrity, zero-maintenance operations, and strict access control — capabilities impossible with traditional on-premise deployments. Every architectural decision maps directly to a cloud-native principle: PaaS over IaaS, serverless over always-on, NoSQL for flexible data, SQL for structured relational data, separation of concerns, and independent component scaling.</a:t>
            </a:r>
          </a:p>
        </p:txBody>
      </p:sp>
      <p:grpSp>
        <p:nvGrpSpPr>
          <p:cNvPr id="12" name="Group 12"/>
          <p:cNvGrpSpPr/>
          <p:nvPr/>
        </p:nvGrpSpPr>
        <p:grpSpPr>
          <a:xfrm>
            <a:off x="9436150" y="6059809"/>
            <a:ext cx="8072142" cy="539230"/>
            <a:chOff x="0" y="0"/>
            <a:chExt cx="10762856" cy="4535284"/>
          </a:xfrm>
          <a:solidFill>
            <a:schemeClr val="bg1">
              <a:lumMod val="95000"/>
            </a:schemeClr>
          </a:solidFill>
        </p:grpSpPr>
        <p:sp>
          <p:nvSpPr>
            <p:cNvPr id="13" name="Freeform 13"/>
            <p:cNvSpPr/>
            <p:nvPr/>
          </p:nvSpPr>
          <p:spPr>
            <a:xfrm>
              <a:off x="0" y="0"/>
              <a:ext cx="10762869" cy="4535297"/>
            </a:xfrm>
            <a:custGeom>
              <a:avLst/>
              <a:gdLst/>
              <a:ahLst/>
              <a:cxnLst/>
              <a:rect l="l" t="t" r="r" b="b"/>
              <a:pathLst>
                <a:path w="10762869" h="4535297">
                  <a:moveTo>
                    <a:pt x="0" y="42545"/>
                  </a:moveTo>
                  <a:cubicBezTo>
                    <a:pt x="0" y="19050"/>
                    <a:pt x="19050" y="0"/>
                    <a:pt x="42545" y="0"/>
                  </a:cubicBezTo>
                  <a:lnTo>
                    <a:pt x="10720324" y="0"/>
                  </a:lnTo>
                  <a:cubicBezTo>
                    <a:pt x="10743819" y="0"/>
                    <a:pt x="10762869" y="19050"/>
                    <a:pt x="10762869" y="42545"/>
                  </a:cubicBezTo>
                  <a:lnTo>
                    <a:pt x="10762869" y="4492752"/>
                  </a:lnTo>
                  <a:cubicBezTo>
                    <a:pt x="10762869" y="4516247"/>
                    <a:pt x="10743819" y="4535297"/>
                    <a:pt x="10720324" y="4535297"/>
                  </a:cubicBezTo>
                  <a:lnTo>
                    <a:pt x="42545" y="4535297"/>
                  </a:lnTo>
                  <a:cubicBezTo>
                    <a:pt x="19050" y="4535297"/>
                    <a:pt x="0" y="4516247"/>
                    <a:pt x="0" y="4492752"/>
                  </a:cubicBezTo>
                  <a:close/>
                </a:path>
              </a:pathLst>
            </a:custGeom>
            <a:grpFill/>
          </p:spPr>
          <p:txBody>
            <a:bodyPr/>
            <a:lstStyle/>
            <a:p>
              <a:endParaRPr lang="en-US">
                <a:latin typeface="Cambria" panose="02040503050406030204" pitchFamily="18" charset="0"/>
              </a:endParaRPr>
            </a:p>
          </p:txBody>
        </p:sp>
      </p:grpSp>
      <p:sp>
        <p:nvSpPr>
          <p:cNvPr id="15" name="TextBox 15"/>
          <p:cNvSpPr txBox="1"/>
          <p:nvPr/>
        </p:nvSpPr>
        <p:spPr>
          <a:xfrm>
            <a:off x="9436151" y="3057677"/>
            <a:ext cx="8048930" cy="2333267"/>
          </a:xfrm>
          <a:prstGeom prst="rect">
            <a:avLst/>
          </a:prstGeom>
        </p:spPr>
        <p:txBody>
          <a:bodyPr wrap="square" lIns="0" tIns="0" rIns="0" bIns="0" rtlCol="0" anchor="t">
            <a:spAutoFit/>
          </a:bodyPr>
          <a:lstStyle/>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Extend Content Moderator with custom AI classifiers trained on known malware visual signatures — reducing analyst manual triage workload beyond generic content flagging</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Implement Web-Queue-Worker pattern with Azure Queue Storage for large PCAP processing jobs — preventing frontend blocking</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Add Cosmos DB multi-region write configuration for worldwide distributed security teams</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Decompose Logic Apps into full microservices for even greater deployment independence</a:t>
            </a:r>
          </a:p>
        </p:txBody>
      </p:sp>
      <p:sp>
        <p:nvSpPr>
          <p:cNvPr id="17" name="TextBox 17"/>
          <p:cNvSpPr txBox="1"/>
          <p:nvPr/>
        </p:nvSpPr>
        <p:spPr>
          <a:xfrm>
            <a:off x="992237" y="6649193"/>
            <a:ext cx="8018849" cy="2628220"/>
          </a:xfrm>
          <a:prstGeom prst="rect">
            <a:avLst/>
          </a:prstGeom>
        </p:spPr>
        <p:txBody>
          <a:bodyPr wrap="square" lIns="0" tIns="0" rIns="0" bIns="0" rtlCol="0" anchor="t">
            <a:spAutoFit/>
          </a:bodyPr>
          <a:lstStyle/>
          <a:p>
            <a:pPr marL="245070" lvl="1" indent="-122535" algn="l">
              <a:lnSpc>
                <a:spcPts val="2312"/>
              </a:lnSpc>
              <a:buFont typeface="Arial"/>
              <a:buChar char="•"/>
            </a:pPr>
            <a:r>
              <a:rPr lang="en-US" sz="1625" b="1" dirty="0">
                <a:solidFill>
                  <a:srgbClr val="4C4C4D"/>
                </a:solidFill>
                <a:latin typeface="Cambria" panose="02040503050406030204" pitchFamily="18" charset="0"/>
                <a:ea typeface="Heebo Bold"/>
                <a:cs typeface="Heebo Bold"/>
                <a:sym typeface="Heebo Bold"/>
              </a:rPr>
              <a:t>Target market:</a:t>
            </a:r>
            <a:r>
              <a:rPr lang="en-US" sz="1625" dirty="0">
                <a:solidFill>
                  <a:srgbClr val="4C4C4D"/>
                </a:solidFill>
                <a:latin typeface="Cambria" panose="02040503050406030204" pitchFamily="18" charset="0"/>
                <a:ea typeface="Heebo"/>
                <a:cs typeface="Heebo"/>
                <a:sym typeface="Heebo"/>
              </a:rPr>
              <a:t> MSSPs, enterprise SOC teams, CVE research </a:t>
            </a:r>
            <a:r>
              <a:rPr lang="en-US" sz="1625" dirty="0" err="1">
                <a:solidFill>
                  <a:srgbClr val="4C4C4D"/>
                </a:solidFill>
                <a:latin typeface="Cambria" panose="02040503050406030204" pitchFamily="18" charset="0"/>
                <a:ea typeface="Heebo"/>
                <a:cs typeface="Heebo"/>
                <a:sym typeface="Heebo"/>
              </a:rPr>
              <a:t>organisations</a:t>
            </a:r>
            <a:r>
              <a:rPr lang="en-US" sz="1625" dirty="0">
                <a:solidFill>
                  <a:srgbClr val="4C4C4D"/>
                </a:solidFill>
                <a:latin typeface="Cambria" panose="02040503050406030204" pitchFamily="18" charset="0"/>
                <a:ea typeface="Heebo"/>
                <a:cs typeface="Heebo"/>
                <a:sym typeface="Heebo"/>
              </a:rPr>
              <a:t>, penetration testing firms</a:t>
            </a:r>
          </a:p>
          <a:p>
            <a:pPr marL="245070" lvl="1" indent="-122535" algn="l">
              <a:lnSpc>
                <a:spcPts val="2312"/>
              </a:lnSpc>
              <a:buFont typeface="Arial"/>
              <a:buChar char="•"/>
            </a:pPr>
            <a:r>
              <a:rPr lang="en-US" sz="1625" b="1" dirty="0">
                <a:solidFill>
                  <a:srgbClr val="4C4C4D"/>
                </a:solidFill>
                <a:latin typeface="Cambria" panose="02040503050406030204" pitchFamily="18" charset="0"/>
                <a:ea typeface="Heebo Bold"/>
                <a:cs typeface="Heebo Bold"/>
                <a:sym typeface="Heebo Bold"/>
              </a:rPr>
              <a:t>Business model:</a:t>
            </a:r>
            <a:r>
              <a:rPr lang="en-US" sz="1625" dirty="0">
                <a:solidFill>
                  <a:srgbClr val="4C4C4D"/>
                </a:solidFill>
                <a:latin typeface="Cambria" panose="02040503050406030204" pitchFamily="18" charset="0"/>
                <a:ea typeface="Heebo"/>
                <a:cs typeface="Heebo"/>
                <a:sym typeface="Heebo"/>
              </a:rPr>
              <a:t> SaaS subscription — tiered pricing by storage volume (GB) and analyst seat count</a:t>
            </a:r>
          </a:p>
          <a:p>
            <a:pPr marL="245070" lvl="1" indent="-122535" algn="l">
              <a:lnSpc>
                <a:spcPts val="2312"/>
              </a:lnSpc>
              <a:buFont typeface="Arial"/>
              <a:buChar char="•"/>
            </a:pPr>
            <a:r>
              <a:rPr lang="en-US" sz="1625" b="1" dirty="0">
                <a:solidFill>
                  <a:srgbClr val="4C4C4D"/>
                </a:solidFill>
                <a:latin typeface="Cambria" panose="02040503050406030204" pitchFamily="18" charset="0"/>
                <a:ea typeface="Heebo Bold"/>
                <a:cs typeface="Heebo Bold"/>
                <a:sym typeface="Heebo Bold"/>
              </a:rPr>
              <a:t>Integration potential:</a:t>
            </a:r>
            <a:r>
              <a:rPr lang="en-US" sz="1625" dirty="0">
                <a:solidFill>
                  <a:srgbClr val="4C4C4D"/>
                </a:solidFill>
                <a:latin typeface="Cambria" panose="02040503050406030204" pitchFamily="18" charset="0"/>
                <a:ea typeface="Heebo"/>
                <a:cs typeface="Heebo"/>
                <a:sym typeface="Heebo"/>
              </a:rPr>
              <a:t> MISP threat intelligence, </a:t>
            </a:r>
            <a:r>
              <a:rPr lang="en-US" sz="1625" dirty="0" err="1">
                <a:solidFill>
                  <a:srgbClr val="4C4C4D"/>
                </a:solidFill>
                <a:latin typeface="Cambria" panose="02040503050406030204" pitchFamily="18" charset="0"/>
                <a:ea typeface="Heebo"/>
                <a:cs typeface="Heebo"/>
                <a:sym typeface="Heebo"/>
              </a:rPr>
              <a:t>VirusTotal</a:t>
            </a:r>
            <a:r>
              <a:rPr lang="en-US" sz="1625" dirty="0">
                <a:solidFill>
                  <a:srgbClr val="4C4C4D"/>
                </a:solidFill>
                <a:latin typeface="Cambria" panose="02040503050406030204" pitchFamily="18" charset="0"/>
                <a:ea typeface="Heebo"/>
                <a:cs typeface="Heebo"/>
                <a:sym typeface="Heebo"/>
              </a:rPr>
              <a:t> API, Microsoft Sentinel SIEM</a:t>
            </a:r>
          </a:p>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The global cybersecurity tools market represents significant and growing commercial opportunity — cloud-native SaaS platforms are increasingly the preferred deployment model for enterprise SOC teams" This removes the uncited statistic while keeping the commercial argument.</a:t>
            </a:r>
          </a:p>
        </p:txBody>
      </p:sp>
      <p:sp>
        <p:nvSpPr>
          <p:cNvPr id="19" name="TextBox 19"/>
          <p:cNvSpPr txBox="1"/>
          <p:nvPr/>
        </p:nvSpPr>
        <p:spPr>
          <a:xfrm>
            <a:off x="9412929" y="6649193"/>
            <a:ext cx="8072152" cy="2053447"/>
          </a:xfrm>
          <a:prstGeom prst="rect">
            <a:avLst/>
          </a:prstGeom>
        </p:spPr>
        <p:txBody>
          <a:bodyPr wrap="square" lIns="0" tIns="0" rIns="0" bIns="0" rtlCol="0" anchor="t">
            <a:spAutoFit/>
          </a:bodyPr>
          <a:lstStyle/>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Evidence may contain sensitive victim data from real breaches — strict GDPR compliance via Azure Policy UK region lock [08]</a:t>
            </a:r>
          </a:p>
          <a:p>
            <a:pPr marL="245070" lvl="1" indent="-122535">
              <a:lnSpc>
                <a:spcPts val="2312"/>
              </a:lnSpc>
              <a:buFont typeface="Arial"/>
              <a:buChar char="•"/>
            </a:pPr>
            <a:r>
              <a:rPr lang="en-US" sz="1625" dirty="0">
                <a:solidFill>
                  <a:srgbClr val="4C4C4D"/>
                </a:solidFill>
                <a:latin typeface="Cambria" panose="02040503050406030204" pitchFamily="18" charset="0"/>
                <a:ea typeface="Heebo"/>
                <a:cs typeface="Heebo"/>
                <a:sym typeface="Heebo"/>
              </a:rPr>
              <a:t>SHA-256 hashing and immutable SQL audit log ensure legal admissibility of digital forensic evidence [12]</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RBAC with MFA prevents internal misuse of sensitive threat intelligence</a:t>
            </a:r>
          </a:p>
          <a:p>
            <a:pPr marL="245070" lvl="1" indent="-122535" algn="l">
              <a:lnSpc>
                <a:spcPts val="2312"/>
              </a:lnSpc>
              <a:buFont typeface="Arial"/>
              <a:buChar char="•"/>
            </a:pPr>
            <a:r>
              <a:rPr lang="en-US" sz="1625" dirty="0">
                <a:solidFill>
                  <a:srgbClr val="4C4C4D"/>
                </a:solidFill>
                <a:latin typeface="Cambria" panose="02040503050406030204" pitchFamily="18" charset="0"/>
                <a:ea typeface="Heebo"/>
                <a:cs typeface="Heebo"/>
                <a:sym typeface="Heebo"/>
              </a:rPr>
              <a:t>Responsible disclosure obligations must be enforced — ThreatVault must not become a platform for distributing active zero-day exploits</a:t>
            </a:r>
          </a:p>
        </p:txBody>
      </p:sp>
      <p:grpSp>
        <p:nvGrpSpPr>
          <p:cNvPr id="25" name="Group 8">
            <a:extLst>
              <a:ext uri="{FF2B5EF4-FFF2-40B4-BE49-F238E27FC236}">
                <a16:creationId xmlns:a16="http://schemas.microsoft.com/office/drawing/2014/main" id="{60F2B716-4B53-D44B-E43B-092FBF9C9865}"/>
              </a:ext>
            </a:extLst>
          </p:cNvPr>
          <p:cNvGrpSpPr/>
          <p:nvPr/>
        </p:nvGrpSpPr>
        <p:grpSpPr>
          <a:xfrm>
            <a:off x="1027215" y="6059809"/>
            <a:ext cx="8018849" cy="543928"/>
            <a:chOff x="0" y="0"/>
            <a:chExt cx="10762614" cy="4535297"/>
          </a:xfrm>
          <a:solidFill>
            <a:schemeClr val="bg1">
              <a:lumMod val="95000"/>
            </a:schemeClr>
          </a:solidFill>
        </p:grpSpPr>
        <p:sp>
          <p:nvSpPr>
            <p:cNvPr id="26" name="Freeform 9">
              <a:extLst>
                <a:ext uri="{FF2B5EF4-FFF2-40B4-BE49-F238E27FC236}">
                  <a16:creationId xmlns:a16="http://schemas.microsoft.com/office/drawing/2014/main" id="{368F0E14-5E9C-BD5B-6E12-B975E6067549}"/>
                </a:ext>
              </a:extLst>
            </p:cNvPr>
            <p:cNvSpPr/>
            <p:nvPr/>
          </p:nvSpPr>
          <p:spPr>
            <a:xfrm>
              <a:off x="0" y="0"/>
              <a:ext cx="10762614" cy="4535297"/>
            </a:xfrm>
            <a:custGeom>
              <a:avLst/>
              <a:gdLst/>
              <a:ahLst/>
              <a:cxnLst/>
              <a:rect l="l" t="t" r="r" b="b"/>
              <a:pathLst>
                <a:path w="10762614" h="4535297">
                  <a:moveTo>
                    <a:pt x="0" y="42545"/>
                  </a:moveTo>
                  <a:cubicBezTo>
                    <a:pt x="0" y="19050"/>
                    <a:pt x="19050" y="0"/>
                    <a:pt x="42545" y="0"/>
                  </a:cubicBezTo>
                  <a:lnTo>
                    <a:pt x="10720070" y="0"/>
                  </a:lnTo>
                  <a:cubicBezTo>
                    <a:pt x="10743564" y="0"/>
                    <a:pt x="10762614" y="19050"/>
                    <a:pt x="10762614" y="42545"/>
                  </a:cubicBezTo>
                  <a:lnTo>
                    <a:pt x="10762614" y="4492752"/>
                  </a:lnTo>
                  <a:cubicBezTo>
                    <a:pt x="10762614" y="4516247"/>
                    <a:pt x="10743564" y="4535297"/>
                    <a:pt x="10720070" y="4535297"/>
                  </a:cubicBezTo>
                  <a:lnTo>
                    <a:pt x="42545" y="4535297"/>
                  </a:lnTo>
                  <a:cubicBezTo>
                    <a:pt x="19050" y="4535297"/>
                    <a:pt x="0" y="4516247"/>
                    <a:pt x="0" y="4492752"/>
                  </a:cubicBezTo>
                  <a:close/>
                </a:path>
              </a:pathLst>
            </a:custGeom>
            <a:grpFill/>
          </p:spPr>
          <p:txBody>
            <a:bodyPr/>
            <a:lstStyle/>
            <a:p>
              <a:endParaRPr lang="en-US">
                <a:latin typeface="Cambria" panose="02040503050406030204" pitchFamily="18" charset="0"/>
              </a:endParaRPr>
            </a:p>
          </p:txBody>
        </p:sp>
      </p:grpSp>
      <p:sp>
        <p:nvSpPr>
          <p:cNvPr id="27" name="TextBox 16">
            <a:extLst>
              <a:ext uri="{FF2B5EF4-FFF2-40B4-BE49-F238E27FC236}">
                <a16:creationId xmlns:a16="http://schemas.microsoft.com/office/drawing/2014/main" id="{A32A28AB-6ED1-0077-EF8C-E32DC4024A9B}"/>
              </a:ext>
            </a:extLst>
          </p:cNvPr>
          <p:cNvSpPr txBox="1"/>
          <p:nvPr/>
        </p:nvSpPr>
        <p:spPr>
          <a:xfrm>
            <a:off x="1204759" y="6176667"/>
            <a:ext cx="7892357" cy="310213"/>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sym typeface="Crimson Pro Bold"/>
              </a:rPr>
              <a:t>Commercial Applicability</a:t>
            </a:r>
          </a:p>
        </p:txBody>
      </p:sp>
      <p:grpSp>
        <p:nvGrpSpPr>
          <p:cNvPr id="28" name="Group 12">
            <a:extLst>
              <a:ext uri="{FF2B5EF4-FFF2-40B4-BE49-F238E27FC236}">
                <a16:creationId xmlns:a16="http://schemas.microsoft.com/office/drawing/2014/main" id="{96E3B4A2-F5A5-6A88-565B-3DC900E144DE}"/>
              </a:ext>
            </a:extLst>
          </p:cNvPr>
          <p:cNvGrpSpPr/>
          <p:nvPr/>
        </p:nvGrpSpPr>
        <p:grpSpPr>
          <a:xfrm>
            <a:off x="9412929" y="2419971"/>
            <a:ext cx="8072142" cy="539230"/>
            <a:chOff x="0" y="0"/>
            <a:chExt cx="10762856" cy="4535284"/>
          </a:xfrm>
          <a:solidFill>
            <a:schemeClr val="bg1">
              <a:lumMod val="95000"/>
            </a:schemeClr>
          </a:solidFill>
        </p:grpSpPr>
        <p:sp>
          <p:nvSpPr>
            <p:cNvPr id="29" name="Freeform 13">
              <a:extLst>
                <a:ext uri="{FF2B5EF4-FFF2-40B4-BE49-F238E27FC236}">
                  <a16:creationId xmlns:a16="http://schemas.microsoft.com/office/drawing/2014/main" id="{5DA09239-38FF-A9D4-D18A-E7715084599C}"/>
                </a:ext>
              </a:extLst>
            </p:cNvPr>
            <p:cNvSpPr/>
            <p:nvPr/>
          </p:nvSpPr>
          <p:spPr>
            <a:xfrm>
              <a:off x="0" y="0"/>
              <a:ext cx="10762869" cy="4535297"/>
            </a:xfrm>
            <a:custGeom>
              <a:avLst/>
              <a:gdLst/>
              <a:ahLst/>
              <a:cxnLst/>
              <a:rect l="l" t="t" r="r" b="b"/>
              <a:pathLst>
                <a:path w="10762869" h="4535297">
                  <a:moveTo>
                    <a:pt x="0" y="42545"/>
                  </a:moveTo>
                  <a:cubicBezTo>
                    <a:pt x="0" y="19050"/>
                    <a:pt x="19050" y="0"/>
                    <a:pt x="42545" y="0"/>
                  </a:cubicBezTo>
                  <a:lnTo>
                    <a:pt x="10720324" y="0"/>
                  </a:lnTo>
                  <a:cubicBezTo>
                    <a:pt x="10743819" y="0"/>
                    <a:pt x="10762869" y="19050"/>
                    <a:pt x="10762869" y="42545"/>
                  </a:cubicBezTo>
                  <a:lnTo>
                    <a:pt x="10762869" y="4492752"/>
                  </a:lnTo>
                  <a:cubicBezTo>
                    <a:pt x="10762869" y="4516247"/>
                    <a:pt x="10743819" y="4535297"/>
                    <a:pt x="10720324" y="4535297"/>
                  </a:cubicBezTo>
                  <a:lnTo>
                    <a:pt x="42545" y="4535297"/>
                  </a:lnTo>
                  <a:cubicBezTo>
                    <a:pt x="19050" y="4535297"/>
                    <a:pt x="0" y="4516247"/>
                    <a:pt x="0" y="4492752"/>
                  </a:cubicBezTo>
                  <a:close/>
                </a:path>
              </a:pathLst>
            </a:custGeom>
            <a:grpFill/>
          </p:spPr>
          <p:txBody>
            <a:bodyPr/>
            <a:lstStyle/>
            <a:p>
              <a:endParaRPr lang="en-US">
                <a:latin typeface="Cambria" panose="02040503050406030204" pitchFamily="18" charset="0"/>
              </a:endParaRPr>
            </a:p>
          </p:txBody>
        </p:sp>
      </p:grpSp>
      <p:sp>
        <p:nvSpPr>
          <p:cNvPr id="30" name="TextBox 18">
            <a:extLst>
              <a:ext uri="{FF2B5EF4-FFF2-40B4-BE49-F238E27FC236}">
                <a16:creationId xmlns:a16="http://schemas.microsoft.com/office/drawing/2014/main" id="{B1A131CB-C006-246F-94E1-8A8B2DC7AB0E}"/>
              </a:ext>
            </a:extLst>
          </p:cNvPr>
          <p:cNvSpPr txBox="1"/>
          <p:nvPr/>
        </p:nvSpPr>
        <p:spPr>
          <a:xfrm>
            <a:off x="9621702" y="6176667"/>
            <a:ext cx="7670311" cy="310213"/>
          </a:xfrm>
          <a:prstGeom prst="rect">
            <a:avLst/>
          </a:prstGeom>
        </p:spPr>
        <p:txBody>
          <a:bodyPr wrap="square" lIns="0" tIns="0" rIns="0" bIns="0" rtlCol="0" anchor="t">
            <a:spAutoFit/>
          </a:bodyPr>
          <a:lstStyle/>
          <a:p>
            <a:pPr>
              <a:lnSpc>
                <a:spcPts val="2562"/>
              </a:lnSpc>
            </a:pPr>
            <a:r>
              <a:rPr lang="en-US" sz="2062" b="1" dirty="0">
                <a:solidFill>
                  <a:srgbClr val="4C4C4D"/>
                </a:solidFill>
                <a:latin typeface="Cambria" panose="02040503050406030204" pitchFamily="18" charset="0"/>
                <a:sym typeface="Crimson Pro Bold"/>
              </a:rPr>
              <a:t>Ethical Considerations</a:t>
            </a:r>
          </a:p>
        </p:txBody>
      </p:sp>
      <p:sp>
        <p:nvSpPr>
          <p:cNvPr id="31" name="TextBox 14">
            <a:extLst>
              <a:ext uri="{FF2B5EF4-FFF2-40B4-BE49-F238E27FC236}">
                <a16:creationId xmlns:a16="http://schemas.microsoft.com/office/drawing/2014/main" id="{95C89653-56B9-321A-125C-E70516FA2902}"/>
              </a:ext>
            </a:extLst>
          </p:cNvPr>
          <p:cNvSpPr txBox="1"/>
          <p:nvPr/>
        </p:nvSpPr>
        <p:spPr>
          <a:xfrm>
            <a:off x="9621702" y="2534480"/>
            <a:ext cx="7647089" cy="310213"/>
          </a:xfrm>
          <a:prstGeom prst="rect">
            <a:avLst/>
          </a:prstGeom>
        </p:spPr>
        <p:txBody>
          <a:bodyPr wrap="square" lIns="0" tIns="0" rIns="0" bIns="0" rtlCol="0" anchor="t">
            <a:spAutoFit/>
          </a:bodyPr>
          <a:lstStyle/>
          <a:p>
            <a:pPr algn="l">
              <a:lnSpc>
                <a:spcPts val="2562"/>
              </a:lnSpc>
            </a:pPr>
            <a:r>
              <a:rPr lang="en-US" sz="2062" b="1" dirty="0">
                <a:solidFill>
                  <a:srgbClr val="4C4C4D"/>
                </a:solidFill>
                <a:latin typeface="Cambria" panose="02040503050406030204" pitchFamily="18" charset="0"/>
                <a:ea typeface="Crimson Pro Bold"/>
                <a:cs typeface="Crimson Pro Bold"/>
                <a:sym typeface="Crimson Pro Bold"/>
              </a:rPr>
              <a:t>What Can Be Improved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455F79-3FDA-4EEA-28C6-0DE68FB29295}"/>
              </a:ext>
            </a:extLst>
          </p:cNvPr>
          <p:cNvSpPr txBox="1"/>
          <p:nvPr/>
        </p:nvSpPr>
        <p:spPr>
          <a:xfrm>
            <a:off x="992238" y="1790700"/>
            <a:ext cx="16313049" cy="8125301"/>
          </a:xfrm>
          <a:prstGeom prst="rect">
            <a:avLst/>
          </a:prstGeom>
          <a:noFill/>
        </p:spPr>
        <p:txBody>
          <a:bodyPr wrap="square">
            <a:spAutoFit/>
          </a:bodyPr>
          <a:lstStyle/>
          <a:p>
            <a:pPr>
              <a:buNone/>
            </a:pPr>
            <a:r>
              <a:rPr lang="en-GB" b="1" dirty="0"/>
              <a:t>[01]</a:t>
            </a:r>
            <a:r>
              <a:rPr lang="en-GB" dirty="0"/>
              <a:t> Microsoft Azure (2024) </a:t>
            </a:r>
            <a:r>
              <a:rPr lang="en-GB" i="1" dirty="0"/>
              <a:t>Azure Cosmos DB documentation</a:t>
            </a:r>
            <a:r>
              <a:rPr lang="en-GB" dirty="0"/>
              <a:t>. Available from: </a:t>
            </a:r>
            <a:r>
              <a:rPr lang="en-GB" dirty="0">
                <a:hlinkClick r:id="rId2"/>
              </a:rPr>
              <a:t>https://docs.microsoft.com/en-us/azure/cosmos-db/</a:t>
            </a:r>
            <a:r>
              <a:rPr lang="en-GB" dirty="0"/>
              <a:t> [Accessed 16 February 2026].</a:t>
            </a:r>
          </a:p>
          <a:p>
            <a:pPr>
              <a:buNone/>
            </a:pPr>
            <a:r>
              <a:rPr lang="en-GB" b="1" dirty="0"/>
              <a:t>[02]</a:t>
            </a:r>
            <a:r>
              <a:rPr lang="en-GB" dirty="0"/>
              <a:t> Microsoft Azure (2024) </a:t>
            </a:r>
            <a:r>
              <a:rPr lang="en-GB" i="1" dirty="0"/>
              <a:t>Azure Logic Apps documentation</a:t>
            </a:r>
            <a:r>
              <a:rPr lang="en-GB" dirty="0"/>
              <a:t>. Available from: </a:t>
            </a:r>
            <a:r>
              <a:rPr lang="en-GB" dirty="0">
                <a:hlinkClick r:id="rId3"/>
              </a:rPr>
              <a:t>https://docs.microsoft.com/en-us/azure/logic-apps/</a:t>
            </a:r>
            <a:r>
              <a:rPr lang="en-GB" dirty="0"/>
              <a:t> [Accessed 16 February 2026].</a:t>
            </a:r>
          </a:p>
          <a:p>
            <a:pPr>
              <a:buNone/>
            </a:pPr>
            <a:r>
              <a:rPr lang="en-GB" b="1" dirty="0"/>
              <a:t>[03]</a:t>
            </a:r>
            <a:r>
              <a:rPr lang="en-GB" dirty="0"/>
              <a:t> Microsoft Azure (2024) </a:t>
            </a:r>
            <a:r>
              <a:rPr lang="en-GB" i="1" dirty="0"/>
              <a:t>Azure App Service documentation</a:t>
            </a:r>
            <a:r>
              <a:rPr lang="en-GB" dirty="0"/>
              <a:t>. Available from: </a:t>
            </a:r>
            <a:r>
              <a:rPr lang="en-GB" dirty="0">
                <a:hlinkClick r:id="rId4"/>
              </a:rPr>
              <a:t>https://docs.microsoft.com/en-us/azure/app-service/</a:t>
            </a:r>
            <a:r>
              <a:rPr lang="en-GB" dirty="0"/>
              <a:t> [Accessed 16 February 2026].</a:t>
            </a:r>
          </a:p>
          <a:p>
            <a:r>
              <a:rPr lang="en-GB" b="1" dirty="0"/>
              <a:t>[04]</a:t>
            </a:r>
            <a:r>
              <a:rPr lang="en-GB" dirty="0"/>
              <a:t> Microsoft Azure (2024) </a:t>
            </a:r>
            <a:r>
              <a:rPr lang="en-GB" i="1" dirty="0"/>
              <a:t>Azure Front Door and CDN documentation</a:t>
            </a:r>
            <a:r>
              <a:rPr lang="en-GB" dirty="0"/>
              <a:t>. Available from: </a:t>
            </a:r>
            <a:r>
              <a:rPr lang="en-GB" dirty="0">
                <a:hlinkClick r:id="rId5"/>
              </a:rPr>
              <a:t>https://docs.microsoft.com/en-us/azure/frontdoor/</a:t>
            </a:r>
            <a:r>
              <a:rPr lang="en-GB" dirty="0"/>
              <a:t> [Accessed 16 February 2026].</a:t>
            </a:r>
          </a:p>
          <a:p>
            <a:r>
              <a:rPr lang="en-GB" b="1" dirty="0"/>
              <a:t>[05]</a:t>
            </a:r>
            <a:r>
              <a:rPr lang="en-GB" dirty="0"/>
              <a:t> Microsoft Azure (2024) </a:t>
            </a:r>
            <a:r>
              <a:rPr lang="en-GB" i="1" dirty="0"/>
              <a:t>Azure Application Insights overview</a:t>
            </a:r>
            <a:r>
              <a:rPr lang="en-GB" dirty="0"/>
              <a:t>. Available from: </a:t>
            </a:r>
            <a:r>
              <a:rPr lang="en-GB" dirty="0">
                <a:hlinkClick r:id="rId6"/>
              </a:rPr>
              <a:t>https://docs.microsoft.com/en-us/azure/azure-monitor/app/app-insights-overview</a:t>
            </a:r>
            <a:r>
              <a:rPr lang="en-GB" dirty="0"/>
              <a:t> [Accessed 16 February 2026].</a:t>
            </a:r>
          </a:p>
          <a:p>
            <a:r>
              <a:rPr lang="en-GB" b="1" dirty="0"/>
              <a:t>[06]</a:t>
            </a:r>
            <a:r>
              <a:rPr lang="en-GB" dirty="0"/>
              <a:t> GitHub (2024) </a:t>
            </a:r>
            <a:r>
              <a:rPr lang="en-GB" i="1" dirty="0"/>
              <a:t>GitHub Actions documentation</a:t>
            </a:r>
            <a:r>
              <a:rPr lang="en-GB" dirty="0"/>
              <a:t>. Available from: </a:t>
            </a:r>
            <a:r>
              <a:rPr lang="en-GB" dirty="0">
                <a:hlinkClick r:id="rId7"/>
              </a:rPr>
              <a:t>https://docs.github.com/en/actions</a:t>
            </a:r>
            <a:r>
              <a:rPr lang="en-GB" dirty="0"/>
              <a:t> [Accessed 21 February 2026].</a:t>
            </a:r>
          </a:p>
          <a:p>
            <a:r>
              <a:rPr lang="en-GB" b="1" dirty="0"/>
              <a:t>[07]</a:t>
            </a:r>
            <a:r>
              <a:rPr lang="en-GB" dirty="0"/>
              <a:t> Microsoft Azure (2024) </a:t>
            </a:r>
            <a:r>
              <a:rPr lang="en-GB" i="1" dirty="0"/>
              <a:t>Azure SQL Database documentation</a:t>
            </a:r>
            <a:r>
              <a:rPr lang="en-GB" dirty="0"/>
              <a:t>. Available from: </a:t>
            </a:r>
            <a:r>
              <a:rPr lang="en-GB" dirty="0">
                <a:hlinkClick r:id="rId8"/>
              </a:rPr>
              <a:t>https://docs.microsoft.com/en-us/azure/azure-sql/</a:t>
            </a:r>
            <a:r>
              <a:rPr lang="en-GB" dirty="0"/>
              <a:t> [Accessed 23 February 2026].</a:t>
            </a:r>
          </a:p>
          <a:p>
            <a:r>
              <a:rPr lang="en-GB" b="1" dirty="0"/>
              <a:t>[08]</a:t>
            </a:r>
            <a:r>
              <a:rPr lang="en-GB" dirty="0"/>
              <a:t> Microsoft Azure (2024) </a:t>
            </a:r>
            <a:r>
              <a:rPr lang="en-GB" i="1" dirty="0"/>
              <a:t>Azure Policy documentation</a:t>
            </a:r>
            <a:r>
              <a:rPr lang="en-GB" dirty="0"/>
              <a:t>. Available from: </a:t>
            </a:r>
            <a:r>
              <a:rPr lang="en-GB" dirty="0">
                <a:hlinkClick r:id="rId9"/>
              </a:rPr>
              <a:t>https://docs.microsoft.com/en-us/azure/governance/policy/</a:t>
            </a:r>
            <a:r>
              <a:rPr lang="en-GB" dirty="0"/>
              <a:t> [Accessed 23 February 2026].</a:t>
            </a:r>
          </a:p>
          <a:p>
            <a:r>
              <a:rPr lang="en-GB" b="1" dirty="0"/>
              <a:t>[09]</a:t>
            </a:r>
            <a:r>
              <a:rPr lang="en-GB" dirty="0"/>
              <a:t> Microsoft Azure (2024) </a:t>
            </a:r>
            <a:r>
              <a:rPr lang="en-GB" i="1" dirty="0"/>
              <a:t>Azure architecture </a:t>
            </a:r>
            <a:r>
              <a:rPr lang="en-GB" i="1" dirty="0" err="1"/>
              <a:t>center</a:t>
            </a:r>
            <a:r>
              <a:rPr lang="en-GB" i="1" dirty="0"/>
              <a:t>: Web-queue-worker architecture style</a:t>
            </a:r>
            <a:r>
              <a:rPr lang="en-GB" dirty="0"/>
              <a:t>. Available from: </a:t>
            </a:r>
            <a:r>
              <a:rPr lang="en-GB" dirty="0">
                <a:hlinkClick r:id="rId10"/>
              </a:rPr>
              <a:t>https://docs.microsoft.com/en-us/azure/architecture/guide/architecture-styles/web-queue-worker</a:t>
            </a:r>
            <a:r>
              <a:rPr lang="en-GB" dirty="0"/>
              <a:t> [Accessed 23 February 2026].</a:t>
            </a:r>
          </a:p>
          <a:p>
            <a:r>
              <a:rPr lang="en-GB" b="1" dirty="0"/>
              <a:t>[10]</a:t>
            </a:r>
            <a:r>
              <a:rPr lang="en-GB" dirty="0"/>
              <a:t> Microsoft Azure (2024) </a:t>
            </a:r>
            <a:r>
              <a:rPr lang="en-GB" i="1" dirty="0"/>
              <a:t>Azure architecture </a:t>
            </a:r>
            <a:r>
              <a:rPr lang="en-GB" i="1" dirty="0" err="1"/>
              <a:t>center</a:t>
            </a:r>
            <a:r>
              <a:rPr lang="en-GB" i="1" dirty="0"/>
              <a:t>: N-tier architecture style</a:t>
            </a:r>
            <a:r>
              <a:rPr lang="en-GB" dirty="0"/>
              <a:t>. Available from: </a:t>
            </a:r>
            <a:r>
              <a:rPr lang="en-GB" dirty="0">
                <a:hlinkClick r:id="rId11"/>
              </a:rPr>
              <a:t>https://docs.microsoft.com/en-us/azure/architecture/guide/architecture-styles/n-tier</a:t>
            </a:r>
            <a:r>
              <a:rPr lang="en-GB" dirty="0"/>
              <a:t> [Accessed 23 February 2026].</a:t>
            </a:r>
          </a:p>
          <a:p>
            <a:pPr>
              <a:buNone/>
            </a:pPr>
            <a:r>
              <a:rPr lang="en-GB" b="1" dirty="0"/>
              <a:t>[11]</a:t>
            </a:r>
            <a:r>
              <a:rPr lang="en-GB" dirty="0"/>
              <a:t> Microsoft Azure (2024) </a:t>
            </a:r>
            <a:r>
              <a:rPr lang="en-GB" i="1" dirty="0"/>
              <a:t>Shared access signatures (SAS) overview</a:t>
            </a:r>
            <a:r>
              <a:rPr lang="en-GB" dirty="0"/>
              <a:t>. Available from: </a:t>
            </a:r>
            <a:r>
              <a:rPr lang="en-GB" dirty="0">
                <a:hlinkClick r:id="rId12"/>
              </a:rPr>
              <a:t>https://docs.microsoft.com/en-us/azure/storage/common/storage-sas-overview</a:t>
            </a:r>
            <a:r>
              <a:rPr lang="en-GB" dirty="0"/>
              <a:t> [Accessed 26 February 2026].</a:t>
            </a:r>
          </a:p>
          <a:p>
            <a:pPr>
              <a:buNone/>
            </a:pPr>
            <a:r>
              <a:rPr lang="en-GB" b="1" dirty="0"/>
              <a:t>[12]</a:t>
            </a:r>
            <a:r>
              <a:rPr lang="en-GB" dirty="0"/>
              <a:t> Codd, E.F. (1970) A relational model of data for large shared data banks. </a:t>
            </a:r>
            <a:r>
              <a:rPr lang="en-GB" i="1" dirty="0"/>
              <a:t>Communications of the ACM</a:t>
            </a:r>
            <a:r>
              <a:rPr lang="en-GB" dirty="0"/>
              <a:t>, 13(6), pp. 377–387.</a:t>
            </a:r>
          </a:p>
          <a:p>
            <a:pPr>
              <a:buNone/>
            </a:pPr>
            <a:r>
              <a:rPr lang="en-GB" b="1" dirty="0"/>
              <a:t>[13]</a:t>
            </a:r>
            <a:r>
              <a:rPr lang="en-GB" dirty="0"/>
              <a:t> NIST (2019) </a:t>
            </a:r>
            <a:r>
              <a:rPr lang="en-GB" i="1" dirty="0"/>
              <a:t>Common vulnerability scoring system v3.1 specification document</a:t>
            </a:r>
            <a:r>
              <a:rPr lang="en-GB" dirty="0"/>
              <a:t>. Available from: </a:t>
            </a:r>
            <a:r>
              <a:rPr lang="en-GB" dirty="0">
                <a:hlinkClick r:id="rId13"/>
              </a:rPr>
              <a:t>https://www.first.org/cvss/specification-document</a:t>
            </a:r>
            <a:r>
              <a:rPr lang="en-GB" dirty="0"/>
              <a:t> [Accessed 28 February 2026].</a:t>
            </a:r>
          </a:p>
          <a:p>
            <a:pPr>
              <a:buNone/>
            </a:pPr>
            <a:r>
              <a:rPr lang="en-GB" b="1" dirty="0"/>
              <a:t>[14]</a:t>
            </a:r>
            <a:r>
              <a:rPr lang="en-GB" dirty="0"/>
              <a:t> Fielding, R.T. (2000) </a:t>
            </a:r>
            <a:r>
              <a:rPr lang="en-GB" i="1" dirty="0"/>
              <a:t>Architectural styles and the design of network-based software architectures</a:t>
            </a:r>
            <a:r>
              <a:rPr lang="en-GB" dirty="0"/>
              <a:t>. PhD thesis, University of California, Irvine. Available from: </a:t>
            </a:r>
            <a:r>
              <a:rPr lang="en-GB" dirty="0">
                <a:hlinkClick r:id="rId14"/>
              </a:rPr>
              <a:t>https://ics.uci.edu/~fielding/pubs/dissertation/rest_arch_style.htm</a:t>
            </a:r>
            <a:r>
              <a:rPr lang="en-GB" dirty="0"/>
              <a:t> [Accessed 26 February 2026].</a:t>
            </a:r>
          </a:p>
          <a:p>
            <a:pPr>
              <a:buNone/>
            </a:pPr>
            <a:r>
              <a:rPr lang="en-GB" b="1" dirty="0"/>
              <a:t>[15]</a:t>
            </a:r>
            <a:r>
              <a:rPr lang="en-GB" dirty="0"/>
              <a:t> Fowler, M. (2014) </a:t>
            </a:r>
            <a:r>
              <a:rPr lang="en-GB" i="1" dirty="0"/>
              <a:t>Microservices</a:t>
            </a:r>
            <a:r>
              <a:rPr lang="en-GB" dirty="0"/>
              <a:t>. Available from: </a:t>
            </a:r>
            <a:r>
              <a:rPr lang="en-GB" dirty="0">
                <a:hlinkClick r:id="rId15"/>
              </a:rPr>
              <a:t>https://martinfowler.com/articles/microservices.html</a:t>
            </a:r>
            <a:r>
              <a:rPr lang="en-GB" dirty="0"/>
              <a:t> [Accessed 28 February 2026].</a:t>
            </a:r>
          </a:p>
          <a:p>
            <a:r>
              <a:rPr lang="en-GB" b="1" dirty="0"/>
              <a:t>[16]</a:t>
            </a:r>
            <a:r>
              <a:rPr lang="en-GB" dirty="0"/>
              <a:t> Microsoft Azure (2024) </a:t>
            </a:r>
            <a:r>
              <a:rPr lang="en-GB" i="1" dirty="0"/>
              <a:t>Azure Key Vault documentation</a:t>
            </a:r>
            <a:r>
              <a:rPr lang="en-GB" dirty="0"/>
              <a:t>. Available from: </a:t>
            </a:r>
            <a:r>
              <a:rPr lang="en-GB" dirty="0">
                <a:hlinkClick r:id="rId16"/>
              </a:rPr>
              <a:t>https://docs.microsoft.com/en-us/azure/key-vault/</a:t>
            </a:r>
            <a:r>
              <a:rPr lang="en-GB" dirty="0"/>
              <a:t> [Accessed 28 February 2026].</a:t>
            </a:r>
          </a:p>
          <a:p>
            <a:r>
              <a:rPr lang="en-GB" b="1" dirty="0"/>
              <a:t>[17]</a:t>
            </a:r>
            <a:r>
              <a:rPr lang="en-GB" dirty="0"/>
              <a:t> Ulster University (2024) </a:t>
            </a:r>
            <a:r>
              <a:rPr lang="en-GB" i="1" dirty="0"/>
              <a:t>COM682 cloud native development: Lecture materials weeks 1–6</a:t>
            </a:r>
            <a:r>
              <a:rPr lang="en-GB" dirty="0"/>
              <a:t>. Ulster University, unpublished.</a:t>
            </a:r>
          </a:p>
          <a:p>
            <a:pPr>
              <a:buNone/>
            </a:pPr>
            <a:r>
              <a:rPr lang="en-GB" b="1" dirty="0"/>
              <a:t>[18]</a:t>
            </a:r>
            <a:r>
              <a:rPr lang="en-GB" dirty="0"/>
              <a:t> Microsoft Azure (2024) </a:t>
            </a:r>
            <a:r>
              <a:rPr lang="en-GB" i="1" dirty="0"/>
              <a:t>Azure Content Moderator documentation</a:t>
            </a:r>
            <a:r>
              <a:rPr lang="en-GB" dirty="0"/>
              <a:t>. Available from: </a:t>
            </a:r>
            <a:r>
              <a:rPr lang="en-GB" dirty="0">
                <a:hlinkClick r:id="rId17"/>
              </a:rPr>
              <a:t>https://learn.microsoft.com/en-us/azure/ai-services/content-moderator/</a:t>
            </a:r>
            <a:r>
              <a:rPr lang="en-GB" dirty="0"/>
              <a:t> [Accessed 4 March 2026].</a:t>
            </a:r>
          </a:p>
          <a:p>
            <a:pPr>
              <a:buNone/>
            </a:pPr>
            <a:r>
              <a:rPr lang="en-GB" b="1" dirty="0"/>
              <a:t>[19] </a:t>
            </a:r>
            <a:r>
              <a:rPr lang="en-GB" dirty="0"/>
              <a:t>Microsoft Azure (2024) </a:t>
            </a:r>
            <a:r>
              <a:rPr lang="en-GB" i="1" dirty="0"/>
              <a:t>Azure Anomaly Detector documentation</a:t>
            </a:r>
            <a:r>
              <a:rPr lang="en-GB" dirty="0"/>
              <a:t>. Available from: </a:t>
            </a:r>
            <a:r>
              <a:rPr lang="en-GB" dirty="0">
                <a:hlinkClick r:id="rId18"/>
              </a:rPr>
              <a:t>https://docs.microsoft.com/en-us/azure/cognitive-services/anomaly-detector/</a:t>
            </a:r>
            <a:r>
              <a:rPr lang="en-GB" dirty="0"/>
              <a:t> [Accessed 4 March 2026].</a:t>
            </a:r>
          </a:p>
          <a:p>
            <a:pPr>
              <a:buNone/>
            </a:pPr>
            <a:r>
              <a:rPr lang="en-GB" b="1" dirty="0"/>
              <a:t>[20] </a:t>
            </a:r>
            <a:r>
              <a:rPr lang="en-GB" dirty="0"/>
              <a:t>Microsoft Azure (2024) </a:t>
            </a:r>
            <a:r>
              <a:rPr lang="en-GB" i="1" dirty="0"/>
              <a:t>Azure Active Directory documentation</a:t>
            </a:r>
            <a:r>
              <a:rPr lang="en-GB" dirty="0"/>
              <a:t>. Available from: </a:t>
            </a:r>
            <a:r>
              <a:rPr lang="en-GB" dirty="0">
                <a:hlinkClick r:id="rId19"/>
              </a:rPr>
              <a:t>https://docs.microsoft.com/en-us/azure/active-directory/</a:t>
            </a:r>
            <a:r>
              <a:rPr lang="en-GB" dirty="0"/>
              <a:t> [Accessed 4 March 2026].</a:t>
            </a:r>
          </a:p>
        </p:txBody>
      </p:sp>
      <p:sp>
        <p:nvSpPr>
          <p:cNvPr id="4" name="TextBox 6">
            <a:extLst>
              <a:ext uri="{FF2B5EF4-FFF2-40B4-BE49-F238E27FC236}">
                <a16:creationId xmlns:a16="http://schemas.microsoft.com/office/drawing/2014/main" id="{A35B2F01-39CD-6866-6BAE-9212E423AEEA}"/>
              </a:ext>
            </a:extLst>
          </p:cNvPr>
          <p:cNvSpPr txBox="1"/>
          <p:nvPr/>
        </p:nvSpPr>
        <p:spPr>
          <a:xfrm>
            <a:off x="992238" y="967978"/>
            <a:ext cx="16313049" cy="577081"/>
          </a:xfrm>
          <a:prstGeom prst="rect">
            <a:avLst/>
          </a:prstGeom>
        </p:spPr>
        <p:txBody>
          <a:bodyPr wrap="square" lIns="0" tIns="0" rIns="0" bIns="0" rtlCol="0" anchor="t">
            <a:spAutoFit/>
          </a:bodyPr>
          <a:lstStyle/>
          <a:p>
            <a:pPr algn="l">
              <a:lnSpc>
                <a:spcPts val="4499"/>
              </a:lnSpc>
            </a:pPr>
            <a:r>
              <a:rPr lang="en-US" sz="4400" b="1" dirty="0">
                <a:solidFill>
                  <a:srgbClr val="152D47"/>
                </a:solidFill>
                <a:latin typeface="Cambria" panose="02040503050406030204" pitchFamily="18" charset="0"/>
                <a:ea typeface="Crimson Pro Bold"/>
                <a:cs typeface="Crimson Pro Bold"/>
                <a:sym typeface="Crimson Pro Bold"/>
              </a:rPr>
              <a:t>References</a:t>
            </a:r>
          </a:p>
        </p:txBody>
      </p:sp>
    </p:spTree>
    <p:extLst>
      <p:ext uri="{BB962C8B-B14F-4D97-AF65-F5344CB8AC3E}">
        <p14:creationId xmlns:p14="http://schemas.microsoft.com/office/powerpoint/2010/main" val="389796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0F0F1"/>
            </a:solidFill>
          </p:spPr>
          <p:txBody>
            <a:bodyPr/>
            <a:lstStyle/>
            <a:p>
              <a:endParaRPr lang="en-US">
                <a:latin typeface="Cambria" panose="02040503050406030204" pitchFamily="18" charset="0"/>
              </a:endParaRPr>
            </a:p>
          </p:txBody>
        </p:sp>
      </p:grpSp>
      <p:grpSp>
        <p:nvGrpSpPr>
          <p:cNvPr id="4" name="Group 4"/>
          <p:cNvGrpSpPr/>
          <p:nvPr/>
        </p:nvGrpSpPr>
        <p:grpSpPr>
          <a:xfrm>
            <a:off x="0" y="18727"/>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txBody>
            <a:bodyPr/>
            <a:lstStyle/>
            <a:p>
              <a:endParaRPr lang="en-US" dirty="0">
                <a:latin typeface="Cambria" panose="02040503050406030204" pitchFamily="18" charset="0"/>
              </a:endParaRPr>
            </a:p>
          </p:txBody>
        </p:sp>
      </p:grpSp>
      <p:sp>
        <p:nvSpPr>
          <p:cNvPr id="6" name="TextBox 6"/>
          <p:cNvSpPr txBox="1"/>
          <p:nvPr/>
        </p:nvSpPr>
        <p:spPr>
          <a:xfrm>
            <a:off x="992238" y="967978"/>
            <a:ext cx="16313049" cy="577081"/>
          </a:xfrm>
          <a:prstGeom prst="rect">
            <a:avLst/>
          </a:prstGeom>
        </p:spPr>
        <p:txBody>
          <a:bodyPr wrap="square" lIns="0" tIns="0" rIns="0" bIns="0" rtlCol="0" anchor="t">
            <a:spAutoFit/>
          </a:bodyPr>
          <a:lstStyle/>
          <a:p>
            <a:pPr algn="l">
              <a:lnSpc>
                <a:spcPts val="4499"/>
              </a:lnSpc>
            </a:pPr>
            <a:r>
              <a:rPr lang="en-US" sz="4400" b="1" dirty="0">
                <a:solidFill>
                  <a:srgbClr val="152D47"/>
                </a:solidFill>
                <a:latin typeface="Cambria" panose="02040503050406030204" pitchFamily="18" charset="0"/>
                <a:ea typeface="Crimson Pro Bold"/>
                <a:cs typeface="Crimson Pro Bold"/>
                <a:sym typeface="Crimson Pro Bold"/>
              </a:rPr>
              <a:t>Submission Checklist</a:t>
            </a:r>
          </a:p>
        </p:txBody>
      </p:sp>
      <p:sp>
        <p:nvSpPr>
          <p:cNvPr id="20" name="TextBox 20"/>
          <p:cNvSpPr txBox="1"/>
          <p:nvPr/>
        </p:nvSpPr>
        <p:spPr>
          <a:xfrm>
            <a:off x="993530" y="1864615"/>
            <a:ext cx="5023542" cy="265522"/>
          </a:xfrm>
          <a:prstGeom prst="rect">
            <a:avLst/>
          </a:prstGeom>
        </p:spPr>
        <p:txBody>
          <a:bodyPr wrap="square" lIns="0" tIns="0" rIns="0" bIns="0" rtlCol="0" anchor="t">
            <a:spAutoFit/>
          </a:bodyPr>
          <a:lstStyle/>
          <a:p>
            <a:pPr algn="l">
              <a:lnSpc>
                <a:spcPts val="2249"/>
              </a:lnSpc>
            </a:pPr>
            <a:r>
              <a:rPr lang="en-US" sz="1812" b="1" dirty="0">
                <a:solidFill>
                  <a:srgbClr val="152D47"/>
                </a:solidFill>
                <a:latin typeface="Cambria" panose="02040503050406030204" pitchFamily="18" charset="0"/>
                <a:ea typeface="Crimson Pro Bold"/>
                <a:cs typeface="Crimson Pro Bold"/>
                <a:sym typeface="Crimson Pro Bold"/>
              </a:rPr>
              <a:t>Appendix III — CW1 Submission Checklist</a:t>
            </a:r>
          </a:p>
        </p:txBody>
      </p:sp>
      <p:grpSp>
        <p:nvGrpSpPr>
          <p:cNvPr id="21" name="Group 21"/>
          <p:cNvGrpSpPr/>
          <p:nvPr/>
        </p:nvGrpSpPr>
        <p:grpSpPr>
          <a:xfrm>
            <a:off x="992238" y="2346202"/>
            <a:ext cx="888797" cy="333670"/>
            <a:chOff x="0" y="0"/>
            <a:chExt cx="1185062" cy="444894"/>
          </a:xfrm>
        </p:grpSpPr>
        <p:sp>
          <p:nvSpPr>
            <p:cNvPr id="22" name="Freeform 22"/>
            <p:cNvSpPr/>
            <p:nvPr/>
          </p:nvSpPr>
          <p:spPr>
            <a:xfrm>
              <a:off x="0" y="0"/>
              <a:ext cx="1185037" cy="444881"/>
            </a:xfrm>
            <a:custGeom>
              <a:avLst/>
              <a:gdLst/>
              <a:ahLst/>
              <a:cxnLst/>
              <a:rect l="l" t="t" r="r" b="b"/>
              <a:pathLst>
                <a:path w="1185037" h="444881">
                  <a:moveTo>
                    <a:pt x="0" y="35814"/>
                  </a:moveTo>
                  <a:cubicBezTo>
                    <a:pt x="0" y="15875"/>
                    <a:pt x="16383" y="0"/>
                    <a:pt x="36322" y="0"/>
                  </a:cubicBezTo>
                  <a:lnTo>
                    <a:pt x="1148715" y="0"/>
                  </a:lnTo>
                  <a:lnTo>
                    <a:pt x="1148715" y="6350"/>
                  </a:lnTo>
                  <a:lnTo>
                    <a:pt x="1148715" y="0"/>
                  </a:lnTo>
                  <a:cubicBezTo>
                    <a:pt x="1168654" y="0"/>
                    <a:pt x="1185037" y="15875"/>
                    <a:pt x="1185037" y="35814"/>
                  </a:cubicBezTo>
                  <a:lnTo>
                    <a:pt x="1178687" y="35814"/>
                  </a:lnTo>
                  <a:lnTo>
                    <a:pt x="1185037" y="35814"/>
                  </a:lnTo>
                  <a:lnTo>
                    <a:pt x="1185037" y="409067"/>
                  </a:lnTo>
                  <a:lnTo>
                    <a:pt x="1178687" y="409067"/>
                  </a:lnTo>
                  <a:lnTo>
                    <a:pt x="1185037" y="409067"/>
                  </a:lnTo>
                  <a:cubicBezTo>
                    <a:pt x="1185037" y="429006"/>
                    <a:pt x="1168654" y="444881"/>
                    <a:pt x="1148715" y="444881"/>
                  </a:cubicBezTo>
                  <a:lnTo>
                    <a:pt x="1148715" y="438531"/>
                  </a:lnTo>
                  <a:lnTo>
                    <a:pt x="1148715" y="444881"/>
                  </a:lnTo>
                  <a:lnTo>
                    <a:pt x="36322" y="444881"/>
                  </a:lnTo>
                  <a:lnTo>
                    <a:pt x="36322" y="438531"/>
                  </a:lnTo>
                  <a:lnTo>
                    <a:pt x="36322" y="444881"/>
                  </a:lnTo>
                  <a:cubicBezTo>
                    <a:pt x="16383" y="444881"/>
                    <a:pt x="0" y="429006"/>
                    <a:pt x="0" y="409067"/>
                  </a:cubicBezTo>
                  <a:lnTo>
                    <a:pt x="0" y="35814"/>
                  </a:lnTo>
                  <a:lnTo>
                    <a:pt x="6350" y="35814"/>
                  </a:lnTo>
                  <a:lnTo>
                    <a:pt x="0" y="35814"/>
                  </a:lnTo>
                  <a:moveTo>
                    <a:pt x="12700" y="35814"/>
                  </a:moveTo>
                  <a:lnTo>
                    <a:pt x="12700" y="409067"/>
                  </a:lnTo>
                  <a:lnTo>
                    <a:pt x="6350" y="409067"/>
                  </a:lnTo>
                  <a:lnTo>
                    <a:pt x="12700" y="409067"/>
                  </a:lnTo>
                  <a:cubicBezTo>
                    <a:pt x="12700" y="421767"/>
                    <a:pt x="23241" y="432181"/>
                    <a:pt x="36322" y="432181"/>
                  </a:cubicBezTo>
                  <a:lnTo>
                    <a:pt x="1148715" y="432181"/>
                  </a:lnTo>
                  <a:cubicBezTo>
                    <a:pt x="1161923" y="432181"/>
                    <a:pt x="1172337" y="421767"/>
                    <a:pt x="1172337" y="409067"/>
                  </a:cubicBezTo>
                  <a:lnTo>
                    <a:pt x="1172337" y="35814"/>
                  </a:lnTo>
                  <a:cubicBezTo>
                    <a:pt x="1172337" y="23114"/>
                    <a:pt x="1161796" y="12700"/>
                    <a:pt x="1148715" y="12700"/>
                  </a:cubicBezTo>
                  <a:lnTo>
                    <a:pt x="36322" y="12700"/>
                  </a:lnTo>
                  <a:lnTo>
                    <a:pt x="36322" y="6350"/>
                  </a:lnTo>
                  <a:lnTo>
                    <a:pt x="36322" y="12700"/>
                  </a:lnTo>
                  <a:cubicBezTo>
                    <a:pt x="23241" y="12700"/>
                    <a:pt x="12700" y="23114"/>
                    <a:pt x="12700" y="35814"/>
                  </a:cubicBezTo>
                  <a:close/>
                </a:path>
              </a:pathLst>
            </a:custGeom>
            <a:solidFill>
              <a:srgbClr val="2150FE"/>
            </a:solidFill>
          </p:spPr>
          <p:txBody>
            <a:bodyPr/>
            <a:lstStyle/>
            <a:p>
              <a:endParaRPr lang="en-US">
                <a:latin typeface="Cambria" panose="02040503050406030204" pitchFamily="18" charset="0"/>
              </a:endParaRPr>
            </a:p>
          </p:txBody>
        </p:sp>
      </p:grpSp>
      <p:sp>
        <p:nvSpPr>
          <p:cNvPr id="23" name="TextBox 23"/>
          <p:cNvSpPr txBox="1"/>
          <p:nvPr/>
        </p:nvSpPr>
        <p:spPr>
          <a:xfrm>
            <a:off x="1116944" y="2447075"/>
            <a:ext cx="639366" cy="177036"/>
          </a:xfrm>
          <a:prstGeom prst="rect">
            <a:avLst/>
          </a:prstGeom>
        </p:spPr>
        <p:txBody>
          <a:bodyPr lIns="0" tIns="0" rIns="0" bIns="0" rtlCol="0" anchor="t">
            <a:spAutoFit/>
          </a:bodyPr>
          <a:lstStyle/>
          <a:p>
            <a:pPr algn="l">
              <a:lnSpc>
                <a:spcPts val="1500"/>
              </a:lnSpc>
            </a:pPr>
            <a:r>
              <a:rPr lang="en-US" sz="1124" dirty="0">
                <a:solidFill>
                  <a:srgbClr val="2150FE"/>
                </a:solidFill>
                <a:latin typeface="Cambria" panose="02040503050406030204" pitchFamily="18" charset="0"/>
                <a:ea typeface="Heebo"/>
                <a:cs typeface="Heebo"/>
                <a:sym typeface="Heebo"/>
              </a:rPr>
              <a:t>GENERAL</a:t>
            </a:r>
          </a:p>
        </p:txBody>
      </p:sp>
      <p:sp>
        <p:nvSpPr>
          <p:cNvPr id="24" name="TextBox 24"/>
          <p:cNvSpPr txBox="1"/>
          <p:nvPr/>
        </p:nvSpPr>
        <p:spPr>
          <a:xfrm>
            <a:off x="992238" y="2886075"/>
            <a:ext cx="12495162" cy="379912"/>
          </a:xfrm>
          <a:prstGeom prst="rect">
            <a:avLst/>
          </a:prstGeom>
        </p:spPr>
        <p:txBody>
          <a:bodyPr wrap="square" lIns="0" tIns="0" rIns="0" bIns="0" rtlCol="0" anchor="t">
            <a:spAutoFit/>
          </a:bodyPr>
          <a:lstStyle/>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Title slide includes project name, one-line description, student name and student number</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Submission produced in PowerPoint format and within 15 slides (excluding checklist appendix)</a:t>
            </a:r>
          </a:p>
        </p:txBody>
      </p:sp>
      <p:grpSp>
        <p:nvGrpSpPr>
          <p:cNvPr id="25" name="Group 25"/>
          <p:cNvGrpSpPr/>
          <p:nvPr/>
        </p:nvGrpSpPr>
        <p:grpSpPr>
          <a:xfrm>
            <a:off x="1012231" y="3393912"/>
            <a:ext cx="1737570" cy="333670"/>
            <a:chOff x="0" y="0"/>
            <a:chExt cx="2316759" cy="444894"/>
          </a:xfrm>
        </p:grpSpPr>
        <p:sp>
          <p:nvSpPr>
            <p:cNvPr id="26" name="Freeform 26"/>
            <p:cNvSpPr/>
            <p:nvPr/>
          </p:nvSpPr>
          <p:spPr>
            <a:xfrm>
              <a:off x="0" y="0"/>
              <a:ext cx="2316734" cy="444881"/>
            </a:xfrm>
            <a:custGeom>
              <a:avLst/>
              <a:gdLst/>
              <a:ahLst/>
              <a:cxnLst/>
              <a:rect l="l" t="t" r="r" b="b"/>
              <a:pathLst>
                <a:path w="2316734" h="444881">
                  <a:moveTo>
                    <a:pt x="0" y="35814"/>
                  </a:moveTo>
                  <a:cubicBezTo>
                    <a:pt x="0" y="15875"/>
                    <a:pt x="16510" y="0"/>
                    <a:pt x="36576" y="0"/>
                  </a:cubicBezTo>
                  <a:lnTo>
                    <a:pt x="2280158" y="0"/>
                  </a:lnTo>
                  <a:lnTo>
                    <a:pt x="2280158" y="6350"/>
                  </a:lnTo>
                  <a:lnTo>
                    <a:pt x="2280158" y="0"/>
                  </a:lnTo>
                  <a:cubicBezTo>
                    <a:pt x="2300224" y="0"/>
                    <a:pt x="2316734" y="15875"/>
                    <a:pt x="2316734" y="35814"/>
                  </a:cubicBezTo>
                  <a:lnTo>
                    <a:pt x="2310384" y="35814"/>
                  </a:lnTo>
                  <a:lnTo>
                    <a:pt x="2316734" y="35814"/>
                  </a:lnTo>
                  <a:lnTo>
                    <a:pt x="2316734" y="409067"/>
                  </a:lnTo>
                  <a:lnTo>
                    <a:pt x="2310384" y="409067"/>
                  </a:lnTo>
                  <a:lnTo>
                    <a:pt x="2316734" y="409067"/>
                  </a:lnTo>
                  <a:cubicBezTo>
                    <a:pt x="2316734" y="429006"/>
                    <a:pt x="2300224" y="444881"/>
                    <a:pt x="2280158" y="444881"/>
                  </a:cubicBezTo>
                  <a:lnTo>
                    <a:pt x="2280158" y="438531"/>
                  </a:lnTo>
                  <a:lnTo>
                    <a:pt x="2280158" y="444881"/>
                  </a:lnTo>
                  <a:lnTo>
                    <a:pt x="36576" y="444881"/>
                  </a:lnTo>
                  <a:lnTo>
                    <a:pt x="36576" y="438531"/>
                  </a:lnTo>
                  <a:lnTo>
                    <a:pt x="36576" y="444881"/>
                  </a:lnTo>
                  <a:cubicBezTo>
                    <a:pt x="16510" y="444881"/>
                    <a:pt x="0" y="429006"/>
                    <a:pt x="0" y="409067"/>
                  </a:cubicBezTo>
                  <a:lnTo>
                    <a:pt x="0" y="35814"/>
                  </a:lnTo>
                  <a:lnTo>
                    <a:pt x="6350" y="35814"/>
                  </a:lnTo>
                  <a:lnTo>
                    <a:pt x="0" y="35814"/>
                  </a:lnTo>
                  <a:moveTo>
                    <a:pt x="12700" y="35814"/>
                  </a:moveTo>
                  <a:lnTo>
                    <a:pt x="12700" y="409067"/>
                  </a:lnTo>
                  <a:lnTo>
                    <a:pt x="6350" y="409067"/>
                  </a:lnTo>
                  <a:lnTo>
                    <a:pt x="12700" y="409067"/>
                  </a:lnTo>
                  <a:cubicBezTo>
                    <a:pt x="12700" y="421767"/>
                    <a:pt x="23241" y="432181"/>
                    <a:pt x="36576" y="432181"/>
                  </a:cubicBezTo>
                  <a:lnTo>
                    <a:pt x="2280158" y="432181"/>
                  </a:lnTo>
                  <a:cubicBezTo>
                    <a:pt x="2293493" y="432181"/>
                    <a:pt x="2304034" y="421640"/>
                    <a:pt x="2304034" y="409067"/>
                  </a:cubicBezTo>
                  <a:lnTo>
                    <a:pt x="2304034" y="35814"/>
                  </a:lnTo>
                  <a:cubicBezTo>
                    <a:pt x="2304034" y="23114"/>
                    <a:pt x="2293493" y="12700"/>
                    <a:pt x="2280158" y="12700"/>
                  </a:cubicBezTo>
                  <a:lnTo>
                    <a:pt x="36576" y="12700"/>
                  </a:lnTo>
                  <a:lnTo>
                    <a:pt x="36576" y="6350"/>
                  </a:lnTo>
                  <a:lnTo>
                    <a:pt x="36576" y="12700"/>
                  </a:lnTo>
                  <a:cubicBezTo>
                    <a:pt x="23241" y="12700"/>
                    <a:pt x="12700" y="23241"/>
                    <a:pt x="12700" y="35814"/>
                  </a:cubicBezTo>
                  <a:close/>
                </a:path>
              </a:pathLst>
            </a:custGeom>
            <a:solidFill>
              <a:srgbClr val="2150FE"/>
            </a:solidFill>
          </p:spPr>
          <p:txBody>
            <a:bodyPr/>
            <a:lstStyle/>
            <a:p>
              <a:endParaRPr lang="en-US">
                <a:latin typeface="Cambria" panose="02040503050406030204" pitchFamily="18" charset="0"/>
              </a:endParaRPr>
            </a:p>
          </p:txBody>
        </p:sp>
      </p:grpSp>
      <p:sp>
        <p:nvSpPr>
          <p:cNvPr id="27" name="TextBox 27"/>
          <p:cNvSpPr txBox="1"/>
          <p:nvPr/>
        </p:nvSpPr>
        <p:spPr>
          <a:xfrm>
            <a:off x="1116944" y="3481005"/>
            <a:ext cx="1488129" cy="177036"/>
          </a:xfrm>
          <a:prstGeom prst="rect">
            <a:avLst/>
          </a:prstGeom>
        </p:spPr>
        <p:txBody>
          <a:bodyPr lIns="0" tIns="0" rIns="0" bIns="0" rtlCol="0" anchor="t">
            <a:spAutoFit/>
          </a:bodyPr>
          <a:lstStyle/>
          <a:p>
            <a:pPr algn="l">
              <a:lnSpc>
                <a:spcPts val="1500"/>
              </a:lnSpc>
            </a:pPr>
            <a:r>
              <a:rPr lang="en-US" sz="1124" dirty="0">
                <a:solidFill>
                  <a:srgbClr val="2150FE"/>
                </a:solidFill>
                <a:latin typeface="Cambria" panose="02040503050406030204" pitchFamily="18" charset="0"/>
                <a:ea typeface="Heebo"/>
                <a:cs typeface="Heebo"/>
                <a:sym typeface="Heebo"/>
              </a:rPr>
              <a:t>PROBLEM &amp; CONTEXT</a:t>
            </a:r>
          </a:p>
        </p:txBody>
      </p:sp>
      <p:sp>
        <p:nvSpPr>
          <p:cNvPr id="28" name="TextBox 28"/>
          <p:cNvSpPr txBox="1"/>
          <p:nvPr/>
        </p:nvSpPr>
        <p:spPr>
          <a:xfrm>
            <a:off x="1012245" y="3887981"/>
            <a:ext cx="7927029" cy="561757"/>
          </a:xfrm>
          <a:prstGeom prst="rect">
            <a:avLst/>
          </a:prstGeom>
        </p:spPr>
        <p:txBody>
          <a:bodyPr lIns="0" tIns="0" rIns="0" bIns="0" rtlCol="0" anchor="t">
            <a:spAutoFit/>
          </a:bodyPr>
          <a:lstStyle/>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Problem being solved is clearly discussed — traditional infrastructure failures for cybersecurity evidence management</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Scalability issues of resources identified and discussed — RDBMS moderate scalability, N-Tier monolithic constraints, Pay 24/7 cost model</a:t>
            </a:r>
          </a:p>
        </p:txBody>
      </p:sp>
      <p:grpSp>
        <p:nvGrpSpPr>
          <p:cNvPr id="29" name="Group 29"/>
          <p:cNvGrpSpPr/>
          <p:nvPr/>
        </p:nvGrpSpPr>
        <p:grpSpPr>
          <a:xfrm>
            <a:off x="1008593" y="4617030"/>
            <a:ext cx="1496016" cy="333670"/>
            <a:chOff x="0" y="0"/>
            <a:chExt cx="1994687" cy="444894"/>
          </a:xfrm>
        </p:grpSpPr>
        <p:sp>
          <p:nvSpPr>
            <p:cNvPr id="30" name="Freeform 30"/>
            <p:cNvSpPr/>
            <p:nvPr/>
          </p:nvSpPr>
          <p:spPr>
            <a:xfrm>
              <a:off x="0" y="0"/>
              <a:ext cx="1994662" cy="444881"/>
            </a:xfrm>
            <a:custGeom>
              <a:avLst/>
              <a:gdLst/>
              <a:ahLst/>
              <a:cxnLst/>
              <a:rect l="l" t="t" r="r" b="b"/>
              <a:pathLst>
                <a:path w="1994662" h="444881">
                  <a:moveTo>
                    <a:pt x="0" y="35814"/>
                  </a:moveTo>
                  <a:cubicBezTo>
                    <a:pt x="0" y="15875"/>
                    <a:pt x="16510" y="0"/>
                    <a:pt x="36449" y="0"/>
                  </a:cubicBezTo>
                  <a:lnTo>
                    <a:pt x="1958213" y="0"/>
                  </a:lnTo>
                  <a:lnTo>
                    <a:pt x="1958213" y="6350"/>
                  </a:lnTo>
                  <a:lnTo>
                    <a:pt x="1958213" y="0"/>
                  </a:lnTo>
                  <a:cubicBezTo>
                    <a:pt x="1978279" y="0"/>
                    <a:pt x="1994662" y="15875"/>
                    <a:pt x="1994662" y="35814"/>
                  </a:cubicBezTo>
                  <a:lnTo>
                    <a:pt x="1988312" y="35814"/>
                  </a:lnTo>
                  <a:lnTo>
                    <a:pt x="1994662" y="35814"/>
                  </a:lnTo>
                  <a:lnTo>
                    <a:pt x="1994662" y="409067"/>
                  </a:lnTo>
                  <a:lnTo>
                    <a:pt x="1988312" y="409067"/>
                  </a:lnTo>
                  <a:lnTo>
                    <a:pt x="1994662" y="409067"/>
                  </a:lnTo>
                  <a:cubicBezTo>
                    <a:pt x="1994662" y="429006"/>
                    <a:pt x="1978152" y="444881"/>
                    <a:pt x="1958213" y="444881"/>
                  </a:cubicBezTo>
                  <a:lnTo>
                    <a:pt x="1958213" y="438531"/>
                  </a:lnTo>
                  <a:lnTo>
                    <a:pt x="1958213" y="444881"/>
                  </a:lnTo>
                  <a:lnTo>
                    <a:pt x="36449" y="444881"/>
                  </a:lnTo>
                  <a:lnTo>
                    <a:pt x="36449" y="438531"/>
                  </a:lnTo>
                  <a:lnTo>
                    <a:pt x="36449" y="444881"/>
                  </a:lnTo>
                  <a:cubicBezTo>
                    <a:pt x="16510" y="444881"/>
                    <a:pt x="0" y="429006"/>
                    <a:pt x="0" y="409067"/>
                  </a:cubicBezTo>
                  <a:lnTo>
                    <a:pt x="0" y="35814"/>
                  </a:lnTo>
                  <a:lnTo>
                    <a:pt x="6350" y="35814"/>
                  </a:lnTo>
                  <a:lnTo>
                    <a:pt x="0" y="35814"/>
                  </a:lnTo>
                  <a:moveTo>
                    <a:pt x="12700" y="35814"/>
                  </a:moveTo>
                  <a:lnTo>
                    <a:pt x="12700" y="409067"/>
                  </a:lnTo>
                  <a:lnTo>
                    <a:pt x="6350" y="409067"/>
                  </a:lnTo>
                  <a:lnTo>
                    <a:pt x="12700" y="409067"/>
                  </a:lnTo>
                  <a:cubicBezTo>
                    <a:pt x="12700" y="421767"/>
                    <a:pt x="23241" y="432181"/>
                    <a:pt x="36449" y="432181"/>
                  </a:cubicBezTo>
                  <a:lnTo>
                    <a:pt x="1958213" y="432181"/>
                  </a:lnTo>
                  <a:cubicBezTo>
                    <a:pt x="1971548" y="432181"/>
                    <a:pt x="1981962" y="421640"/>
                    <a:pt x="1981962" y="409067"/>
                  </a:cubicBezTo>
                  <a:lnTo>
                    <a:pt x="1981962" y="35814"/>
                  </a:lnTo>
                  <a:cubicBezTo>
                    <a:pt x="1981962" y="23114"/>
                    <a:pt x="1971421" y="12700"/>
                    <a:pt x="1958213" y="12700"/>
                  </a:cubicBezTo>
                  <a:lnTo>
                    <a:pt x="36449" y="12700"/>
                  </a:lnTo>
                  <a:lnTo>
                    <a:pt x="36449" y="6350"/>
                  </a:lnTo>
                  <a:lnTo>
                    <a:pt x="36449" y="12700"/>
                  </a:lnTo>
                  <a:cubicBezTo>
                    <a:pt x="23241" y="12700"/>
                    <a:pt x="12700" y="23241"/>
                    <a:pt x="12700" y="35814"/>
                  </a:cubicBezTo>
                  <a:close/>
                </a:path>
              </a:pathLst>
            </a:custGeom>
            <a:solidFill>
              <a:srgbClr val="2150FE"/>
            </a:solidFill>
          </p:spPr>
          <p:txBody>
            <a:bodyPr/>
            <a:lstStyle/>
            <a:p>
              <a:endParaRPr lang="en-US">
                <a:latin typeface="Cambria" panose="02040503050406030204" pitchFamily="18" charset="0"/>
              </a:endParaRPr>
            </a:p>
          </p:txBody>
        </p:sp>
      </p:grpSp>
      <p:sp>
        <p:nvSpPr>
          <p:cNvPr id="31" name="TextBox 31"/>
          <p:cNvSpPr txBox="1"/>
          <p:nvPr/>
        </p:nvSpPr>
        <p:spPr>
          <a:xfrm>
            <a:off x="1133018" y="4725295"/>
            <a:ext cx="1246584" cy="177036"/>
          </a:xfrm>
          <a:prstGeom prst="rect">
            <a:avLst/>
          </a:prstGeom>
        </p:spPr>
        <p:txBody>
          <a:bodyPr wrap="square" lIns="0" tIns="0" rIns="0" bIns="0" rtlCol="0" anchor="t">
            <a:spAutoFit/>
          </a:bodyPr>
          <a:lstStyle/>
          <a:p>
            <a:pPr algn="l">
              <a:lnSpc>
                <a:spcPts val="1500"/>
              </a:lnSpc>
            </a:pPr>
            <a:r>
              <a:rPr lang="en-US" sz="1124" dirty="0">
                <a:solidFill>
                  <a:srgbClr val="2150FE"/>
                </a:solidFill>
                <a:latin typeface="Cambria" panose="02040503050406030204" pitchFamily="18" charset="0"/>
                <a:ea typeface="Heebo"/>
                <a:cs typeface="Heebo"/>
                <a:sym typeface="Heebo"/>
              </a:rPr>
              <a:t>SOLUTION DESIGN</a:t>
            </a:r>
          </a:p>
        </p:txBody>
      </p:sp>
      <p:sp>
        <p:nvSpPr>
          <p:cNvPr id="32" name="TextBox 32"/>
          <p:cNvSpPr txBox="1"/>
          <p:nvPr/>
        </p:nvSpPr>
        <p:spPr>
          <a:xfrm>
            <a:off x="1008593" y="5126898"/>
            <a:ext cx="7927029" cy="1722459"/>
          </a:xfrm>
          <a:prstGeom prst="rect">
            <a:avLst/>
          </a:prstGeom>
        </p:spPr>
        <p:txBody>
          <a:bodyPr lIns="0" tIns="0" rIns="0" bIns="0" rtlCol="0" anchor="t">
            <a:spAutoFit/>
          </a:bodyPr>
          <a:lstStyle/>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Solution architecture diagram using Azure resources only — Slide 4</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Multimedia hosting webpage layout presented as wireframe — Slide 7</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Network/architecture diagram showing compute, storage, networking — Slide 4</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Database schema as ERD (SQL) and commented JSON (NoSQL) — Slides 5 and 6</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REST API designed for full CRUD operations, presented as UML sequence diagrams — Slide 8</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Static HTML hosting of webpage frontend proposed (Azure App Service) — Slide 4</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REST endpoints for service logic and storage connections proposed — Slide 8</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SQL database structure (Azure SQL — Users, Cases, RBAC, </a:t>
            </a:r>
            <a:r>
              <a:rPr lang="en-US" sz="1124" dirty="0" err="1">
                <a:solidFill>
                  <a:srgbClr val="4C4C4D"/>
                </a:solidFill>
                <a:latin typeface="Cambria" panose="02040503050406030204" pitchFamily="18" charset="0"/>
                <a:ea typeface="Heebo"/>
                <a:cs typeface="Heebo"/>
                <a:sym typeface="Heebo"/>
              </a:rPr>
              <a:t>AuditLog</a:t>
            </a:r>
            <a:r>
              <a:rPr lang="en-US" sz="1124" dirty="0">
                <a:solidFill>
                  <a:srgbClr val="4C4C4D"/>
                </a:solidFill>
                <a:latin typeface="Cambria" panose="02040503050406030204" pitchFamily="18" charset="0"/>
                <a:ea typeface="Heebo"/>
                <a:cs typeface="Heebo"/>
                <a:sym typeface="Heebo"/>
              </a:rPr>
              <a:t>) — Slide 5</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NoSQL database structure (Azure Cosmos DB — Evidence metadata) — Slide 6</a:t>
            </a:r>
          </a:p>
        </p:txBody>
      </p:sp>
      <p:grpSp>
        <p:nvGrpSpPr>
          <p:cNvPr id="33" name="Group 33"/>
          <p:cNvGrpSpPr/>
          <p:nvPr/>
        </p:nvGrpSpPr>
        <p:grpSpPr>
          <a:xfrm>
            <a:off x="1008593" y="7015945"/>
            <a:ext cx="1774479" cy="333670"/>
            <a:chOff x="0" y="0"/>
            <a:chExt cx="2365972" cy="444894"/>
          </a:xfrm>
        </p:grpSpPr>
        <p:sp>
          <p:nvSpPr>
            <p:cNvPr id="34" name="Freeform 34"/>
            <p:cNvSpPr/>
            <p:nvPr/>
          </p:nvSpPr>
          <p:spPr>
            <a:xfrm>
              <a:off x="0" y="0"/>
              <a:ext cx="2366010" cy="444881"/>
            </a:xfrm>
            <a:custGeom>
              <a:avLst/>
              <a:gdLst/>
              <a:ahLst/>
              <a:cxnLst/>
              <a:rect l="l" t="t" r="r" b="b"/>
              <a:pathLst>
                <a:path w="2366010" h="444881">
                  <a:moveTo>
                    <a:pt x="0" y="35814"/>
                  </a:moveTo>
                  <a:cubicBezTo>
                    <a:pt x="0" y="15875"/>
                    <a:pt x="16510" y="0"/>
                    <a:pt x="36576" y="0"/>
                  </a:cubicBezTo>
                  <a:lnTo>
                    <a:pt x="2329434" y="0"/>
                  </a:lnTo>
                  <a:lnTo>
                    <a:pt x="2329434" y="6350"/>
                  </a:lnTo>
                  <a:lnTo>
                    <a:pt x="2329434" y="0"/>
                  </a:lnTo>
                  <a:cubicBezTo>
                    <a:pt x="2349500" y="0"/>
                    <a:pt x="2366010" y="15875"/>
                    <a:pt x="2366010" y="35814"/>
                  </a:cubicBezTo>
                  <a:lnTo>
                    <a:pt x="2359660" y="35814"/>
                  </a:lnTo>
                  <a:lnTo>
                    <a:pt x="2366010" y="35814"/>
                  </a:lnTo>
                  <a:lnTo>
                    <a:pt x="2366010" y="409067"/>
                  </a:lnTo>
                  <a:lnTo>
                    <a:pt x="2359660" y="409067"/>
                  </a:lnTo>
                  <a:lnTo>
                    <a:pt x="2366010" y="409067"/>
                  </a:lnTo>
                  <a:cubicBezTo>
                    <a:pt x="2366010" y="429006"/>
                    <a:pt x="2349500" y="444881"/>
                    <a:pt x="2329434" y="444881"/>
                  </a:cubicBezTo>
                  <a:lnTo>
                    <a:pt x="2329434" y="438531"/>
                  </a:lnTo>
                  <a:lnTo>
                    <a:pt x="2329434" y="444881"/>
                  </a:lnTo>
                  <a:lnTo>
                    <a:pt x="36576" y="444881"/>
                  </a:lnTo>
                  <a:lnTo>
                    <a:pt x="36576" y="438531"/>
                  </a:lnTo>
                  <a:lnTo>
                    <a:pt x="36576" y="444881"/>
                  </a:lnTo>
                  <a:cubicBezTo>
                    <a:pt x="16510" y="444881"/>
                    <a:pt x="0" y="429006"/>
                    <a:pt x="0" y="409067"/>
                  </a:cubicBezTo>
                  <a:lnTo>
                    <a:pt x="0" y="35814"/>
                  </a:lnTo>
                  <a:lnTo>
                    <a:pt x="6350" y="35814"/>
                  </a:lnTo>
                  <a:lnTo>
                    <a:pt x="0" y="35814"/>
                  </a:lnTo>
                  <a:moveTo>
                    <a:pt x="12700" y="35814"/>
                  </a:moveTo>
                  <a:lnTo>
                    <a:pt x="12700" y="409067"/>
                  </a:lnTo>
                  <a:lnTo>
                    <a:pt x="6350" y="409067"/>
                  </a:lnTo>
                  <a:lnTo>
                    <a:pt x="12700" y="409067"/>
                  </a:lnTo>
                  <a:cubicBezTo>
                    <a:pt x="12700" y="421767"/>
                    <a:pt x="23241" y="432181"/>
                    <a:pt x="36576" y="432181"/>
                  </a:cubicBezTo>
                  <a:lnTo>
                    <a:pt x="2329434" y="432181"/>
                  </a:lnTo>
                  <a:cubicBezTo>
                    <a:pt x="2342769" y="432181"/>
                    <a:pt x="2353310" y="421640"/>
                    <a:pt x="2353310" y="409067"/>
                  </a:cubicBezTo>
                  <a:lnTo>
                    <a:pt x="2353310" y="35814"/>
                  </a:lnTo>
                  <a:cubicBezTo>
                    <a:pt x="2353310" y="23114"/>
                    <a:pt x="2342769" y="12700"/>
                    <a:pt x="2329434" y="12700"/>
                  </a:cubicBezTo>
                  <a:lnTo>
                    <a:pt x="36576" y="12700"/>
                  </a:lnTo>
                  <a:lnTo>
                    <a:pt x="36576" y="6350"/>
                  </a:lnTo>
                  <a:lnTo>
                    <a:pt x="36576" y="12700"/>
                  </a:lnTo>
                  <a:cubicBezTo>
                    <a:pt x="23241" y="12700"/>
                    <a:pt x="12700" y="23241"/>
                    <a:pt x="12700" y="35814"/>
                  </a:cubicBezTo>
                  <a:close/>
                </a:path>
              </a:pathLst>
            </a:custGeom>
            <a:solidFill>
              <a:srgbClr val="2150FE"/>
            </a:solidFill>
          </p:spPr>
          <p:txBody>
            <a:bodyPr/>
            <a:lstStyle/>
            <a:p>
              <a:endParaRPr lang="en-US" dirty="0">
                <a:latin typeface="Cambria" panose="02040503050406030204" pitchFamily="18" charset="0"/>
              </a:endParaRPr>
            </a:p>
          </p:txBody>
        </p:sp>
      </p:grpSp>
      <p:sp>
        <p:nvSpPr>
          <p:cNvPr id="35" name="TextBox 35"/>
          <p:cNvSpPr txBox="1"/>
          <p:nvPr/>
        </p:nvSpPr>
        <p:spPr>
          <a:xfrm>
            <a:off x="1098489" y="7126368"/>
            <a:ext cx="1525038" cy="177036"/>
          </a:xfrm>
          <a:prstGeom prst="rect">
            <a:avLst/>
          </a:prstGeom>
        </p:spPr>
        <p:txBody>
          <a:bodyPr lIns="0" tIns="0" rIns="0" bIns="0" rtlCol="0" anchor="t">
            <a:spAutoFit/>
          </a:bodyPr>
          <a:lstStyle/>
          <a:p>
            <a:pPr algn="l">
              <a:lnSpc>
                <a:spcPts val="1500"/>
              </a:lnSpc>
            </a:pPr>
            <a:r>
              <a:rPr lang="en-US" sz="1124" dirty="0">
                <a:solidFill>
                  <a:srgbClr val="2150FE"/>
                </a:solidFill>
                <a:latin typeface="Cambria" panose="02040503050406030204" pitchFamily="18" charset="0"/>
                <a:ea typeface="Heebo"/>
                <a:cs typeface="Heebo"/>
                <a:sym typeface="Heebo"/>
              </a:rPr>
              <a:t>CRITICAL EVALUATION</a:t>
            </a:r>
          </a:p>
        </p:txBody>
      </p:sp>
      <p:sp>
        <p:nvSpPr>
          <p:cNvPr id="36" name="TextBox 36"/>
          <p:cNvSpPr txBox="1"/>
          <p:nvPr/>
        </p:nvSpPr>
        <p:spPr>
          <a:xfrm>
            <a:off x="1008593" y="7499567"/>
            <a:ext cx="7927029" cy="760657"/>
          </a:xfrm>
          <a:prstGeom prst="rect">
            <a:avLst/>
          </a:prstGeom>
        </p:spPr>
        <p:txBody>
          <a:bodyPr lIns="0" tIns="0" rIns="0" bIns="0" rtlCol="0" anchor="t">
            <a:spAutoFit/>
          </a:bodyPr>
          <a:lstStyle/>
          <a:p>
            <a:pPr>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Advanced features overview included — Content Moderator, Application Insights, Anomaly Detector, SAS Tokens — Slide 9 </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Limitations of designed solution assessed — 6 limitations with mitigations — Slide 11</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Scalability assessment included — horizontal/vertical/autoscaling at every tier — Slide 12</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Azure service selection justified against alternatives — Slide 10</a:t>
            </a:r>
          </a:p>
        </p:txBody>
      </p:sp>
      <p:grpSp>
        <p:nvGrpSpPr>
          <p:cNvPr id="37" name="Group 37"/>
          <p:cNvGrpSpPr/>
          <p:nvPr/>
        </p:nvGrpSpPr>
        <p:grpSpPr>
          <a:xfrm>
            <a:off x="1008593" y="8445006"/>
            <a:ext cx="2206076" cy="333670"/>
            <a:chOff x="0" y="0"/>
            <a:chExt cx="2941434" cy="444894"/>
          </a:xfrm>
        </p:grpSpPr>
        <p:sp>
          <p:nvSpPr>
            <p:cNvPr id="38" name="Freeform 38"/>
            <p:cNvSpPr/>
            <p:nvPr/>
          </p:nvSpPr>
          <p:spPr>
            <a:xfrm>
              <a:off x="0" y="0"/>
              <a:ext cx="2941447" cy="444881"/>
            </a:xfrm>
            <a:custGeom>
              <a:avLst/>
              <a:gdLst/>
              <a:ahLst/>
              <a:cxnLst/>
              <a:rect l="l" t="t" r="r" b="b"/>
              <a:pathLst>
                <a:path w="2941447" h="444881">
                  <a:moveTo>
                    <a:pt x="0" y="35814"/>
                  </a:moveTo>
                  <a:cubicBezTo>
                    <a:pt x="0" y="15875"/>
                    <a:pt x="16510" y="0"/>
                    <a:pt x="36576" y="0"/>
                  </a:cubicBezTo>
                  <a:lnTo>
                    <a:pt x="2904871" y="0"/>
                  </a:lnTo>
                  <a:lnTo>
                    <a:pt x="2904871" y="6350"/>
                  </a:lnTo>
                  <a:lnTo>
                    <a:pt x="2904871" y="0"/>
                  </a:lnTo>
                  <a:cubicBezTo>
                    <a:pt x="2924937" y="0"/>
                    <a:pt x="2941447" y="15875"/>
                    <a:pt x="2941447" y="35814"/>
                  </a:cubicBezTo>
                  <a:lnTo>
                    <a:pt x="2935097" y="35814"/>
                  </a:lnTo>
                  <a:lnTo>
                    <a:pt x="2941447" y="35814"/>
                  </a:lnTo>
                  <a:lnTo>
                    <a:pt x="2941447" y="409067"/>
                  </a:lnTo>
                  <a:lnTo>
                    <a:pt x="2935097" y="409067"/>
                  </a:lnTo>
                  <a:lnTo>
                    <a:pt x="2941447" y="409067"/>
                  </a:lnTo>
                  <a:cubicBezTo>
                    <a:pt x="2941447" y="429006"/>
                    <a:pt x="2924937" y="444881"/>
                    <a:pt x="2904871" y="444881"/>
                  </a:cubicBezTo>
                  <a:lnTo>
                    <a:pt x="2904871" y="438531"/>
                  </a:lnTo>
                  <a:lnTo>
                    <a:pt x="2904871" y="444881"/>
                  </a:lnTo>
                  <a:lnTo>
                    <a:pt x="36576" y="444881"/>
                  </a:lnTo>
                  <a:lnTo>
                    <a:pt x="36576" y="438531"/>
                  </a:lnTo>
                  <a:lnTo>
                    <a:pt x="36576" y="444881"/>
                  </a:lnTo>
                  <a:cubicBezTo>
                    <a:pt x="16510" y="444881"/>
                    <a:pt x="0" y="429006"/>
                    <a:pt x="0" y="409067"/>
                  </a:cubicBezTo>
                  <a:lnTo>
                    <a:pt x="0" y="35814"/>
                  </a:lnTo>
                  <a:lnTo>
                    <a:pt x="6350" y="35814"/>
                  </a:lnTo>
                  <a:lnTo>
                    <a:pt x="0" y="35814"/>
                  </a:lnTo>
                  <a:moveTo>
                    <a:pt x="12700" y="35814"/>
                  </a:moveTo>
                  <a:lnTo>
                    <a:pt x="12700" y="409067"/>
                  </a:lnTo>
                  <a:lnTo>
                    <a:pt x="6350" y="409067"/>
                  </a:lnTo>
                  <a:lnTo>
                    <a:pt x="12700" y="409067"/>
                  </a:lnTo>
                  <a:cubicBezTo>
                    <a:pt x="12700" y="421640"/>
                    <a:pt x="23241" y="432181"/>
                    <a:pt x="36576" y="432181"/>
                  </a:cubicBezTo>
                  <a:lnTo>
                    <a:pt x="2904871" y="432181"/>
                  </a:lnTo>
                  <a:cubicBezTo>
                    <a:pt x="2918206" y="432181"/>
                    <a:pt x="2928747" y="421640"/>
                    <a:pt x="2928747" y="409067"/>
                  </a:cubicBezTo>
                  <a:lnTo>
                    <a:pt x="2928747" y="35814"/>
                  </a:lnTo>
                  <a:cubicBezTo>
                    <a:pt x="2928747" y="23241"/>
                    <a:pt x="2918206" y="12700"/>
                    <a:pt x="2904871" y="12700"/>
                  </a:cubicBezTo>
                  <a:lnTo>
                    <a:pt x="36576" y="12700"/>
                  </a:lnTo>
                  <a:lnTo>
                    <a:pt x="36576" y="6350"/>
                  </a:lnTo>
                  <a:lnTo>
                    <a:pt x="36576" y="12700"/>
                  </a:lnTo>
                  <a:cubicBezTo>
                    <a:pt x="23241" y="12700"/>
                    <a:pt x="12700" y="23241"/>
                    <a:pt x="12700" y="35814"/>
                  </a:cubicBezTo>
                  <a:close/>
                </a:path>
              </a:pathLst>
            </a:custGeom>
            <a:solidFill>
              <a:srgbClr val="2150FE"/>
            </a:solidFill>
          </p:spPr>
          <p:txBody>
            <a:bodyPr/>
            <a:lstStyle/>
            <a:p>
              <a:endParaRPr lang="en-US">
                <a:latin typeface="Cambria" panose="02040503050406030204" pitchFamily="18" charset="0"/>
              </a:endParaRPr>
            </a:p>
          </p:txBody>
        </p:sp>
      </p:grpSp>
      <p:sp>
        <p:nvSpPr>
          <p:cNvPr id="39" name="TextBox 39"/>
          <p:cNvSpPr txBox="1"/>
          <p:nvPr/>
        </p:nvSpPr>
        <p:spPr>
          <a:xfrm>
            <a:off x="1098489" y="8500218"/>
            <a:ext cx="1956645" cy="177036"/>
          </a:xfrm>
          <a:prstGeom prst="rect">
            <a:avLst/>
          </a:prstGeom>
        </p:spPr>
        <p:txBody>
          <a:bodyPr lIns="0" tIns="0" rIns="0" bIns="0" rtlCol="0" anchor="t">
            <a:spAutoFit/>
          </a:bodyPr>
          <a:lstStyle/>
          <a:p>
            <a:pPr algn="l">
              <a:lnSpc>
                <a:spcPts val="1500"/>
              </a:lnSpc>
            </a:pPr>
            <a:r>
              <a:rPr lang="en-US" sz="1124" dirty="0">
                <a:solidFill>
                  <a:srgbClr val="2150FE"/>
                </a:solidFill>
                <a:latin typeface="Cambria" panose="02040503050406030204" pitchFamily="18" charset="0"/>
                <a:ea typeface="Heebo"/>
                <a:cs typeface="Heebo"/>
                <a:sym typeface="Heebo"/>
              </a:rPr>
              <a:t>CONCLUSION &amp; REFERENCES</a:t>
            </a:r>
          </a:p>
        </p:txBody>
      </p:sp>
      <p:sp>
        <p:nvSpPr>
          <p:cNvPr id="40" name="TextBox 40"/>
          <p:cNvSpPr txBox="1"/>
          <p:nvPr/>
        </p:nvSpPr>
        <p:spPr>
          <a:xfrm>
            <a:off x="992237" y="8878996"/>
            <a:ext cx="7927029" cy="379912"/>
          </a:xfrm>
          <a:prstGeom prst="rect">
            <a:avLst/>
          </a:prstGeom>
        </p:spPr>
        <p:txBody>
          <a:bodyPr lIns="0" tIns="0" rIns="0" bIns="0" rtlCol="0" anchor="t">
            <a:spAutoFit/>
          </a:bodyPr>
          <a:lstStyle/>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Concluding comments summaries design, improvements, commercial potential, and ethics — Slide 14</a:t>
            </a:r>
          </a:p>
          <a:p>
            <a:pPr algn="l">
              <a:lnSpc>
                <a:spcPts val="1500"/>
              </a:lnSpc>
            </a:pPr>
            <a:r>
              <a:rPr lang="en-US" sz="1124" dirty="0">
                <a:solidFill>
                  <a:srgbClr val="000000"/>
                </a:solidFill>
                <a:latin typeface="Cambria" panose="02040503050406030204" pitchFamily="18" charset="0"/>
                <a:ea typeface="Heebo"/>
                <a:cs typeface="Heebo"/>
                <a:sym typeface="Heebo"/>
              </a:rPr>
              <a:t>✅</a:t>
            </a:r>
            <a:r>
              <a:rPr lang="en-US" sz="1124" dirty="0">
                <a:solidFill>
                  <a:srgbClr val="4C4C4D"/>
                </a:solidFill>
                <a:latin typeface="Cambria" panose="02040503050406030204" pitchFamily="18" charset="0"/>
                <a:ea typeface="Heebo"/>
                <a:cs typeface="Heebo"/>
                <a:sym typeface="Heebo"/>
              </a:rPr>
              <a:t> References provided in IEEE format to Azure documentation and academic sources — Slide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3470</TotalTime>
  <Words>4773</Words>
  <Application>Microsoft Macintosh PowerPoint</Application>
  <PresentationFormat>Custom</PresentationFormat>
  <Paragraphs>431</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Cambria</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ThreatVault.pptx</dc:title>
  <cp:lastModifiedBy>Ritik Sah</cp:lastModifiedBy>
  <cp:revision>2</cp:revision>
  <dcterms:created xsi:type="dcterms:W3CDTF">2006-08-16T00:00:00Z</dcterms:created>
  <dcterms:modified xsi:type="dcterms:W3CDTF">2026-04-17T17:19:51Z</dcterms:modified>
  <dc:identifier>DAHCvqqTdds</dc:identifier>
</cp:coreProperties>
</file>